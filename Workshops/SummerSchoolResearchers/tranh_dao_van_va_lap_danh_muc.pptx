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6" r:id="rId1"/>
  </p:sldMasterIdLst>
  <p:notesMasterIdLst>
    <p:notesMasterId r:id="rId30"/>
  </p:notesMasterIdLst>
  <p:sldIdLst>
    <p:sldId id="256" r:id="rId2"/>
    <p:sldId id="257" r:id="rId3"/>
    <p:sldId id="320" r:id="rId4"/>
    <p:sldId id="321" r:id="rId5"/>
    <p:sldId id="333" r:id="rId6"/>
    <p:sldId id="325" r:id="rId7"/>
    <p:sldId id="327" r:id="rId8"/>
    <p:sldId id="324" r:id="rId9"/>
    <p:sldId id="326" r:id="rId10"/>
    <p:sldId id="329" r:id="rId11"/>
    <p:sldId id="346" r:id="rId12"/>
    <p:sldId id="338" r:id="rId13"/>
    <p:sldId id="330" r:id="rId14"/>
    <p:sldId id="332" r:id="rId15"/>
    <p:sldId id="347" r:id="rId16"/>
    <p:sldId id="259" r:id="rId17"/>
    <p:sldId id="304" r:id="rId18"/>
    <p:sldId id="279" r:id="rId19"/>
    <p:sldId id="305" r:id="rId20"/>
    <p:sldId id="283" r:id="rId21"/>
    <p:sldId id="336" r:id="rId22"/>
    <p:sldId id="307" r:id="rId23"/>
    <p:sldId id="310" r:id="rId24"/>
    <p:sldId id="311" r:id="rId25"/>
    <p:sldId id="312" r:id="rId26"/>
    <p:sldId id="350" r:id="rId27"/>
    <p:sldId id="349" r:id="rId28"/>
    <p:sldId id="351"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Arial" charset="0"/>
      </a:defRPr>
    </a:lvl1pPr>
    <a:lvl2pPr marL="457200" algn="l" rtl="0" fontAlgn="base">
      <a:spcBef>
        <a:spcPct val="0"/>
      </a:spcBef>
      <a:spcAft>
        <a:spcPct val="0"/>
      </a:spcAft>
      <a:defRPr kern="1200">
        <a:solidFill>
          <a:schemeClr val="tx1"/>
        </a:solidFill>
        <a:latin typeface="Times New Roman" pitchFamily="18" charset="0"/>
        <a:ea typeface="+mn-ea"/>
        <a:cs typeface="Arial" charset="0"/>
      </a:defRPr>
    </a:lvl2pPr>
    <a:lvl3pPr marL="914400" algn="l" rtl="0" fontAlgn="base">
      <a:spcBef>
        <a:spcPct val="0"/>
      </a:spcBef>
      <a:spcAft>
        <a:spcPct val="0"/>
      </a:spcAft>
      <a:defRPr kern="1200">
        <a:solidFill>
          <a:schemeClr val="tx1"/>
        </a:solidFill>
        <a:latin typeface="Times New Roman" pitchFamily="18" charset="0"/>
        <a:ea typeface="+mn-ea"/>
        <a:cs typeface="Arial" charset="0"/>
      </a:defRPr>
    </a:lvl3pPr>
    <a:lvl4pPr marL="1371600" algn="l" rtl="0" fontAlgn="base">
      <a:spcBef>
        <a:spcPct val="0"/>
      </a:spcBef>
      <a:spcAft>
        <a:spcPct val="0"/>
      </a:spcAft>
      <a:defRPr kern="1200">
        <a:solidFill>
          <a:schemeClr val="tx1"/>
        </a:solidFill>
        <a:latin typeface="Times New Roman" pitchFamily="18" charset="0"/>
        <a:ea typeface="+mn-ea"/>
        <a:cs typeface="Arial" charset="0"/>
      </a:defRPr>
    </a:lvl4pPr>
    <a:lvl5pPr marL="1828800" algn="l" rtl="0" fontAlgn="base">
      <a:spcBef>
        <a:spcPct val="0"/>
      </a:spcBef>
      <a:spcAft>
        <a:spcPct val="0"/>
      </a:spcAft>
      <a:defRPr kern="1200">
        <a:solidFill>
          <a:schemeClr val="tx1"/>
        </a:solidFill>
        <a:latin typeface="Times New Roman" pitchFamily="18" charset="0"/>
        <a:ea typeface="+mn-ea"/>
        <a:cs typeface="Arial" charset="0"/>
      </a:defRPr>
    </a:lvl5pPr>
    <a:lvl6pPr marL="2286000" algn="l" defTabSz="914400" rtl="0" eaLnBrk="1" latinLnBrk="0" hangingPunct="1">
      <a:defRPr kern="1200">
        <a:solidFill>
          <a:schemeClr val="tx1"/>
        </a:solidFill>
        <a:latin typeface="Times New Roman" pitchFamily="18" charset="0"/>
        <a:ea typeface="+mn-ea"/>
        <a:cs typeface="Arial" charset="0"/>
      </a:defRPr>
    </a:lvl6pPr>
    <a:lvl7pPr marL="2743200" algn="l" defTabSz="914400" rtl="0" eaLnBrk="1" latinLnBrk="0" hangingPunct="1">
      <a:defRPr kern="1200">
        <a:solidFill>
          <a:schemeClr val="tx1"/>
        </a:solidFill>
        <a:latin typeface="Times New Roman" pitchFamily="18" charset="0"/>
        <a:ea typeface="+mn-ea"/>
        <a:cs typeface="Arial" charset="0"/>
      </a:defRPr>
    </a:lvl7pPr>
    <a:lvl8pPr marL="3200400" algn="l" defTabSz="914400" rtl="0" eaLnBrk="1" latinLnBrk="0" hangingPunct="1">
      <a:defRPr kern="1200">
        <a:solidFill>
          <a:schemeClr val="tx1"/>
        </a:solidFill>
        <a:latin typeface="Times New Roman" pitchFamily="18" charset="0"/>
        <a:ea typeface="+mn-ea"/>
        <a:cs typeface="Arial" charset="0"/>
      </a:defRPr>
    </a:lvl8pPr>
    <a:lvl9pPr marL="3657600" algn="l" defTabSz="914400" rtl="0" eaLnBrk="1" latinLnBrk="0" hangingPunct="1">
      <a:defRPr kern="1200">
        <a:solidFill>
          <a:schemeClr val="tx1"/>
        </a:solidFill>
        <a:latin typeface="Times New Roman" pitchFamily="18"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A5832D"/>
    <a:srgbClr val="02C4DE"/>
    <a:srgbClr val="008A3E"/>
    <a:srgbClr val="AC148F"/>
    <a:srgbClr val="0092CC"/>
    <a:srgbClr val="FFFFFF"/>
    <a:srgbClr val="FFCC00"/>
    <a:srgbClr val="C7E6FD"/>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63" autoAdjust="0"/>
    <p:restoredTop sz="90000" autoAdjust="0"/>
  </p:normalViewPr>
  <p:slideViewPr>
    <p:cSldViewPr snapToGrid="0">
      <p:cViewPr>
        <p:scale>
          <a:sx n="78" d="100"/>
          <a:sy n="78" d="100"/>
        </p:scale>
        <p:origin x="-930" y="6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D029C73-341F-441E-80A7-C53682002D10}" type="datetimeFigureOut">
              <a:rPr lang="vi-VN"/>
              <a:pPr>
                <a:defRPr/>
              </a:pPr>
              <a:t>08/03/2013</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vi-V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vi-V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0" hangingPunct="0">
              <a:defRPr sz="1200">
                <a:cs typeface="+mn-cs"/>
              </a:defRPr>
            </a:lvl1pPr>
          </a:lstStyle>
          <a:p>
            <a:pPr>
              <a:defRPr/>
            </a:pPr>
            <a:fld id="{0E8D1505-2341-4E0A-A2DF-0430C0D045F8}" type="slidenum">
              <a:rPr lang="vi-VN"/>
              <a:pPr>
                <a:defRPr/>
              </a:pPr>
              <a:t>‹#›</a:t>
            </a:fld>
            <a:endParaRPr lang="vi-VN"/>
          </a:p>
        </p:txBody>
      </p:sp>
    </p:spTree>
    <p:extLst>
      <p:ext uri="{BB962C8B-B14F-4D97-AF65-F5344CB8AC3E}">
        <p14:creationId xmlns="" xmlns:p14="http://schemas.microsoft.com/office/powerpoint/2010/main" val="16840852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solidFill>
          <a:schemeClr val="bg1"/>
        </a:solidFill>
        <a:effectLst/>
      </p:bgPr>
    </p:bg>
    <p:spTree>
      <p:nvGrpSpPr>
        <p:cNvPr id="1" name=""/>
        <p:cNvGrpSpPr/>
        <p:nvPr/>
      </p:nvGrpSpPr>
      <p:grpSpPr>
        <a:xfrm>
          <a:off x="0" y="0"/>
          <a:ext cx="0" cy="0"/>
          <a:chOff x="0" y="0"/>
          <a:chExt cx="0" cy="0"/>
        </a:xfrm>
      </p:grpSpPr>
      <p:sp>
        <p:nvSpPr>
          <p:cNvPr id="3" name="Rectangle 31"/>
          <p:cNvSpPr>
            <a:spLocks noChangeArrowheads="1"/>
          </p:cNvSpPr>
          <p:nvPr/>
        </p:nvSpPr>
        <p:spPr bwMode="gray">
          <a:xfrm>
            <a:off x="0" y="890588"/>
            <a:ext cx="9144000" cy="4922837"/>
          </a:xfrm>
          <a:prstGeom prst="rect">
            <a:avLst/>
          </a:prstGeom>
          <a:gradFill rotWithShape="1">
            <a:gsLst>
              <a:gs pos="0">
                <a:schemeClr val="hlink"/>
              </a:gs>
              <a:gs pos="100000">
                <a:schemeClr val="accent1"/>
              </a:gs>
            </a:gsLst>
            <a:lin ang="5400000" scaled="1"/>
          </a:gradFill>
          <a:ln w="9525">
            <a:noFill/>
            <a:miter lim="800000"/>
            <a:headEnd/>
            <a:tailEnd/>
          </a:ln>
          <a:effectLst/>
        </p:spPr>
        <p:txBody>
          <a:bodyPr wrap="none" anchor="ctr"/>
          <a:lstStyle/>
          <a:p>
            <a:pPr algn="r" eaLnBrk="0" hangingPunct="0">
              <a:defRPr/>
            </a:pPr>
            <a:endParaRPr lang="vi-VN">
              <a:cs typeface="+mn-cs"/>
            </a:endParaRPr>
          </a:p>
        </p:txBody>
      </p:sp>
      <p:pic>
        <p:nvPicPr>
          <p:cNvPr id="4" name="Picture 32" descr="light_white"/>
          <p:cNvPicPr>
            <a:picLocks noChangeAspect="1" noChangeArrowheads="1"/>
          </p:cNvPicPr>
          <p:nvPr/>
        </p:nvPicPr>
        <p:blipFill>
          <a:blip r:embed="rId2" cstate="print"/>
          <a:srcRect/>
          <a:stretch>
            <a:fillRect/>
          </a:stretch>
        </p:blipFill>
        <p:spPr bwMode="auto">
          <a:xfrm>
            <a:off x="230188" y="1411288"/>
            <a:ext cx="133350" cy="133350"/>
          </a:xfrm>
          <a:prstGeom prst="rect">
            <a:avLst/>
          </a:prstGeom>
          <a:noFill/>
          <a:ln w="9525">
            <a:noFill/>
            <a:miter lim="800000"/>
            <a:headEnd/>
            <a:tailEnd/>
          </a:ln>
        </p:spPr>
      </p:pic>
      <p:pic>
        <p:nvPicPr>
          <p:cNvPr id="5" name="Picture 33" descr="light_white"/>
          <p:cNvPicPr>
            <a:picLocks noChangeAspect="1" noChangeArrowheads="1"/>
          </p:cNvPicPr>
          <p:nvPr/>
        </p:nvPicPr>
        <p:blipFill>
          <a:blip r:embed="rId2" cstate="print">
            <a:lum contrast="-24000"/>
          </a:blip>
          <a:srcRect/>
          <a:stretch>
            <a:fillRect/>
          </a:stretch>
        </p:blipFill>
        <p:spPr bwMode="auto">
          <a:xfrm>
            <a:off x="884238" y="1214438"/>
            <a:ext cx="220662" cy="220662"/>
          </a:xfrm>
          <a:prstGeom prst="rect">
            <a:avLst/>
          </a:prstGeom>
          <a:noFill/>
          <a:ln w="9525">
            <a:noFill/>
            <a:miter lim="800000"/>
            <a:headEnd/>
            <a:tailEnd/>
          </a:ln>
        </p:spPr>
      </p:pic>
      <p:pic>
        <p:nvPicPr>
          <p:cNvPr id="6" name="Picture 34" descr="light_white"/>
          <p:cNvPicPr>
            <a:picLocks noChangeAspect="1" noChangeArrowheads="1"/>
          </p:cNvPicPr>
          <p:nvPr/>
        </p:nvPicPr>
        <p:blipFill>
          <a:blip r:embed="rId2" cstate="print"/>
          <a:srcRect/>
          <a:stretch>
            <a:fillRect/>
          </a:stretch>
        </p:blipFill>
        <p:spPr bwMode="auto">
          <a:xfrm>
            <a:off x="661988" y="1843088"/>
            <a:ext cx="133350" cy="133350"/>
          </a:xfrm>
          <a:prstGeom prst="rect">
            <a:avLst/>
          </a:prstGeom>
          <a:noFill/>
          <a:ln w="9525">
            <a:noFill/>
            <a:miter lim="800000"/>
            <a:headEnd/>
            <a:tailEnd/>
          </a:ln>
        </p:spPr>
      </p:pic>
      <p:pic>
        <p:nvPicPr>
          <p:cNvPr id="7" name="Picture 35" descr="light_white"/>
          <p:cNvPicPr>
            <a:picLocks noChangeAspect="1" noChangeArrowheads="1"/>
          </p:cNvPicPr>
          <p:nvPr/>
        </p:nvPicPr>
        <p:blipFill>
          <a:blip r:embed="rId2" cstate="print"/>
          <a:srcRect/>
          <a:stretch>
            <a:fillRect/>
          </a:stretch>
        </p:blipFill>
        <p:spPr bwMode="auto">
          <a:xfrm>
            <a:off x="952500" y="1720850"/>
            <a:ext cx="115888" cy="115888"/>
          </a:xfrm>
          <a:prstGeom prst="rect">
            <a:avLst/>
          </a:prstGeom>
          <a:noFill/>
          <a:ln w="9525">
            <a:noFill/>
            <a:miter lim="800000"/>
            <a:headEnd/>
            <a:tailEnd/>
          </a:ln>
        </p:spPr>
      </p:pic>
      <p:pic>
        <p:nvPicPr>
          <p:cNvPr id="8" name="Picture 36" descr="light_white"/>
          <p:cNvPicPr>
            <a:picLocks noChangeAspect="1" noChangeArrowheads="1"/>
          </p:cNvPicPr>
          <p:nvPr/>
        </p:nvPicPr>
        <p:blipFill>
          <a:blip r:embed="rId2" cstate="print">
            <a:lum contrast="-48000"/>
            <a:grayscl/>
          </a:blip>
          <a:srcRect/>
          <a:stretch>
            <a:fillRect/>
          </a:stretch>
        </p:blipFill>
        <p:spPr bwMode="auto">
          <a:xfrm>
            <a:off x="1908175" y="1647825"/>
            <a:ext cx="322263" cy="322263"/>
          </a:xfrm>
          <a:prstGeom prst="rect">
            <a:avLst/>
          </a:prstGeom>
          <a:noFill/>
          <a:ln w="9525">
            <a:noFill/>
            <a:miter lim="800000"/>
            <a:headEnd/>
            <a:tailEnd/>
          </a:ln>
        </p:spPr>
      </p:pic>
      <p:pic>
        <p:nvPicPr>
          <p:cNvPr id="9" name="Picture 37" descr="light_white"/>
          <p:cNvPicPr>
            <a:picLocks noChangeAspect="1" noChangeArrowheads="1"/>
          </p:cNvPicPr>
          <p:nvPr/>
        </p:nvPicPr>
        <p:blipFill>
          <a:blip r:embed="rId2" cstate="print">
            <a:grayscl/>
          </a:blip>
          <a:srcRect/>
          <a:stretch>
            <a:fillRect/>
          </a:stretch>
        </p:blipFill>
        <p:spPr bwMode="auto">
          <a:xfrm>
            <a:off x="4187825" y="1247775"/>
            <a:ext cx="133350" cy="133350"/>
          </a:xfrm>
          <a:prstGeom prst="rect">
            <a:avLst/>
          </a:prstGeom>
          <a:noFill/>
          <a:ln w="9525">
            <a:noFill/>
            <a:miter lim="800000"/>
            <a:headEnd/>
            <a:tailEnd/>
          </a:ln>
        </p:spPr>
      </p:pic>
      <p:pic>
        <p:nvPicPr>
          <p:cNvPr id="10" name="Picture 38" descr="light_white"/>
          <p:cNvPicPr>
            <a:picLocks noChangeAspect="1" noChangeArrowheads="1"/>
          </p:cNvPicPr>
          <p:nvPr/>
        </p:nvPicPr>
        <p:blipFill>
          <a:blip r:embed="rId2" cstate="print">
            <a:lum contrast="-30000"/>
          </a:blip>
          <a:srcRect/>
          <a:stretch>
            <a:fillRect/>
          </a:stretch>
        </p:blipFill>
        <p:spPr bwMode="auto">
          <a:xfrm>
            <a:off x="5172075" y="2011363"/>
            <a:ext cx="133350" cy="133350"/>
          </a:xfrm>
          <a:prstGeom prst="rect">
            <a:avLst/>
          </a:prstGeom>
          <a:noFill/>
          <a:ln w="9525">
            <a:noFill/>
            <a:miter lim="800000"/>
            <a:headEnd/>
            <a:tailEnd/>
          </a:ln>
        </p:spPr>
      </p:pic>
      <p:pic>
        <p:nvPicPr>
          <p:cNvPr id="11" name="Picture 39" descr="light_white"/>
          <p:cNvPicPr>
            <a:picLocks noChangeAspect="1" noChangeArrowheads="1"/>
          </p:cNvPicPr>
          <p:nvPr/>
        </p:nvPicPr>
        <p:blipFill>
          <a:blip r:embed="rId2" cstate="print">
            <a:lum contrast="-54000"/>
          </a:blip>
          <a:srcRect/>
          <a:stretch>
            <a:fillRect/>
          </a:stretch>
        </p:blipFill>
        <p:spPr bwMode="auto">
          <a:xfrm>
            <a:off x="6319838" y="3008313"/>
            <a:ext cx="207962" cy="207962"/>
          </a:xfrm>
          <a:prstGeom prst="rect">
            <a:avLst/>
          </a:prstGeom>
          <a:noFill/>
          <a:ln w="9525">
            <a:noFill/>
            <a:miter lim="800000"/>
            <a:headEnd/>
            <a:tailEnd/>
          </a:ln>
        </p:spPr>
      </p:pic>
      <p:pic>
        <p:nvPicPr>
          <p:cNvPr id="12" name="Picture 40" descr="light_white"/>
          <p:cNvPicPr>
            <a:picLocks noChangeAspect="1" noChangeArrowheads="1"/>
          </p:cNvPicPr>
          <p:nvPr/>
        </p:nvPicPr>
        <p:blipFill>
          <a:blip r:embed="rId2" cstate="print">
            <a:lum contrast="-54000"/>
            <a:grayscl/>
          </a:blip>
          <a:srcRect/>
          <a:stretch>
            <a:fillRect/>
          </a:stretch>
        </p:blipFill>
        <p:spPr bwMode="auto">
          <a:xfrm>
            <a:off x="7423150" y="1497013"/>
            <a:ext cx="182563" cy="182562"/>
          </a:xfrm>
          <a:prstGeom prst="rect">
            <a:avLst/>
          </a:prstGeom>
          <a:noFill/>
          <a:ln w="9525">
            <a:noFill/>
            <a:miter lim="800000"/>
            <a:headEnd/>
            <a:tailEnd/>
          </a:ln>
        </p:spPr>
      </p:pic>
      <p:pic>
        <p:nvPicPr>
          <p:cNvPr id="13" name="Picture 41" descr="light_white"/>
          <p:cNvPicPr>
            <a:picLocks noChangeAspect="1" noChangeArrowheads="1"/>
          </p:cNvPicPr>
          <p:nvPr/>
        </p:nvPicPr>
        <p:blipFill>
          <a:blip r:embed="rId2" cstate="print">
            <a:lum contrast="-24000"/>
          </a:blip>
          <a:srcRect/>
          <a:stretch>
            <a:fillRect/>
          </a:stretch>
        </p:blipFill>
        <p:spPr bwMode="auto">
          <a:xfrm>
            <a:off x="8118475" y="1922463"/>
            <a:ext cx="133350" cy="133350"/>
          </a:xfrm>
          <a:prstGeom prst="rect">
            <a:avLst/>
          </a:prstGeom>
          <a:noFill/>
          <a:ln w="9525">
            <a:noFill/>
            <a:miter lim="800000"/>
            <a:headEnd/>
            <a:tailEnd/>
          </a:ln>
        </p:spPr>
      </p:pic>
      <p:pic>
        <p:nvPicPr>
          <p:cNvPr id="14" name="Picture 42" descr="light_white"/>
          <p:cNvPicPr>
            <a:picLocks noChangeAspect="1" noChangeArrowheads="1"/>
          </p:cNvPicPr>
          <p:nvPr/>
        </p:nvPicPr>
        <p:blipFill>
          <a:blip r:embed="rId2" cstate="print">
            <a:lum contrast="-100000"/>
          </a:blip>
          <a:srcRect/>
          <a:stretch>
            <a:fillRect/>
          </a:stretch>
        </p:blipFill>
        <p:spPr bwMode="auto">
          <a:xfrm>
            <a:off x="6783388" y="1652588"/>
            <a:ext cx="133350" cy="133350"/>
          </a:xfrm>
          <a:prstGeom prst="rect">
            <a:avLst/>
          </a:prstGeom>
          <a:noFill/>
          <a:ln w="9525">
            <a:noFill/>
            <a:miter lim="800000"/>
            <a:headEnd/>
            <a:tailEnd/>
          </a:ln>
        </p:spPr>
      </p:pic>
      <p:pic>
        <p:nvPicPr>
          <p:cNvPr id="15" name="Picture 43" descr="light_white"/>
          <p:cNvPicPr>
            <a:picLocks noChangeAspect="1" noChangeArrowheads="1"/>
          </p:cNvPicPr>
          <p:nvPr/>
        </p:nvPicPr>
        <p:blipFill>
          <a:blip r:embed="rId2" cstate="print">
            <a:lum contrast="-60000"/>
          </a:blip>
          <a:srcRect/>
          <a:stretch>
            <a:fillRect/>
          </a:stretch>
        </p:blipFill>
        <p:spPr bwMode="auto">
          <a:xfrm>
            <a:off x="7321550" y="1890713"/>
            <a:ext cx="133350" cy="133350"/>
          </a:xfrm>
          <a:prstGeom prst="rect">
            <a:avLst/>
          </a:prstGeom>
          <a:noFill/>
          <a:ln w="9525">
            <a:noFill/>
            <a:miter lim="800000"/>
            <a:headEnd/>
            <a:tailEnd/>
          </a:ln>
        </p:spPr>
      </p:pic>
      <p:pic>
        <p:nvPicPr>
          <p:cNvPr id="16" name="Picture 44" descr="light_white"/>
          <p:cNvPicPr>
            <a:picLocks noChangeAspect="1" noChangeArrowheads="1"/>
          </p:cNvPicPr>
          <p:nvPr/>
        </p:nvPicPr>
        <p:blipFill>
          <a:blip r:embed="rId2" cstate="print">
            <a:lum contrast="-60000"/>
          </a:blip>
          <a:srcRect/>
          <a:stretch>
            <a:fillRect/>
          </a:stretch>
        </p:blipFill>
        <p:spPr bwMode="auto">
          <a:xfrm>
            <a:off x="8564563" y="1539875"/>
            <a:ext cx="133350" cy="133350"/>
          </a:xfrm>
          <a:prstGeom prst="rect">
            <a:avLst/>
          </a:prstGeom>
          <a:noFill/>
          <a:ln w="9525">
            <a:noFill/>
            <a:miter lim="800000"/>
            <a:headEnd/>
            <a:tailEnd/>
          </a:ln>
        </p:spPr>
      </p:pic>
      <p:sp>
        <p:nvSpPr>
          <p:cNvPr id="17" name="Freeform 45"/>
          <p:cNvSpPr>
            <a:spLocks/>
          </p:cNvSpPr>
          <p:nvPr/>
        </p:nvSpPr>
        <p:spPr bwMode="auto">
          <a:xfrm>
            <a:off x="-3175" y="838200"/>
            <a:ext cx="9145588" cy="361950"/>
          </a:xfrm>
          <a:custGeom>
            <a:avLst/>
            <a:gdLst/>
            <a:ahLst/>
            <a:cxnLst>
              <a:cxn ang="0">
                <a:pos x="0" y="1"/>
              </a:cxn>
              <a:cxn ang="0">
                <a:pos x="5761" y="0"/>
              </a:cxn>
              <a:cxn ang="0">
                <a:pos x="5761" y="228"/>
              </a:cxn>
              <a:cxn ang="0">
                <a:pos x="3629" y="228"/>
              </a:cxn>
              <a:cxn ang="0">
                <a:pos x="3493" y="92"/>
              </a:cxn>
              <a:cxn ang="0">
                <a:pos x="0" y="92"/>
              </a:cxn>
              <a:cxn ang="0">
                <a:pos x="0" y="1"/>
              </a:cxn>
            </a:cxnLst>
            <a:rect l="0" t="0" r="r" b="b"/>
            <a:pathLst>
              <a:path w="5761" h="228">
                <a:moveTo>
                  <a:pt x="0" y="1"/>
                </a:moveTo>
                <a:lnTo>
                  <a:pt x="5761" y="0"/>
                </a:lnTo>
                <a:lnTo>
                  <a:pt x="5761" y="228"/>
                </a:lnTo>
                <a:lnTo>
                  <a:pt x="3629" y="228"/>
                </a:lnTo>
                <a:lnTo>
                  <a:pt x="3493" y="92"/>
                </a:lnTo>
                <a:lnTo>
                  <a:pt x="0" y="92"/>
                </a:lnTo>
                <a:lnTo>
                  <a:pt x="0" y="1"/>
                </a:lnTo>
                <a:close/>
              </a:path>
            </a:pathLst>
          </a:custGeom>
          <a:gradFill rotWithShape="1">
            <a:gsLst>
              <a:gs pos="0">
                <a:schemeClr val="hlink"/>
              </a:gs>
              <a:gs pos="50000">
                <a:schemeClr val="tx2"/>
              </a:gs>
              <a:gs pos="100000">
                <a:schemeClr val="hlink"/>
              </a:gs>
            </a:gsLst>
            <a:lin ang="0" scaled="1"/>
          </a:gradFill>
          <a:ln w="9525">
            <a:noFill/>
            <a:round/>
            <a:headEnd/>
            <a:tailEnd/>
          </a:ln>
          <a:effectLst/>
        </p:spPr>
        <p:txBody>
          <a:bodyPr/>
          <a:lstStyle/>
          <a:p>
            <a:pPr algn="r" eaLnBrk="0" hangingPunct="0">
              <a:defRPr/>
            </a:pPr>
            <a:endParaRPr lang="vi-VN">
              <a:cs typeface="+mn-cs"/>
            </a:endParaRPr>
          </a:p>
        </p:txBody>
      </p:sp>
      <p:pic>
        <p:nvPicPr>
          <p:cNvPr id="18" name="Picture 46" descr="light_white"/>
          <p:cNvPicPr>
            <a:picLocks noChangeAspect="1" noChangeArrowheads="1"/>
          </p:cNvPicPr>
          <p:nvPr/>
        </p:nvPicPr>
        <p:blipFill>
          <a:blip r:embed="rId2" cstate="print"/>
          <a:srcRect/>
          <a:stretch>
            <a:fillRect/>
          </a:stretch>
        </p:blipFill>
        <p:spPr bwMode="auto">
          <a:xfrm>
            <a:off x="1790700" y="1231900"/>
            <a:ext cx="133350" cy="133350"/>
          </a:xfrm>
          <a:prstGeom prst="rect">
            <a:avLst/>
          </a:prstGeom>
          <a:noFill/>
          <a:ln w="9525">
            <a:noFill/>
            <a:miter lim="800000"/>
            <a:headEnd/>
            <a:tailEnd/>
          </a:ln>
        </p:spPr>
      </p:pic>
      <p:pic>
        <p:nvPicPr>
          <p:cNvPr id="19" name="Picture 47" descr="light_white"/>
          <p:cNvPicPr>
            <a:picLocks noChangeAspect="1" noChangeArrowheads="1"/>
          </p:cNvPicPr>
          <p:nvPr/>
        </p:nvPicPr>
        <p:blipFill>
          <a:blip r:embed="rId2" cstate="print">
            <a:lum contrast="-30000"/>
          </a:blip>
          <a:srcRect/>
          <a:stretch>
            <a:fillRect/>
          </a:stretch>
        </p:blipFill>
        <p:spPr bwMode="auto">
          <a:xfrm>
            <a:off x="5845175" y="1822450"/>
            <a:ext cx="106363" cy="106363"/>
          </a:xfrm>
          <a:prstGeom prst="rect">
            <a:avLst/>
          </a:prstGeom>
          <a:noFill/>
          <a:ln w="9525">
            <a:noFill/>
            <a:miter lim="800000"/>
            <a:headEnd/>
            <a:tailEnd/>
          </a:ln>
        </p:spPr>
      </p:pic>
      <p:pic>
        <p:nvPicPr>
          <p:cNvPr id="20" name="Picture 48" descr="light_white"/>
          <p:cNvPicPr>
            <a:picLocks noChangeAspect="1" noChangeArrowheads="1"/>
          </p:cNvPicPr>
          <p:nvPr/>
        </p:nvPicPr>
        <p:blipFill>
          <a:blip r:embed="rId2" cstate="print"/>
          <a:srcRect/>
          <a:stretch>
            <a:fillRect/>
          </a:stretch>
        </p:blipFill>
        <p:spPr bwMode="auto">
          <a:xfrm>
            <a:off x="5446713" y="1454150"/>
            <a:ext cx="115887" cy="115888"/>
          </a:xfrm>
          <a:prstGeom prst="rect">
            <a:avLst/>
          </a:prstGeom>
          <a:noFill/>
          <a:ln w="9525">
            <a:noFill/>
            <a:miter lim="800000"/>
            <a:headEnd/>
            <a:tailEnd/>
          </a:ln>
        </p:spPr>
      </p:pic>
      <p:pic>
        <p:nvPicPr>
          <p:cNvPr id="21" name="Picture 49" descr="light_white"/>
          <p:cNvPicPr>
            <a:picLocks noChangeAspect="1" noChangeArrowheads="1"/>
          </p:cNvPicPr>
          <p:nvPr/>
        </p:nvPicPr>
        <p:blipFill>
          <a:blip r:embed="rId2" cstate="print">
            <a:lum contrast="-54000"/>
            <a:grayscl/>
          </a:blip>
          <a:srcRect/>
          <a:stretch>
            <a:fillRect/>
          </a:stretch>
        </p:blipFill>
        <p:spPr bwMode="auto">
          <a:xfrm>
            <a:off x="4606925" y="990600"/>
            <a:ext cx="182563" cy="182563"/>
          </a:xfrm>
          <a:prstGeom prst="rect">
            <a:avLst/>
          </a:prstGeom>
          <a:noFill/>
          <a:ln w="9525">
            <a:noFill/>
            <a:miter lim="800000"/>
            <a:headEnd/>
            <a:tailEnd/>
          </a:ln>
        </p:spPr>
      </p:pic>
      <p:sp>
        <p:nvSpPr>
          <p:cNvPr id="22" name="Freeform 50"/>
          <p:cNvSpPr>
            <a:spLocks/>
          </p:cNvSpPr>
          <p:nvPr/>
        </p:nvSpPr>
        <p:spPr bwMode="auto">
          <a:xfrm rot="10800000">
            <a:off x="-3175" y="5594350"/>
            <a:ext cx="9145588" cy="361950"/>
          </a:xfrm>
          <a:custGeom>
            <a:avLst/>
            <a:gdLst/>
            <a:ahLst/>
            <a:cxnLst>
              <a:cxn ang="0">
                <a:pos x="0" y="1"/>
              </a:cxn>
              <a:cxn ang="0">
                <a:pos x="5761" y="0"/>
              </a:cxn>
              <a:cxn ang="0">
                <a:pos x="5761" y="228"/>
              </a:cxn>
              <a:cxn ang="0">
                <a:pos x="3629" y="228"/>
              </a:cxn>
              <a:cxn ang="0">
                <a:pos x="3493" y="92"/>
              </a:cxn>
              <a:cxn ang="0">
                <a:pos x="0" y="92"/>
              </a:cxn>
              <a:cxn ang="0">
                <a:pos x="0" y="1"/>
              </a:cxn>
            </a:cxnLst>
            <a:rect l="0" t="0" r="r" b="b"/>
            <a:pathLst>
              <a:path w="5761" h="228">
                <a:moveTo>
                  <a:pt x="0" y="1"/>
                </a:moveTo>
                <a:lnTo>
                  <a:pt x="5761" y="0"/>
                </a:lnTo>
                <a:lnTo>
                  <a:pt x="5761" y="228"/>
                </a:lnTo>
                <a:lnTo>
                  <a:pt x="3629" y="228"/>
                </a:lnTo>
                <a:lnTo>
                  <a:pt x="3493" y="92"/>
                </a:lnTo>
                <a:lnTo>
                  <a:pt x="0" y="92"/>
                </a:lnTo>
                <a:lnTo>
                  <a:pt x="0" y="1"/>
                </a:lnTo>
                <a:close/>
              </a:path>
            </a:pathLst>
          </a:custGeom>
          <a:gradFill rotWithShape="1">
            <a:gsLst>
              <a:gs pos="0">
                <a:schemeClr val="hlink"/>
              </a:gs>
              <a:gs pos="50000">
                <a:schemeClr val="tx2"/>
              </a:gs>
              <a:gs pos="100000">
                <a:schemeClr val="hlink"/>
              </a:gs>
            </a:gsLst>
            <a:lin ang="0" scaled="1"/>
          </a:gradFill>
          <a:ln w="9525">
            <a:noFill/>
            <a:round/>
            <a:headEnd/>
            <a:tailEnd/>
          </a:ln>
          <a:effectLst/>
        </p:spPr>
        <p:txBody>
          <a:bodyPr/>
          <a:lstStyle/>
          <a:p>
            <a:pPr algn="r" eaLnBrk="0" hangingPunct="0">
              <a:defRPr/>
            </a:pPr>
            <a:endParaRPr lang="vi-VN">
              <a:cs typeface="+mn-cs"/>
            </a:endParaRPr>
          </a:p>
        </p:txBody>
      </p:sp>
      <p:sp>
        <p:nvSpPr>
          <p:cNvPr id="23" name="Oval 51"/>
          <p:cNvSpPr>
            <a:spLocks noChangeArrowheads="1"/>
          </p:cNvSpPr>
          <p:nvPr/>
        </p:nvSpPr>
        <p:spPr bwMode="auto">
          <a:xfrm rot="20480180">
            <a:off x="3527425" y="3873500"/>
            <a:ext cx="1135063" cy="1135063"/>
          </a:xfrm>
          <a:prstGeom prst="ellipse">
            <a:avLst/>
          </a:prstGeom>
          <a:noFill/>
          <a:ln w="19050">
            <a:solidFill>
              <a:schemeClr val="bg1">
                <a:alpha val="50000"/>
              </a:schemeClr>
            </a:solidFill>
            <a:round/>
            <a:headEnd/>
            <a:tailEnd/>
          </a:ln>
          <a:effectLst/>
        </p:spPr>
        <p:txBody>
          <a:bodyPr wrap="none" anchor="ctr"/>
          <a:lstStyle/>
          <a:p>
            <a:pPr algn="ctr" eaLnBrk="0" hangingPunct="0">
              <a:defRPr/>
            </a:pPr>
            <a:endParaRPr lang="ko-KR" altLang="en-US">
              <a:solidFill>
                <a:schemeClr val="bg1"/>
              </a:solidFill>
              <a:ea typeface="굴림" charset="-127"/>
              <a:cs typeface="+mn-cs"/>
            </a:endParaRPr>
          </a:p>
        </p:txBody>
      </p:sp>
      <p:sp>
        <p:nvSpPr>
          <p:cNvPr id="24" name="Line 52"/>
          <p:cNvSpPr>
            <a:spLocks noChangeShapeType="1"/>
          </p:cNvSpPr>
          <p:nvPr/>
        </p:nvSpPr>
        <p:spPr bwMode="auto">
          <a:xfrm rot="20480180" flipV="1">
            <a:off x="2560638" y="2509838"/>
            <a:ext cx="327025" cy="327025"/>
          </a:xfrm>
          <a:prstGeom prst="line">
            <a:avLst/>
          </a:prstGeom>
          <a:noFill/>
          <a:ln w="57150" cap="rnd">
            <a:solidFill>
              <a:schemeClr val="bg1">
                <a:alpha val="50000"/>
              </a:schemeClr>
            </a:solidFill>
            <a:prstDash val="sysDot"/>
            <a:round/>
            <a:headEnd/>
            <a:tailEnd/>
          </a:ln>
          <a:effectLst/>
        </p:spPr>
        <p:txBody>
          <a:bodyPr/>
          <a:lstStyle/>
          <a:p>
            <a:pPr algn="r" eaLnBrk="0" hangingPunct="0">
              <a:defRPr/>
            </a:pPr>
            <a:endParaRPr lang="vi-VN">
              <a:cs typeface="+mn-cs"/>
            </a:endParaRPr>
          </a:p>
        </p:txBody>
      </p:sp>
      <p:sp>
        <p:nvSpPr>
          <p:cNvPr id="25" name="Line 53"/>
          <p:cNvSpPr>
            <a:spLocks noChangeShapeType="1"/>
          </p:cNvSpPr>
          <p:nvPr/>
        </p:nvSpPr>
        <p:spPr bwMode="auto">
          <a:xfrm rot="20480180" flipH="1" flipV="1">
            <a:off x="2901950" y="3776663"/>
            <a:ext cx="554038" cy="554037"/>
          </a:xfrm>
          <a:prstGeom prst="line">
            <a:avLst/>
          </a:prstGeom>
          <a:noFill/>
          <a:ln w="57150" cap="rnd">
            <a:solidFill>
              <a:schemeClr val="bg1">
                <a:alpha val="50000"/>
              </a:schemeClr>
            </a:solidFill>
            <a:prstDash val="sysDot"/>
            <a:round/>
            <a:headEnd/>
            <a:tailEnd/>
          </a:ln>
          <a:effectLst/>
        </p:spPr>
        <p:txBody>
          <a:bodyPr/>
          <a:lstStyle/>
          <a:p>
            <a:pPr algn="r" eaLnBrk="0" hangingPunct="0">
              <a:defRPr/>
            </a:pPr>
            <a:endParaRPr lang="vi-VN">
              <a:cs typeface="+mn-cs"/>
            </a:endParaRPr>
          </a:p>
        </p:txBody>
      </p:sp>
      <p:sp>
        <p:nvSpPr>
          <p:cNvPr id="26" name="Line 54"/>
          <p:cNvSpPr>
            <a:spLocks noChangeShapeType="1"/>
          </p:cNvSpPr>
          <p:nvPr/>
        </p:nvSpPr>
        <p:spPr bwMode="auto">
          <a:xfrm rot="20480180" flipH="1" flipV="1">
            <a:off x="1219200" y="2965450"/>
            <a:ext cx="227013" cy="227013"/>
          </a:xfrm>
          <a:prstGeom prst="line">
            <a:avLst/>
          </a:prstGeom>
          <a:noFill/>
          <a:ln w="57150" cap="rnd">
            <a:solidFill>
              <a:schemeClr val="bg1">
                <a:alpha val="50000"/>
              </a:schemeClr>
            </a:solidFill>
            <a:prstDash val="sysDot"/>
            <a:round/>
            <a:headEnd/>
            <a:tailEnd/>
          </a:ln>
          <a:effectLst/>
        </p:spPr>
        <p:txBody>
          <a:bodyPr/>
          <a:lstStyle/>
          <a:p>
            <a:pPr algn="r" eaLnBrk="0" hangingPunct="0">
              <a:defRPr/>
            </a:pPr>
            <a:endParaRPr lang="vi-VN">
              <a:cs typeface="+mn-cs"/>
            </a:endParaRPr>
          </a:p>
        </p:txBody>
      </p:sp>
      <p:sp>
        <p:nvSpPr>
          <p:cNvPr id="27" name="Oval 55"/>
          <p:cNvSpPr>
            <a:spLocks noChangeArrowheads="1"/>
          </p:cNvSpPr>
          <p:nvPr/>
        </p:nvSpPr>
        <p:spPr bwMode="auto">
          <a:xfrm rot="20480180">
            <a:off x="85725" y="2239963"/>
            <a:ext cx="1182688" cy="1184275"/>
          </a:xfrm>
          <a:prstGeom prst="ellipse">
            <a:avLst/>
          </a:prstGeom>
          <a:noFill/>
          <a:ln w="19050">
            <a:solidFill>
              <a:schemeClr val="bg1">
                <a:alpha val="50000"/>
              </a:schemeClr>
            </a:solidFill>
            <a:round/>
            <a:headEnd/>
            <a:tailEnd/>
          </a:ln>
          <a:effectLst/>
        </p:spPr>
        <p:txBody>
          <a:bodyPr wrap="none" anchor="ctr"/>
          <a:lstStyle/>
          <a:p>
            <a:pPr algn="r" eaLnBrk="0" hangingPunct="0">
              <a:defRPr/>
            </a:pPr>
            <a:endParaRPr lang="vi-VN">
              <a:cs typeface="+mn-cs"/>
            </a:endParaRPr>
          </a:p>
        </p:txBody>
      </p:sp>
      <p:sp>
        <p:nvSpPr>
          <p:cNvPr id="28" name="Oval 56" descr="cloud2"/>
          <p:cNvSpPr>
            <a:spLocks noChangeArrowheads="1"/>
          </p:cNvSpPr>
          <p:nvPr/>
        </p:nvSpPr>
        <p:spPr bwMode="auto">
          <a:xfrm rot="20480180">
            <a:off x="1479550" y="2827338"/>
            <a:ext cx="1411288" cy="1411287"/>
          </a:xfrm>
          <a:prstGeom prst="ellipse">
            <a:avLst/>
          </a:prstGeom>
          <a:blipFill dpi="0" rotWithShape="1">
            <a:blip r:embed="rId3" cstate="print">
              <a:lum contrast="6000"/>
            </a:blip>
            <a:srcRect/>
            <a:stretch>
              <a:fillRect/>
            </a:stretch>
          </a:blipFill>
          <a:ln w="38100">
            <a:solidFill>
              <a:schemeClr val="bg1">
                <a:alpha val="50000"/>
              </a:schemeClr>
            </a:solidFill>
            <a:round/>
            <a:headEnd/>
            <a:tailEnd/>
          </a:ln>
          <a:effectLst/>
        </p:spPr>
        <p:txBody>
          <a:bodyPr wrap="none" anchor="ctr"/>
          <a:lstStyle/>
          <a:p>
            <a:pPr algn="r" eaLnBrk="0" hangingPunct="0">
              <a:defRPr/>
            </a:pPr>
            <a:endParaRPr lang="vi-VN">
              <a:cs typeface="+mn-cs"/>
            </a:endParaRPr>
          </a:p>
        </p:txBody>
      </p:sp>
      <p:pic>
        <p:nvPicPr>
          <p:cNvPr id="29" name="Picture 57" descr="globe_white"/>
          <p:cNvPicPr>
            <a:picLocks noChangeAspect="1" noChangeArrowheads="1"/>
          </p:cNvPicPr>
          <p:nvPr/>
        </p:nvPicPr>
        <p:blipFill>
          <a:blip r:embed="rId4" cstate="print"/>
          <a:srcRect/>
          <a:stretch>
            <a:fillRect/>
          </a:stretch>
        </p:blipFill>
        <p:spPr bwMode="gray">
          <a:xfrm>
            <a:off x="1493838" y="2838450"/>
            <a:ext cx="1381125" cy="1381125"/>
          </a:xfrm>
          <a:prstGeom prst="rect">
            <a:avLst/>
          </a:prstGeom>
          <a:noFill/>
          <a:ln w="38100">
            <a:noFill/>
            <a:miter lim="800000"/>
            <a:headEnd/>
            <a:tailEnd/>
          </a:ln>
        </p:spPr>
      </p:pic>
      <p:sp>
        <p:nvSpPr>
          <p:cNvPr id="30" name="Line 58"/>
          <p:cNvSpPr>
            <a:spLocks noChangeShapeType="1"/>
          </p:cNvSpPr>
          <p:nvPr/>
        </p:nvSpPr>
        <p:spPr bwMode="auto">
          <a:xfrm rot="20480180" flipV="1">
            <a:off x="1779588" y="4252913"/>
            <a:ext cx="146050" cy="146050"/>
          </a:xfrm>
          <a:prstGeom prst="line">
            <a:avLst/>
          </a:prstGeom>
          <a:noFill/>
          <a:ln w="57150" cap="rnd">
            <a:solidFill>
              <a:schemeClr val="bg1">
                <a:alpha val="50000"/>
              </a:schemeClr>
            </a:solidFill>
            <a:prstDash val="sysDot"/>
            <a:round/>
            <a:headEnd/>
            <a:tailEnd/>
          </a:ln>
          <a:effectLst/>
        </p:spPr>
        <p:txBody>
          <a:bodyPr/>
          <a:lstStyle/>
          <a:p>
            <a:pPr algn="r" eaLnBrk="0" hangingPunct="0">
              <a:defRPr/>
            </a:pPr>
            <a:endParaRPr lang="vi-VN">
              <a:cs typeface="+mn-cs"/>
            </a:endParaRPr>
          </a:p>
        </p:txBody>
      </p:sp>
      <p:sp>
        <p:nvSpPr>
          <p:cNvPr id="31" name="Oval 59"/>
          <p:cNvSpPr>
            <a:spLocks noChangeArrowheads="1"/>
          </p:cNvSpPr>
          <p:nvPr/>
        </p:nvSpPr>
        <p:spPr bwMode="auto">
          <a:xfrm rot="20480180">
            <a:off x="1144588" y="4424363"/>
            <a:ext cx="831850" cy="831850"/>
          </a:xfrm>
          <a:prstGeom prst="ellipse">
            <a:avLst/>
          </a:prstGeom>
          <a:noFill/>
          <a:ln w="19050">
            <a:solidFill>
              <a:schemeClr val="bg1">
                <a:alpha val="50000"/>
              </a:schemeClr>
            </a:solidFill>
            <a:round/>
            <a:headEnd/>
            <a:tailEnd/>
          </a:ln>
          <a:effectLst/>
        </p:spPr>
        <p:txBody>
          <a:bodyPr wrap="none" anchor="ctr"/>
          <a:lstStyle/>
          <a:p>
            <a:pPr algn="r" eaLnBrk="0" hangingPunct="0">
              <a:defRPr/>
            </a:pPr>
            <a:endParaRPr lang="vi-VN">
              <a:cs typeface="+mn-cs"/>
            </a:endParaRPr>
          </a:p>
        </p:txBody>
      </p:sp>
      <p:sp>
        <p:nvSpPr>
          <p:cNvPr id="32" name="Oval 60"/>
          <p:cNvSpPr>
            <a:spLocks noChangeArrowheads="1"/>
          </p:cNvSpPr>
          <p:nvPr/>
        </p:nvSpPr>
        <p:spPr bwMode="auto">
          <a:xfrm rot="20480180">
            <a:off x="2506663" y="1154113"/>
            <a:ext cx="1360487" cy="1360487"/>
          </a:xfrm>
          <a:prstGeom prst="ellipse">
            <a:avLst/>
          </a:prstGeom>
          <a:noFill/>
          <a:ln w="19050">
            <a:solidFill>
              <a:schemeClr val="bg1">
                <a:alpha val="50000"/>
              </a:schemeClr>
            </a:solidFill>
            <a:round/>
            <a:headEnd/>
            <a:tailEnd/>
          </a:ln>
          <a:effectLst/>
        </p:spPr>
        <p:txBody>
          <a:bodyPr wrap="none" anchor="ctr"/>
          <a:lstStyle/>
          <a:p>
            <a:pPr algn="r" eaLnBrk="0" hangingPunct="0">
              <a:defRPr/>
            </a:pPr>
            <a:endParaRPr lang="vi-VN">
              <a:cs typeface="+mn-cs"/>
            </a:endParaRPr>
          </a:p>
        </p:txBody>
      </p:sp>
      <p:pic>
        <p:nvPicPr>
          <p:cNvPr id="33" name="Picture 61" descr="icon_conference"/>
          <p:cNvPicPr>
            <a:picLocks noChangeAspect="1" noChangeArrowheads="1"/>
          </p:cNvPicPr>
          <p:nvPr/>
        </p:nvPicPr>
        <p:blipFill>
          <a:blip r:embed="rId5" cstate="print"/>
          <a:srcRect/>
          <a:stretch>
            <a:fillRect/>
          </a:stretch>
        </p:blipFill>
        <p:spPr bwMode="auto">
          <a:xfrm>
            <a:off x="2546350" y="1189038"/>
            <a:ext cx="1298575" cy="1298575"/>
          </a:xfrm>
          <a:prstGeom prst="rect">
            <a:avLst/>
          </a:prstGeom>
          <a:noFill/>
          <a:ln w="9525">
            <a:noFill/>
            <a:miter lim="800000"/>
            <a:headEnd/>
            <a:tailEnd/>
          </a:ln>
        </p:spPr>
      </p:pic>
      <p:pic>
        <p:nvPicPr>
          <p:cNvPr id="34" name="Picture 62" descr="icon_female"/>
          <p:cNvPicPr>
            <a:picLocks noChangeAspect="1" noChangeArrowheads="1"/>
          </p:cNvPicPr>
          <p:nvPr/>
        </p:nvPicPr>
        <p:blipFill>
          <a:blip r:embed="rId6" cstate="print"/>
          <a:srcRect/>
          <a:stretch>
            <a:fillRect/>
          </a:stretch>
        </p:blipFill>
        <p:spPr bwMode="auto">
          <a:xfrm>
            <a:off x="107950" y="2262188"/>
            <a:ext cx="1136650" cy="1136650"/>
          </a:xfrm>
          <a:prstGeom prst="rect">
            <a:avLst/>
          </a:prstGeom>
          <a:noFill/>
          <a:ln w="9525">
            <a:noFill/>
            <a:miter lim="800000"/>
            <a:headEnd/>
            <a:tailEnd/>
          </a:ln>
        </p:spPr>
      </p:pic>
      <p:pic>
        <p:nvPicPr>
          <p:cNvPr id="35" name="Picture 63" descr="icon_men"/>
          <p:cNvPicPr>
            <a:picLocks noChangeAspect="1" noChangeArrowheads="1"/>
          </p:cNvPicPr>
          <p:nvPr/>
        </p:nvPicPr>
        <p:blipFill>
          <a:blip r:embed="rId7" cstate="print"/>
          <a:srcRect/>
          <a:stretch>
            <a:fillRect/>
          </a:stretch>
        </p:blipFill>
        <p:spPr bwMode="auto">
          <a:xfrm>
            <a:off x="3557588" y="3902075"/>
            <a:ext cx="1085850" cy="1085850"/>
          </a:xfrm>
          <a:prstGeom prst="rect">
            <a:avLst/>
          </a:prstGeom>
          <a:noFill/>
          <a:ln w="9525">
            <a:noFill/>
            <a:miter lim="800000"/>
            <a:headEnd/>
            <a:tailEnd/>
          </a:ln>
        </p:spPr>
      </p:pic>
      <p:pic>
        <p:nvPicPr>
          <p:cNvPr id="36" name="Picture 64" descr="icon_bulding"/>
          <p:cNvPicPr>
            <a:picLocks noChangeAspect="1" noChangeArrowheads="1"/>
          </p:cNvPicPr>
          <p:nvPr/>
        </p:nvPicPr>
        <p:blipFill>
          <a:blip r:embed="rId8" cstate="print"/>
          <a:srcRect/>
          <a:stretch>
            <a:fillRect/>
          </a:stretch>
        </p:blipFill>
        <p:spPr bwMode="auto">
          <a:xfrm>
            <a:off x="1174750" y="4451350"/>
            <a:ext cx="782638" cy="782638"/>
          </a:xfrm>
          <a:prstGeom prst="rect">
            <a:avLst/>
          </a:prstGeom>
          <a:noFill/>
          <a:ln w="9525">
            <a:noFill/>
            <a:miter lim="800000"/>
            <a:headEnd/>
            <a:tailEnd/>
          </a:ln>
        </p:spPr>
      </p:pic>
      <p:sp>
        <p:nvSpPr>
          <p:cNvPr id="37" name="Rectangle 36"/>
          <p:cNvSpPr/>
          <p:nvPr/>
        </p:nvSpPr>
        <p:spPr>
          <a:xfrm>
            <a:off x="1498764" y="3144759"/>
            <a:ext cx="1398140" cy="800219"/>
          </a:xfrm>
          <a:prstGeom prst="rect">
            <a:avLst/>
          </a:prstGeom>
          <a:noFill/>
        </p:spPr>
        <p:txBody>
          <a:bodyPr wrap="none">
            <a:spAutoFit/>
          </a:bodyPr>
          <a:lstStyle/>
          <a:p>
            <a:pPr algn="ctr" eaLnBrk="0" hangingPunct="0">
              <a:defRPr/>
            </a:pPr>
            <a:r>
              <a:rPr lang="en-US" sz="4600"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cs typeface="+mn-cs"/>
              </a:rPr>
              <a:t>HSU</a:t>
            </a:r>
          </a:p>
        </p:txBody>
      </p:sp>
      <p:pic>
        <p:nvPicPr>
          <p:cNvPr id="38" name="Picture 47" descr="logoChuan_vie_blue.png"/>
          <p:cNvPicPr>
            <a:picLocks noChangeAspect="1"/>
          </p:cNvPicPr>
          <p:nvPr/>
        </p:nvPicPr>
        <p:blipFill>
          <a:blip r:embed="rId9" cstate="print"/>
          <a:srcRect/>
          <a:stretch>
            <a:fillRect/>
          </a:stretch>
        </p:blipFill>
        <p:spPr bwMode="auto">
          <a:xfrm>
            <a:off x="0" y="0"/>
            <a:ext cx="2060575" cy="793750"/>
          </a:xfrm>
          <a:prstGeom prst="rect">
            <a:avLst/>
          </a:prstGeom>
          <a:noFill/>
          <a:ln w="9525">
            <a:noFill/>
            <a:miter lim="800000"/>
            <a:headEnd/>
            <a:tailEnd/>
          </a:ln>
        </p:spPr>
      </p:pic>
      <p:sp>
        <p:nvSpPr>
          <p:cNvPr id="13333" name="Rectangle 21"/>
          <p:cNvSpPr>
            <a:spLocks noGrp="1" noChangeArrowheads="1"/>
          </p:cNvSpPr>
          <p:nvPr>
            <p:ph type="ctrTitle" sz="quarter"/>
          </p:nvPr>
        </p:nvSpPr>
        <p:spPr bwMode="black">
          <a:xfrm>
            <a:off x="3058236" y="2416004"/>
            <a:ext cx="6085764" cy="1354137"/>
          </a:xfrm>
        </p:spPr>
        <p:txBody>
          <a:bodyPr/>
          <a:lstStyle>
            <a:lvl1pPr algn="ctr">
              <a:defRPr sz="3600" baseline="0">
                <a:solidFill>
                  <a:srgbClr val="FFCC00"/>
                </a:solidFill>
                <a:latin typeface="Arial" pitchFamily="34" charset="0"/>
                <a:ea typeface="Tahoma" pitchFamily="34" charset="0"/>
                <a:cs typeface="Arial" pitchFamily="34" charset="0"/>
              </a:defRPr>
            </a:lvl1pPr>
          </a:lstStyle>
          <a:p>
            <a:r>
              <a:rPr lang="en-US" altLang="ko-KR" smtClean="0"/>
              <a:t>Click to edit Master title style</a:t>
            </a:r>
            <a:endParaRPr lang="en-US" altLang="ko-KR" dirty="0"/>
          </a:p>
        </p:txBody>
      </p:sp>
      <p:sp>
        <p:nvSpPr>
          <p:cNvPr id="39" name="Rectangle 23"/>
          <p:cNvSpPr>
            <a:spLocks noGrp="1" noChangeArrowheads="1"/>
          </p:cNvSpPr>
          <p:nvPr>
            <p:ph type="dt" sz="quarter" idx="10"/>
          </p:nvPr>
        </p:nvSpPr>
        <p:spPr>
          <a:xfrm>
            <a:off x="0" y="6551613"/>
            <a:ext cx="2133600" cy="306387"/>
          </a:xfrm>
        </p:spPr>
        <p:txBody>
          <a:bodyPr/>
          <a:lstStyle>
            <a:lvl1pPr>
              <a:defRPr sz="1400">
                <a:solidFill>
                  <a:schemeClr val="tx1"/>
                </a:solidFill>
                <a:effectLst>
                  <a:outerShdw blurRad="38100" dist="38100" dir="2700000" algn="tl">
                    <a:srgbClr val="C0C0C0"/>
                  </a:outerShdw>
                </a:effectLst>
                <a:latin typeface="Times New Roman" pitchFamily="18" charset="0"/>
              </a:defRPr>
            </a:lvl1pPr>
          </a:lstStyle>
          <a:p>
            <a:pPr>
              <a:defRPr/>
            </a:pPr>
            <a:r>
              <a:rPr lang="vi-VN" altLang="ko-KR"/>
              <a:t>Website: http://thuvien.hoasen.edu.vn</a:t>
            </a:r>
            <a:endParaRPr lang="en-US" altLang="ko-KR"/>
          </a:p>
        </p:txBody>
      </p:sp>
      <p:sp>
        <p:nvSpPr>
          <p:cNvPr id="40" name="Rectangle 24"/>
          <p:cNvSpPr>
            <a:spLocks noGrp="1" noChangeArrowheads="1"/>
          </p:cNvSpPr>
          <p:nvPr>
            <p:ph type="ftr" sz="quarter" idx="11"/>
          </p:nvPr>
        </p:nvSpPr>
        <p:spPr>
          <a:xfrm>
            <a:off x="3124200" y="6553200"/>
            <a:ext cx="2895600" cy="304800"/>
          </a:xfrm>
          <a:prstGeom prst="rect">
            <a:avLst/>
          </a:prstGeom>
        </p:spPr>
        <p:txBody>
          <a:bodyPr/>
          <a:lstStyle>
            <a:lvl1pPr algn="ctr" eaLnBrk="0" hangingPunct="0">
              <a:defRPr sz="1400">
                <a:solidFill>
                  <a:schemeClr val="tx1"/>
                </a:solidFill>
                <a:effectLst>
                  <a:outerShdw blurRad="38100" dist="38100" dir="2700000" algn="tl">
                    <a:srgbClr val="C0C0C0"/>
                  </a:outerShdw>
                </a:effectLst>
                <a:latin typeface="Times New Roman" pitchFamily="18" charset="0"/>
                <a:cs typeface="+mn-cs"/>
              </a:defRPr>
            </a:lvl1pPr>
          </a:lstStyle>
          <a:p>
            <a:pPr>
              <a:defRPr/>
            </a:pPr>
            <a:r>
              <a:rPr lang="en-US" altLang="ko-KR"/>
              <a:t>Website: http://thuvien.hoasen.edu.vn</a:t>
            </a:r>
          </a:p>
        </p:txBody>
      </p:sp>
      <p:sp>
        <p:nvSpPr>
          <p:cNvPr id="41" name="Rectangle 25"/>
          <p:cNvSpPr>
            <a:spLocks noGrp="1" noChangeArrowheads="1"/>
          </p:cNvSpPr>
          <p:nvPr>
            <p:ph type="sldNum" sz="quarter" idx="12"/>
          </p:nvPr>
        </p:nvSpPr>
        <p:spPr>
          <a:xfrm>
            <a:off x="7010400" y="6526213"/>
            <a:ext cx="2133600" cy="331787"/>
          </a:xfrm>
        </p:spPr>
        <p:txBody>
          <a:bodyPr/>
          <a:lstStyle>
            <a:lvl1pPr algn="r">
              <a:defRPr sz="1400">
                <a:solidFill>
                  <a:schemeClr val="tx1"/>
                </a:solidFill>
                <a:latin typeface="Times New Roman" pitchFamily="18" charset="0"/>
              </a:defRPr>
            </a:lvl1pPr>
          </a:lstStyle>
          <a:p>
            <a:pPr>
              <a:defRPr/>
            </a:pPr>
            <a:fld id="{4FD297EC-B97E-4E81-BB30-6CD2E0A98137}" type="slidenum">
              <a:rPr lang="en-US" altLang="ko-KR"/>
              <a:pPr>
                <a:defRPr/>
              </a:pPr>
              <a:t>‹#›</a:t>
            </a:fld>
            <a:endParaRPr lang="en-US" altLang="ko-K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270008" cy="789296"/>
          </a:xfrm>
        </p:spPr>
        <p:txBody>
          <a:bodyPr/>
          <a:lstStyle>
            <a:lvl1pPr>
              <a:defRPr sz="3200">
                <a:latin typeface="Arial" pitchFamily="34" charset="0"/>
                <a:cs typeface="Arial" pitchFamily="34" charset="0"/>
              </a:defRPr>
            </a:lvl1pPr>
          </a:lstStyle>
          <a:p>
            <a:r>
              <a:rPr lang="en-US" smtClean="0"/>
              <a:t>Click to edit Master title style</a:t>
            </a:r>
            <a:endParaRPr lang="vi-VN" dirty="0"/>
          </a:p>
        </p:txBody>
      </p:sp>
      <p:sp>
        <p:nvSpPr>
          <p:cNvPr id="3" name="Content Placeholder 2"/>
          <p:cNvSpPr>
            <a:spLocks noGrp="1"/>
          </p:cNvSpPr>
          <p:nvPr>
            <p:ph idx="1"/>
          </p:nvPr>
        </p:nvSpPr>
        <p:spPr>
          <a:xfrm>
            <a:off x="457200" y="1146412"/>
            <a:ext cx="8359254" cy="489954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dirty="0"/>
          </a:p>
        </p:txBody>
      </p:sp>
      <p:sp>
        <p:nvSpPr>
          <p:cNvPr id="4" name="Rectangle 23"/>
          <p:cNvSpPr>
            <a:spLocks noGrp="1" noChangeArrowheads="1"/>
          </p:cNvSpPr>
          <p:nvPr>
            <p:ph type="dt" sz="half" idx="10"/>
          </p:nvPr>
        </p:nvSpPr>
        <p:spPr>
          <a:xfrm>
            <a:off x="2646363" y="6553200"/>
            <a:ext cx="3376612" cy="304800"/>
          </a:xfrm>
        </p:spPr>
        <p:txBody>
          <a:bodyPr/>
          <a:lstStyle>
            <a:lvl1pPr>
              <a:defRPr/>
            </a:lvl1pPr>
          </a:lstStyle>
          <a:p>
            <a:pPr>
              <a:defRPr/>
            </a:pPr>
            <a:r>
              <a:rPr lang="vi-VN" altLang="ko-KR"/>
              <a:t>Website: http://thuvien.hoasen.edu.vn</a:t>
            </a:r>
            <a:endParaRPr lang="en-US" altLang="ko-KR"/>
          </a:p>
        </p:txBody>
      </p:sp>
      <p:sp>
        <p:nvSpPr>
          <p:cNvPr id="5" name="Rectangle 25"/>
          <p:cNvSpPr>
            <a:spLocks noGrp="1" noChangeArrowheads="1"/>
          </p:cNvSpPr>
          <p:nvPr>
            <p:ph type="sldNum" sz="quarter" idx="11"/>
          </p:nvPr>
        </p:nvSpPr>
        <p:spPr/>
        <p:txBody>
          <a:bodyPr/>
          <a:lstStyle>
            <a:lvl1pPr>
              <a:defRPr/>
            </a:lvl1pPr>
          </a:lstStyle>
          <a:p>
            <a:pPr>
              <a:defRPr/>
            </a:pPr>
            <a:fld id="{45865E22-217B-46CF-897B-D405F50577A4}" type="slidenum">
              <a:rPr lang="ko-KR" altLang="en-US"/>
              <a:pPr>
                <a:defRPr/>
              </a:pPr>
              <a:t>‹#›</a:t>
            </a:fld>
            <a:endParaRPr lang="en-US" altLang="ko-K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0376" y="1323833"/>
            <a:ext cx="8134065" cy="4667533"/>
          </a:xfrm>
        </p:spPr>
        <p:txBody>
          <a:bodyPr anchor="t"/>
          <a:lstStyle>
            <a:lvl1pPr algn="l">
              <a:defRPr sz="4000" b="1" cap="all"/>
            </a:lvl1pPr>
          </a:lstStyle>
          <a:p>
            <a:r>
              <a:rPr lang="en-US" smtClean="0"/>
              <a:t>Click to edit Master title style</a:t>
            </a:r>
            <a:endParaRPr lang="vi-VN"/>
          </a:p>
        </p:txBody>
      </p:sp>
      <p:sp>
        <p:nvSpPr>
          <p:cNvPr id="3" name="Rectangle 23"/>
          <p:cNvSpPr>
            <a:spLocks noGrp="1" noChangeArrowheads="1"/>
          </p:cNvSpPr>
          <p:nvPr>
            <p:ph type="dt" sz="half" idx="10"/>
          </p:nvPr>
        </p:nvSpPr>
        <p:spPr>
          <a:ln/>
        </p:spPr>
        <p:txBody>
          <a:bodyPr/>
          <a:lstStyle>
            <a:lvl1pPr>
              <a:defRPr/>
            </a:lvl1pPr>
          </a:lstStyle>
          <a:p>
            <a:pPr>
              <a:defRPr/>
            </a:pPr>
            <a:r>
              <a:rPr lang="vi-VN" altLang="ko-KR"/>
              <a:t>Website: http://thuvien.hoasen.edu.vn</a:t>
            </a:r>
            <a:endParaRPr lang="en-US" altLang="ko-KR"/>
          </a:p>
        </p:txBody>
      </p:sp>
      <p:sp>
        <p:nvSpPr>
          <p:cNvPr id="4" name="Rectangle 25"/>
          <p:cNvSpPr>
            <a:spLocks noGrp="1" noChangeArrowheads="1"/>
          </p:cNvSpPr>
          <p:nvPr>
            <p:ph type="sldNum" sz="quarter" idx="11"/>
          </p:nvPr>
        </p:nvSpPr>
        <p:spPr>
          <a:ln/>
        </p:spPr>
        <p:txBody>
          <a:bodyPr/>
          <a:lstStyle>
            <a:lvl1pPr>
              <a:defRPr/>
            </a:lvl1pPr>
          </a:lstStyle>
          <a:p>
            <a:pPr>
              <a:defRPr/>
            </a:pPr>
            <a:fld id="{B1C3D5EC-EC08-4BAD-A800-BBF7FAC837A1}" type="slidenum">
              <a:rPr lang="ko-KR" altLang="en-US"/>
              <a:pPr>
                <a:defRPr/>
              </a:pPr>
              <a:t>‹#›</a:t>
            </a:fld>
            <a:endParaRPr lang="en-US" altLang="ko-K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Rectangle 23"/>
          <p:cNvSpPr>
            <a:spLocks noGrp="1" noChangeArrowheads="1"/>
          </p:cNvSpPr>
          <p:nvPr>
            <p:ph type="dt" sz="half" idx="10"/>
          </p:nvPr>
        </p:nvSpPr>
        <p:spPr>
          <a:ln/>
        </p:spPr>
        <p:txBody>
          <a:bodyPr/>
          <a:lstStyle>
            <a:lvl1pPr>
              <a:defRPr/>
            </a:lvl1pPr>
          </a:lstStyle>
          <a:p>
            <a:pPr>
              <a:defRPr/>
            </a:pPr>
            <a:r>
              <a:rPr lang="vi-VN" altLang="ko-KR"/>
              <a:t>Website: http://thuvien.hoasen.edu.vn</a:t>
            </a:r>
            <a:endParaRPr lang="en-US" altLang="ko-KR"/>
          </a:p>
        </p:txBody>
      </p:sp>
      <p:sp>
        <p:nvSpPr>
          <p:cNvPr id="6" name="Rectangle 25"/>
          <p:cNvSpPr>
            <a:spLocks noGrp="1" noChangeArrowheads="1"/>
          </p:cNvSpPr>
          <p:nvPr>
            <p:ph type="sldNum" sz="quarter" idx="11"/>
          </p:nvPr>
        </p:nvSpPr>
        <p:spPr>
          <a:ln/>
        </p:spPr>
        <p:txBody>
          <a:bodyPr/>
          <a:lstStyle>
            <a:lvl1pPr>
              <a:defRPr/>
            </a:lvl1pPr>
          </a:lstStyle>
          <a:p>
            <a:pPr>
              <a:defRPr/>
            </a:pPr>
            <a:fld id="{BBF80B51-F811-40B8-9C80-E0F0665DBF6E}" type="slidenum">
              <a:rPr lang="ko-KR" altLang="en-US"/>
              <a:pPr>
                <a:defRPr/>
              </a:pPr>
              <a:t>‹#›</a:t>
            </a:fld>
            <a:endParaRPr lang="en-US" altLang="ko-K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Rectangle 23"/>
          <p:cNvSpPr>
            <a:spLocks noGrp="1" noChangeArrowheads="1"/>
          </p:cNvSpPr>
          <p:nvPr>
            <p:ph type="dt" sz="half" idx="10"/>
          </p:nvPr>
        </p:nvSpPr>
        <p:spPr>
          <a:ln/>
        </p:spPr>
        <p:txBody>
          <a:bodyPr/>
          <a:lstStyle>
            <a:lvl1pPr>
              <a:defRPr/>
            </a:lvl1pPr>
          </a:lstStyle>
          <a:p>
            <a:pPr>
              <a:defRPr/>
            </a:pPr>
            <a:r>
              <a:rPr lang="vi-VN" altLang="ko-KR"/>
              <a:t>Website: http://thuvien.hoasen.edu.vn</a:t>
            </a:r>
            <a:endParaRPr lang="en-US" altLang="ko-KR"/>
          </a:p>
        </p:txBody>
      </p:sp>
      <p:sp>
        <p:nvSpPr>
          <p:cNvPr id="8" name="Rectangle 25"/>
          <p:cNvSpPr>
            <a:spLocks noGrp="1" noChangeArrowheads="1"/>
          </p:cNvSpPr>
          <p:nvPr>
            <p:ph type="sldNum" sz="quarter" idx="11"/>
          </p:nvPr>
        </p:nvSpPr>
        <p:spPr>
          <a:ln/>
        </p:spPr>
        <p:txBody>
          <a:bodyPr/>
          <a:lstStyle>
            <a:lvl1pPr>
              <a:defRPr/>
            </a:lvl1pPr>
          </a:lstStyle>
          <a:p>
            <a:pPr>
              <a:defRPr/>
            </a:pPr>
            <a:fld id="{AA1C6464-E76B-4094-B157-16FE26EB582B}" type="slidenum">
              <a:rPr lang="ko-KR" altLang="en-US"/>
              <a:pPr>
                <a:defRPr/>
              </a:pPr>
              <a:t>‹#›</a:t>
            </a:fld>
            <a:endParaRPr lang="en-US" altLang="ko-K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Rectangle 23"/>
          <p:cNvSpPr>
            <a:spLocks noGrp="1" noChangeArrowheads="1"/>
          </p:cNvSpPr>
          <p:nvPr>
            <p:ph type="dt" sz="half" idx="10"/>
          </p:nvPr>
        </p:nvSpPr>
        <p:spPr>
          <a:ln/>
        </p:spPr>
        <p:txBody>
          <a:bodyPr/>
          <a:lstStyle>
            <a:lvl1pPr>
              <a:defRPr/>
            </a:lvl1pPr>
          </a:lstStyle>
          <a:p>
            <a:pPr>
              <a:defRPr/>
            </a:pPr>
            <a:r>
              <a:rPr lang="vi-VN" altLang="ko-KR"/>
              <a:t>Website: http://thuvien.hoasen.edu.vn</a:t>
            </a:r>
            <a:endParaRPr lang="en-US" altLang="ko-KR"/>
          </a:p>
        </p:txBody>
      </p:sp>
      <p:sp>
        <p:nvSpPr>
          <p:cNvPr id="4" name="Rectangle 25"/>
          <p:cNvSpPr>
            <a:spLocks noGrp="1" noChangeArrowheads="1"/>
          </p:cNvSpPr>
          <p:nvPr>
            <p:ph type="sldNum" sz="quarter" idx="11"/>
          </p:nvPr>
        </p:nvSpPr>
        <p:spPr>
          <a:ln/>
        </p:spPr>
        <p:txBody>
          <a:bodyPr/>
          <a:lstStyle>
            <a:lvl1pPr>
              <a:defRPr/>
            </a:lvl1pPr>
          </a:lstStyle>
          <a:p>
            <a:pPr>
              <a:defRPr/>
            </a:pPr>
            <a:fld id="{A23040D1-03E3-48E5-88F2-DFCFAE257165}" type="slidenum">
              <a:rPr lang="ko-KR" altLang="en-US"/>
              <a:pPr>
                <a:defRPr/>
              </a:pPr>
              <a:t>‹#›</a:t>
            </a:fld>
            <a:endParaRPr lang="en-US" altLang="ko-K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3"/>
          <p:cNvSpPr>
            <a:spLocks noGrp="1" noChangeArrowheads="1"/>
          </p:cNvSpPr>
          <p:nvPr>
            <p:ph type="dt" sz="half" idx="10"/>
          </p:nvPr>
        </p:nvSpPr>
        <p:spPr/>
        <p:txBody>
          <a:bodyPr/>
          <a:lstStyle>
            <a:lvl1pPr>
              <a:defRPr/>
            </a:lvl1pPr>
          </a:lstStyle>
          <a:p>
            <a:pPr>
              <a:defRPr/>
            </a:pPr>
            <a:r>
              <a:rPr lang="vi-VN" altLang="ko-KR"/>
              <a:t>Website: http://thuvien.hoasen.edu.vn</a:t>
            </a:r>
            <a:endParaRPr lang="en-US" altLang="ko-KR"/>
          </a:p>
        </p:txBody>
      </p:sp>
      <p:sp>
        <p:nvSpPr>
          <p:cNvPr id="3" name="Rectangle 24"/>
          <p:cNvSpPr>
            <a:spLocks noGrp="1" noChangeArrowheads="1"/>
          </p:cNvSpPr>
          <p:nvPr>
            <p:ph type="ftr" sz="quarter" idx="11"/>
          </p:nvPr>
        </p:nvSpPr>
        <p:spPr>
          <a:xfrm>
            <a:off x="4065588" y="6553200"/>
            <a:ext cx="3962400" cy="304800"/>
          </a:xfrm>
          <a:prstGeom prst="rect">
            <a:avLst/>
          </a:prstGeom>
        </p:spPr>
        <p:txBody>
          <a:bodyPr/>
          <a:lstStyle>
            <a:lvl1pPr algn="r" eaLnBrk="0" hangingPunct="0">
              <a:defRPr>
                <a:cs typeface="+mn-cs"/>
              </a:defRPr>
            </a:lvl1pPr>
          </a:lstStyle>
          <a:p>
            <a:pPr>
              <a:defRPr/>
            </a:pPr>
            <a:r>
              <a:rPr lang="en-US" altLang="ko-KR"/>
              <a:t>Website: http://thuvien.hoasen.edu.vn</a:t>
            </a:r>
          </a:p>
        </p:txBody>
      </p:sp>
      <p:sp>
        <p:nvSpPr>
          <p:cNvPr id="4" name="Rectangle 25"/>
          <p:cNvSpPr>
            <a:spLocks noGrp="1" noChangeArrowheads="1"/>
          </p:cNvSpPr>
          <p:nvPr>
            <p:ph type="sldNum" sz="quarter" idx="12"/>
          </p:nvPr>
        </p:nvSpPr>
        <p:spPr/>
        <p:txBody>
          <a:bodyPr/>
          <a:lstStyle>
            <a:lvl1pPr>
              <a:defRPr/>
            </a:lvl1pPr>
          </a:lstStyle>
          <a:p>
            <a:pPr>
              <a:defRPr/>
            </a:pPr>
            <a:fld id="{AD7B088C-B8E4-4A63-BFB3-95A8DA3A8140}" type="slidenum">
              <a:rPr lang="ko-KR" altLang="en-US"/>
              <a:pPr>
                <a:defRPr/>
              </a:pPr>
              <a:t>‹#›</a:t>
            </a:fld>
            <a:endParaRPr lang="en-US" altLang="ko-K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3"/>
          <p:cNvSpPr>
            <a:spLocks noGrp="1" noChangeArrowheads="1"/>
          </p:cNvSpPr>
          <p:nvPr>
            <p:ph type="dt" sz="half" idx="10"/>
          </p:nvPr>
        </p:nvSpPr>
        <p:spPr/>
        <p:txBody>
          <a:bodyPr/>
          <a:lstStyle>
            <a:lvl1pPr>
              <a:defRPr/>
            </a:lvl1pPr>
          </a:lstStyle>
          <a:p>
            <a:pPr>
              <a:defRPr/>
            </a:pPr>
            <a:r>
              <a:rPr lang="vi-VN" altLang="ko-KR"/>
              <a:t>Website: http://thuvien.hoasen.edu.vn</a:t>
            </a:r>
            <a:endParaRPr lang="en-US" altLang="ko-KR"/>
          </a:p>
        </p:txBody>
      </p:sp>
      <p:sp>
        <p:nvSpPr>
          <p:cNvPr id="6" name="Rectangle 24"/>
          <p:cNvSpPr>
            <a:spLocks noGrp="1" noChangeArrowheads="1"/>
          </p:cNvSpPr>
          <p:nvPr>
            <p:ph type="ftr" sz="quarter" idx="11"/>
          </p:nvPr>
        </p:nvSpPr>
        <p:spPr>
          <a:xfrm>
            <a:off x="4065588" y="6553200"/>
            <a:ext cx="3962400" cy="304800"/>
          </a:xfrm>
          <a:prstGeom prst="rect">
            <a:avLst/>
          </a:prstGeom>
        </p:spPr>
        <p:txBody>
          <a:bodyPr/>
          <a:lstStyle>
            <a:lvl1pPr algn="r" eaLnBrk="0" hangingPunct="0">
              <a:defRPr>
                <a:cs typeface="+mn-cs"/>
              </a:defRPr>
            </a:lvl1pPr>
          </a:lstStyle>
          <a:p>
            <a:pPr>
              <a:defRPr/>
            </a:pPr>
            <a:r>
              <a:rPr lang="en-US" altLang="ko-KR"/>
              <a:t>Website: http://thuvien.hoasen.edu.vn</a:t>
            </a:r>
          </a:p>
        </p:txBody>
      </p:sp>
      <p:sp>
        <p:nvSpPr>
          <p:cNvPr id="7" name="Rectangle 25"/>
          <p:cNvSpPr>
            <a:spLocks noGrp="1" noChangeArrowheads="1"/>
          </p:cNvSpPr>
          <p:nvPr>
            <p:ph type="sldNum" sz="quarter" idx="12"/>
          </p:nvPr>
        </p:nvSpPr>
        <p:spPr/>
        <p:txBody>
          <a:bodyPr/>
          <a:lstStyle>
            <a:lvl1pPr>
              <a:defRPr/>
            </a:lvl1pPr>
          </a:lstStyle>
          <a:p>
            <a:pPr>
              <a:defRPr/>
            </a:pPr>
            <a:fld id="{1C0A7403-A999-429F-9437-C9CD6559AA90}" type="slidenum">
              <a:rPr lang="ko-KR" altLang="en-US"/>
              <a:pPr>
                <a:defRPr/>
              </a:pPr>
              <a:t>‹#›</a:t>
            </a:fld>
            <a:endParaRPr lang="en-US" altLang="ko-K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vi-V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3"/>
          <p:cNvSpPr>
            <a:spLocks noGrp="1" noChangeArrowheads="1"/>
          </p:cNvSpPr>
          <p:nvPr>
            <p:ph type="dt" sz="half" idx="10"/>
          </p:nvPr>
        </p:nvSpPr>
        <p:spPr/>
        <p:txBody>
          <a:bodyPr/>
          <a:lstStyle>
            <a:lvl1pPr>
              <a:defRPr/>
            </a:lvl1pPr>
          </a:lstStyle>
          <a:p>
            <a:pPr>
              <a:defRPr/>
            </a:pPr>
            <a:r>
              <a:rPr lang="vi-VN" altLang="ko-KR"/>
              <a:t>Website: http://thuvien.hoasen.edu.vn</a:t>
            </a:r>
            <a:endParaRPr lang="en-US" altLang="ko-KR"/>
          </a:p>
        </p:txBody>
      </p:sp>
      <p:sp>
        <p:nvSpPr>
          <p:cNvPr id="6" name="Rectangle 24"/>
          <p:cNvSpPr>
            <a:spLocks noGrp="1" noChangeArrowheads="1"/>
          </p:cNvSpPr>
          <p:nvPr>
            <p:ph type="ftr" sz="quarter" idx="11"/>
          </p:nvPr>
        </p:nvSpPr>
        <p:spPr>
          <a:xfrm>
            <a:off x="4065588" y="6553200"/>
            <a:ext cx="3962400" cy="304800"/>
          </a:xfrm>
          <a:prstGeom prst="rect">
            <a:avLst/>
          </a:prstGeom>
        </p:spPr>
        <p:txBody>
          <a:bodyPr/>
          <a:lstStyle>
            <a:lvl1pPr algn="r" eaLnBrk="0" hangingPunct="0">
              <a:defRPr>
                <a:cs typeface="+mn-cs"/>
              </a:defRPr>
            </a:lvl1pPr>
          </a:lstStyle>
          <a:p>
            <a:pPr>
              <a:defRPr/>
            </a:pPr>
            <a:r>
              <a:rPr lang="en-US" altLang="ko-KR"/>
              <a:t>Website: http://thuvien.hoasen.edu.vn</a:t>
            </a:r>
          </a:p>
        </p:txBody>
      </p:sp>
      <p:sp>
        <p:nvSpPr>
          <p:cNvPr id="7" name="Rectangle 25"/>
          <p:cNvSpPr>
            <a:spLocks noGrp="1" noChangeArrowheads="1"/>
          </p:cNvSpPr>
          <p:nvPr>
            <p:ph type="sldNum" sz="quarter" idx="12"/>
          </p:nvPr>
        </p:nvSpPr>
        <p:spPr/>
        <p:txBody>
          <a:bodyPr/>
          <a:lstStyle>
            <a:lvl1pPr>
              <a:defRPr/>
            </a:lvl1pPr>
          </a:lstStyle>
          <a:p>
            <a:pPr>
              <a:defRPr/>
            </a:pPr>
            <a:fld id="{B60DF6B5-4A44-40E8-9DEC-C764B8F00F95}" type="slidenum">
              <a:rPr lang="ko-KR" altLang="en-US"/>
              <a:pPr>
                <a:defRPr/>
              </a:pPr>
              <a:t>‹#›</a:t>
            </a:fld>
            <a:endParaRPr lang="en-US" altLang="ko-K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Rectangle 23"/>
          <p:cNvSpPr>
            <a:spLocks noGrp="1" noChangeArrowheads="1"/>
          </p:cNvSpPr>
          <p:nvPr>
            <p:ph type="dt" sz="half" idx="10"/>
          </p:nvPr>
        </p:nvSpPr>
        <p:spPr/>
        <p:txBody>
          <a:bodyPr/>
          <a:lstStyle>
            <a:lvl1pPr>
              <a:defRPr/>
            </a:lvl1pPr>
          </a:lstStyle>
          <a:p>
            <a:pPr>
              <a:defRPr/>
            </a:pPr>
            <a:r>
              <a:rPr lang="vi-VN" altLang="ko-KR"/>
              <a:t>Website: http://thuvien.hoasen.edu.vn</a:t>
            </a:r>
            <a:endParaRPr lang="en-US" altLang="ko-KR"/>
          </a:p>
        </p:txBody>
      </p:sp>
      <p:sp>
        <p:nvSpPr>
          <p:cNvPr id="5" name="Rectangle 24"/>
          <p:cNvSpPr>
            <a:spLocks noGrp="1" noChangeArrowheads="1"/>
          </p:cNvSpPr>
          <p:nvPr>
            <p:ph type="ftr" sz="quarter" idx="11"/>
          </p:nvPr>
        </p:nvSpPr>
        <p:spPr>
          <a:xfrm>
            <a:off x="4065588" y="6553200"/>
            <a:ext cx="3962400" cy="304800"/>
          </a:xfrm>
          <a:prstGeom prst="rect">
            <a:avLst/>
          </a:prstGeom>
        </p:spPr>
        <p:txBody>
          <a:bodyPr/>
          <a:lstStyle>
            <a:lvl1pPr algn="r" eaLnBrk="0" hangingPunct="0">
              <a:defRPr>
                <a:cs typeface="+mn-cs"/>
              </a:defRPr>
            </a:lvl1pPr>
          </a:lstStyle>
          <a:p>
            <a:pPr>
              <a:defRPr/>
            </a:pPr>
            <a:r>
              <a:rPr lang="en-US" altLang="ko-KR"/>
              <a:t>Website: http://thuvien.hoasen.edu.vn</a:t>
            </a:r>
          </a:p>
        </p:txBody>
      </p:sp>
      <p:sp>
        <p:nvSpPr>
          <p:cNvPr id="6" name="Rectangle 25"/>
          <p:cNvSpPr>
            <a:spLocks noGrp="1" noChangeArrowheads="1"/>
          </p:cNvSpPr>
          <p:nvPr>
            <p:ph type="sldNum" sz="quarter" idx="12"/>
          </p:nvPr>
        </p:nvSpPr>
        <p:spPr/>
        <p:txBody>
          <a:bodyPr/>
          <a:lstStyle>
            <a:lvl1pPr>
              <a:defRPr/>
            </a:lvl1pPr>
          </a:lstStyle>
          <a:p>
            <a:pPr>
              <a:defRPr/>
            </a:pPr>
            <a:fld id="{C90FA15E-D682-43BA-9AEE-AF00FFAFC355}" type="slidenum">
              <a:rPr lang="ko-KR" altLang="en-US"/>
              <a:pPr>
                <a:defRPr/>
              </a:pPr>
              <a:t>‹#›</a:t>
            </a:fld>
            <a:endParaRPr lang="en-US" altLang="ko-K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152400"/>
            <a:ext cx="2095500" cy="6172200"/>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304800" y="152400"/>
            <a:ext cx="613410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Rectangle 23"/>
          <p:cNvSpPr>
            <a:spLocks noGrp="1" noChangeArrowheads="1"/>
          </p:cNvSpPr>
          <p:nvPr>
            <p:ph type="dt" sz="half" idx="10"/>
          </p:nvPr>
        </p:nvSpPr>
        <p:spPr/>
        <p:txBody>
          <a:bodyPr/>
          <a:lstStyle>
            <a:lvl1pPr>
              <a:defRPr/>
            </a:lvl1pPr>
          </a:lstStyle>
          <a:p>
            <a:pPr>
              <a:defRPr/>
            </a:pPr>
            <a:r>
              <a:rPr lang="vi-VN" altLang="ko-KR"/>
              <a:t>Website: http://thuvien.hoasen.edu.vn</a:t>
            </a:r>
            <a:endParaRPr lang="en-US" altLang="ko-KR"/>
          </a:p>
        </p:txBody>
      </p:sp>
      <p:sp>
        <p:nvSpPr>
          <p:cNvPr id="5" name="Rectangle 24"/>
          <p:cNvSpPr>
            <a:spLocks noGrp="1" noChangeArrowheads="1"/>
          </p:cNvSpPr>
          <p:nvPr>
            <p:ph type="ftr" sz="quarter" idx="11"/>
          </p:nvPr>
        </p:nvSpPr>
        <p:spPr>
          <a:xfrm>
            <a:off x="4065588" y="6553200"/>
            <a:ext cx="3962400" cy="304800"/>
          </a:xfrm>
          <a:prstGeom prst="rect">
            <a:avLst/>
          </a:prstGeom>
        </p:spPr>
        <p:txBody>
          <a:bodyPr/>
          <a:lstStyle>
            <a:lvl1pPr algn="r" eaLnBrk="0" hangingPunct="0">
              <a:defRPr>
                <a:cs typeface="+mn-cs"/>
              </a:defRPr>
            </a:lvl1pPr>
          </a:lstStyle>
          <a:p>
            <a:pPr>
              <a:defRPr/>
            </a:pPr>
            <a:r>
              <a:rPr lang="en-US" altLang="ko-KR"/>
              <a:t>Website: http://thuvien.hoasen.edu.vn</a:t>
            </a:r>
          </a:p>
        </p:txBody>
      </p:sp>
      <p:sp>
        <p:nvSpPr>
          <p:cNvPr id="6" name="Rectangle 25"/>
          <p:cNvSpPr>
            <a:spLocks noGrp="1" noChangeArrowheads="1"/>
          </p:cNvSpPr>
          <p:nvPr>
            <p:ph type="sldNum" sz="quarter" idx="12"/>
          </p:nvPr>
        </p:nvSpPr>
        <p:spPr/>
        <p:txBody>
          <a:bodyPr/>
          <a:lstStyle>
            <a:lvl1pPr>
              <a:defRPr/>
            </a:lvl1pPr>
          </a:lstStyle>
          <a:p>
            <a:pPr>
              <a:defRPr/>
            </a:pPr>
            <a:fld id="{7C2BA795-44D8-447A-90F2-1C309890A9EE}" type="slidenum">
              <a:rPr lang="ko-KR" altLang="en-US"/>
              <a:pPr>
                <a:defRPr/>
              </a:pPr>
              <a:t>‹#›</a:t>
            </a:fld>
            <a:endParaRPr lang="en-US" altLang="ko-K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23" name="Rectangle 35"/>
          <p:cNvSpPr>
            <a:spLocks noChangeArrowheads="1"/>
          </p:cNvSpPr>
          <p:nvPr/>
        </p:nvSpPr>
        <p:spPr bwMode="auto">
          <a:xfrm>
            <a:off x="12700" y="1588"/>
            <a:ext cx="9131300" cy="836612"/>
          </a:xfrm>
          <a:prstGeom prst="rect">
            <a:avLst/>
          </a:prstGeom>
          <a:solidFill>
            <a:schemeClr val="accent2">
              <a:lumMod val="50000"/>
            </a:schemeClr>
          </a:solidFill>
          <a:ln w="9525">
            <a:noFill/>
            <a:miter lim="800000"/>
            <a:headEnd/>
            <a:tailEnd/>
          </a:ln>
          <a:effectLst/>
        </p:spPr>
        <p:txBody>
          <a:bodyPr wrap="none" anchor="ctr"/>
          <a:lstStyle/>
          <a:p>
            <a:pPr algn="r" eaLnBrk="0" hangingPunct="0">
              <a:defRPr/>
            </a:pPr>
            <a:endParaRPr lang="vi-VN">
              <a:cs typeface="+mn-cs"/>
            </a:endParaRPr>
          </a:p>
        </p:txBody>
      </p:sp>
      <p:sp>
        <p:nvSpPr>
          <p:cNvPr id="1027" name="Rectangle 21"/>
          <p:cNvSpPr>
            <a:spLocks noGrp="1" noChangeArrowheads="1"/>
          </p:cNvSpPr>
          <p:nvPr>
            <p:ph type="title"/>
          </p:nvPr>
        </p:nvSpPr>
        <p:spPr bwMode="white">
          <a:xfrm>
            <a:off x="304800" y="152400"/>
            <a:ext cx="7848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ko-KR" smtClean="0"/>
              <a:t>Click to edit Master title style</a:t>
            </a:r>
          </a:p>
        </p:txBody>
      </p:sp>
      <p:sp>
        <p:nvSpPr>
          <p:cNvPr id="1028" name="Rectangle 22"/>
          <p:cNvSpPr>
            <a:spLocks noGrp="1" noChangeArrowheads="1"/>
          </p:cNvSpPr>
          <p:nvPr>
            <p:ph type="body" idx="1"/>
          </p:nvPr>
        </p:nvSpPr>
        <p:spPr bwMode="auto">
          <a:xfrm>
            <a:off x="471488" y="1158875"/>
            <a:ext cx="8229600" cy="49736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2311" name="Rectangle 23"/>
          <p:cNvSpPr>
            <a:spLocks noGrp="1" noChangeArrowheads="1"/>
          </p:cNvSpPr>
          <p:nvPr>
            <p:ph type="dt" sz="half" idx="2"/>
          </p:nvPr>
        </p:nvSpPr>
        <p:spPr bwMode="auto">
          <a:xfrm>
            <a:off x="2657475" y="6553200"/>
            <a:ext cx="33655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chemeClr val="hlink"/>
                </a:solidFill>
                <a:latin typeface="+mn-lt"/>
                <a:ea typeface="굴림" charset="-127"/>
                <a:cs typeface="+mn-cs"/>
              </a:defRPr>
            </a:lvl1pPr>
          </a:lstStyle>
          <a:p>
            <a:pPr>
              <a:defRPr/>
            </a:pPr>
            <a:r>
              <a:rPr lang="vi-VN" altLang="ko-KR"/>
              <a:t>Website: http://thuvien.hoasen.edu.vn</a:t>
            </a:r>
            <a:endParaRPr lang="en-US" altLang="ko-KR"/>
          </a:p>
        </p:txBody>
      </p:sp>
      <p:sp>
        <p:nvSpPr>
          <p:cNvPr id="12313" name="Rectangle 25"/>
          <p:cNvSpPr>
            <a:spLocks noGrp="1" noChangeArrowheads="1"/>
          </p:cNvSpPr>
          <p:nvPr>
            <p:ph type="sldNum" sz="quarter" idx="4"/>
          </p:nvPr>
        </p:nvSpPr>
        <p:spPr bwMode="auto">
          <a:xfrm>
            <a:off x="6672263" y="65532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hlink"/>
                </a:solidFill>
                <a:effectLst>
                  <a:outerShdw blurRad="38100" dist="38100" dir="2700000" algn="tl">
                    <a:srgbClr val="C0C0C0"/>
                  </a:outerShdw>
                </a:effectLst>
                <a:latin typeface="+mn-lt"/>
                <a:ea typeface="굴림" charset="-127"/>
                <a:cs typeface="+mn-cs"/>
              </a:defRPr>
            </a:lvl1pPr>
          </a:lstStyle>
          <a:p>
            <a:pPr>
              <a:defRPr/>
            </a:pPr>
            <a:fld id="{39108CC3-92C8-4C4F-9084-2124250C55E3}" type="slidenum">
              <a:rPr lang="ko-KR" altLang="en-US"/>
              <a:pPr>
                <a:defRPr/>
              </a:pPr>
              <a:t>‹#›</a:t>
            </a:fld>
            <a:endParaRPr lang="en-US" altLang="ko-KR"/>
          </a:p>
        </p:txBody>
      </p:sp>
      <p:sp>
        <p:nvSpPr>
          <p:cNvPr id="12324" name="Rectangle 36"/>
          <p:cNvSpPr>
            <a:spLocks noChangeArrowheads="1"/>
          </p:cNvSpPr>
          <p:nvPr/>
        </p:nvSpPr>
        <p:spPr bwMode="auto">
          <a:xfrm>
            <a:off x="8861425" y="2544763"/>
            <a:ext cx="282575" cy="4313237"/>
          </a:xfrm>
          <a:prstGeom prst="rect">
            <a:avLst/>
          </a:prstGeom>
          <a:solidFill>
            <a:schemeClr val="tx2"/>
          </a:solidFill>
          <a:ln w="9525">
            <a:noFill/>
            <a:miter lim="800000"/>
            <a:headEnd/>
            <a:tailEnd/>
          </a:ln>
          <a:effectLst/>
        </p:spPr>
        <p:txBody>
          <a:bodyPr wrap="none" anchor="ctr"/>
          <a:lstStyle/>
          <a:p>
            <a:pPr algn="r" eaLnBrk="0" hangingPunct="0">
              <a:defRPr/>
            </a:pPr>
            <a:endParaRPr lang="vi-VN">
              <a:cs typeface="+mn-cs"/>
            </a:endParaRPr>
          </a:p>
        </p:txBody>
      </p:sp>
      <p:sp>
        <p:nvSpPr>
          <p:cNvPr id="12325" name="Rectangle 37"/>
          <p:cNvSpPr>
            <a:spLocks noChangeArrowheads="1"/>
          </p:cNvSpPr>
          <p:nvPr/>
        </p:nvSpPr>
        <p:spPr bwMode="auto">
          <a:xfrm>
            <a:off x="8861425" y="1588"/>
            <a:ext cx="282575" cy="858837"/>
          </a:xfrm>
          <a:prstGeom prst="rect">
            <a:avLst/>
          </a:prstGeom>
          <a:solidFill>
            <a:srgbClr val="FF0000"/>
          </a:solidFill>
          <a:ln w="9525">
            <a:noFill/>
            <a:miter lim="800000"/>
            <a:headEnd/>
            <a:tailEnd/>
          </a:ln>
          <a:effectLst/>
        </p:spPr>
        <p:txBody>
          <a:bodyPr wrap="none" anchor="ctr"/>
          <a:lstStyle/>
          <a:p>
            <a:pPr algn="r" eaLnBrk="0" hangingPunct="0">
              <a:defRPr/>
            </a:pPr>
            <a:endParaRPr lang="vi-VN">
              <a:solidFill>
                <a:srgbClr val="FF0000"/>
              </a:solidFill>
              <a:cs typeface="+mn-cs"/>
            </a:endParaRPr>
          </a:p>
        </p:txBody>
      </p:sp>
      <p:sp>
        <p:nvSpPr>
          <p:cNvPr id="12326" name="Rectangle 38"/>
          <p:cNvSpPr>
            <a:spLocks noChangeArrowheads="1"/>
          </p:cNvSpPr>
          <p:nvPr/>
        </p:nvSpPr>
        <p:spPr bwMode="auto">
          <a:xfrm>
            <a:off x="8861425" y="838200"/>
            <a:ext cx="282575" cy="1751013"/>
          </a:xfrm>
          <a:prstGeom prst="rect">
            <a:avLst/>
          </a:prstGeom>
          <a:solidFill>
            <a:schemeClr val="bg2"/>
          </a:solidFill>
          <a:ln w="9525">
            <a:noFill/>
            <a:miter lim="800000"/>
            <a:headEnd/>
            <a:tailEnd/>
          </a:ln>
          <a:effectLst/>
        </p:spPr>
        <p:txBody>
          <a:bodyPr wrap="none" anchor="ctr"/>
          <a:lstStyle/>
          <a:p>
            <a:pPr algn="r" eaLnBrk="0" hangingPunct="0">
              <a:defRPr/>
            </a:pPr>
            <a:endParaRPr lang="vi-VN">
              <a:cs typeface="+mn-cs"/>
            </a:endParaRPr>
          </a:p>
        </p:txBody>
      </p:sp>
      <p:sp>
        <p:nvSpPr>
          <p:cNvPr id="13" name="Rectangle 37"/>
          <p:cNvSpPr>
            <a:spLocks noChangeArrowheads="1"/>
          </p:cNvSpPr>
          <p:nvPr/>
        </p:nvSpPr>
        <p:spPr bwMode="auto">
          <a:xfrm>
            <a:off x="0" y="6169025"/>
            <a:ext cx="258763" cy="688975"/>
          </a:xfrm>
          <a:prstGeom prst="rect">
            <a:avLst/>
          </a:prstGeom>
          <a:solidFill>
            <a:srgbClr val="FFCC00"/>
          </a:solidFill>
          <a:ln w="9525">
            <a:noFill/>
            <a:miter lim="800000"/>
            <a:headEnd/>
            <a:tailEnd/>
          </a:ln>
          <a:effectLst/>
        </p:spPr>
        <p:txBody>
          <a:bodyPr wrap="none" anchor="ctr"/>
          <a:lstStyle/>
          <a:p>
            <a:pPr algn="r" eaLnBrk="0" hangingPunct="0">
              <a:defRPr/>
            </a:pPr>
            <a:endParaRPr lang="vi-VN">
              <a:solidFill>
                <a:srgbClr val="FF0000"/>
              </a:solidFill>
              <a:cs typeface="+mn-cs"/>
            </a:endParaRPr>
          </a:p>
        </p:txBody>
      </p:sp>
      <p:pic>
        <p:nvPicPr>
          <p:cNvPr id="1035" name="Picture 13" descr="logoChuan_vie_blue.png"/>
          <p:cNvPicPr>
            <a:picLocks noChangeAspect="1"/>
          </p:cNvPicPr>
          <p:nvPr/>
        </p:nvPicPr>
        <p:blipFill>
          <a:blip r:embed="rId13" cstate="print"/>
          <a:srcRect/>
          <a:stretch>
            <a:fillRect/>
          </a:stretch>
        </p:blipFill>
        <p:spPr bwMode="auto">
          <a:xfrm>
            <a:off x="441325" y="6143625"/>
            <a:ext cx="1851025" cy="714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19" r:id="rId1"/>
    <p:sldLayoutId id="2147483820" r:id="rId2"/>
    <p:sldLayoutId id="2147483815" r:id="rId3"/>
    <p:sldLayoutId id="2147483816" r:id="rId4"/>
    <p:sldLayoutId id="2147483817" r:id="rId5"/>
    <p:sldLayoutId id="2147483818" r:id="rId6"/>
    <p:sldLayoutId id="2147483821" r:id="rId7"/>
    <p:sldLayoutId id="2147483822" r:id="rId8"/>
    <p:sldLayoutId id="2147483823" r:id="rId9"/>
    <p:sldLayoutId id="2147483824" r:id="rId10"/>
    <p:sldLayoutId id="2147483825" r:id="rId11"/>
  </p:sldLayoutIdLst>
  <p:transition/>
  <p:timing>
    <p:tnLst>
      <p:par>
        <p:cTn id="1" dur="indefinite" restart="never" nodeType="tmRoot"/>
      </p:par>
    </p:tnLst>
  </p:timing>
  <p:hf hdr="0" dt="0"/>
  <p:txStyles>
    <p:titleStyle>
      <a:lvl1pPr algn="l" rtl="0" eaLnBrk="1" fontAlgn="base" hangingPunct="1">
        <a:spcBef>
          <a:spcPct val="0"/>
        </a:spcBef>
        <a:spcAft>
          <a:spcPct val="0"/>
        </a:spcAft>
        <a:defRPr sz="3200" b="1">
          <a:solidFill>
            <a:schemeClr val="bg1"/>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bg1"/>
          </a:solidFill>
          <a:latin typeface="Arial" charset="0"/>
          <a:cs typeface="Arial" charset="0"/>
        </a:defRPr>
      </a:lvl2pPr>
      <a:lvl3pPr algn="l" rtl="0" eaLnBrk="1" fontAlgn="base" hangingPunct="1">
        <a:spcBef>
          <a:spcPct val="0"/>
        </a:spcBef>
        <a:spcAft>
          <a:spcPct val="0"/>
        </a:spcAft>
        <a:defRPr sz="3200" b="1">
          <a:solidFill>
            <a:schemeClr val="bg1"/>
          </a:solidFill>
          <a:latin typeface="Arial" charset="0"/>
          <a:cs typeface="Arial" charset="0"/>
        </a:defRPr>
      </a:lvl3pPr>
      <a:lvl4pPr algn="l" rtl="0" eaLnBrk="1" fontAlgn="base" hangingPunct="1">
        <a:spcBef>
          <a:spcPct val="0"/>
        </a:spcBef>
        <a:spcAft>
          <a:spcPct val="0"/>
        </a:spcAft>
        <a:defRPr sz="3200" b="1">
          <a:solidFill>
            <a:schemeClr val="bg1"/>
          </a:solidFill>
          <a:latin typeface="Arial" charset="0"/>
          <a:cs typeface="Arial" charset="0"/>
        </a:defRPr>
      </a:lvl4pPr>
      <a:lvl5pPr algn="l" rtl="0" eaLnBrk="1" fontAlgn="base" hangingPunct="1">
        <a:spcBef>
          <a:spcPct val="0"/>
        </a:spcBef>
        <a:spcAft>
          <a:spcPct val="0"/>
        </a:spcAft>
        <a:defRPr sz="3200" b="1">
          <a:solidFill>
            <a:schemeClr val="bg1"/>
          </a:solidFill>
          <a:latin typeface="Arial" charset="0"/>
          <a:cs typeface="Arial" charset="0"/>
        </a:defRPr>
      </a:lvl5pPr>
      <a:lvl6pPr marL="457200" algn="l" rtl="0" eaLnBrk="1" fontAlgn="base" hangingPunct="1">
        <a:spcBef>
          <a:spcPct val="0"/>
        </a:spcBef>
        <a:spcAft>
          <a:spcPct val="0"/>
        </a:spcAft>
        <a:defRPr sz="3200" b="1">
          <a:solidFill>
            <a:schemeClr val="hlink"/>
          </a:solidFill>
          <a:latin typeface="Verdana" pitchFamily="34" charset="0"/>
        </a:defRPr>
      </a:lvl6pPr>
      <a:lvl7pPr marL="914400" algn="l" rtl="0" eaLnBrk="1" fontAlgn="base" hangingPunct="1">
        <a:spcBef>
          <a:spcPct val="0"/>
        </a:spcBef>
        <a:spcAft>
          <a:spcPct val="0"/>
        </a:spcAft>
        <a:defRPr sz="3200" b="1">
          <a:solidFill>
            <a:schemeClr val="hlink"/>
          </a:solidFill>
          <a:latin typeface="Verdana" pitchFamily="34" charset="0"/>
        </a:defRPr>
      </a:lvl7pPr>
      <a:lvl8pPr marL="1371600" algn="l" rtl="0" eaLnBrk="1" fontAlgn="base" hangingPunct="1">
        <a:spcBef>
          <a:spcPct val="0"/>
        </a:spcBef>
        <a:spcAft>
          <a:spcPct val="0"/>
        </a:spcAft>
        <a:defRPr sz="3200" b="1">
          <a:solidFill>
            <a:schemeClr val="hlink"/>
          </a:solidFill>
          <a:latin typeface="Verdana" pitchFamily="34" charset="0"/>
        </a:defRPr>
      </a:lvl8pPr>
      <a:lvl9pPr marL="1828800" algn="l" rtl="0" eaLnBrk="1" fontAlgn="base" hangingPunct="1">
        <a:spcBef>
          <a:spcPct val="0"/>
        </a:spcBef>
        <a:spcAft>
          <a:spcPct val="0"/>
        </a:spcAft>
        <a:defRPr sz="3200" b="1">
          <a:solidFill>
            <a:schemeClr val="hlink"/>
          </a:solidFill>
          <a:latin typeface="Verdana" pitchFamily="34" charset="0"/>
        </a:defRPr>
      </a:lvl9pPr>
    </p:titleStyle>
    <p:bodyStyle>
      <a:lvl1pPr marL="342900" indent="-342900" algn="l" rtl="0" eaLnBrk="1" fontAlgn="base" hangingPunct="1">
        <a:spcBef>
          <a:spcPct val="20000"/>
        </a:spcBef>
        <a:spcAft>
          <a:spcPct val="0"/>
        </a:spcAft>
        <a:buClr>
          <a:schemeClr val="tx1"/>
        </a:buClr>
        <a:buFont typeface="Wingdings" pitchFamily="2" charset="2"/>
        <a:buChar char="v"/>
        <a:defRPr sz="2800" b="1">
          <a:solidFill>
            <a:schemeClr val="accent1"/>
          </a:solidFill>
          <a:latin typeface="Arial" pitchFamily="34" charset="0"/>
          <a:ea typeface="+mn-ea"/>
          <a:cs typeface="Arial" pitchFamily="34" charset="0"/>
        </a:defRPr>
      </a:lvl1pPr>
      <a:lvl2pPr marL="742950" indent="-285750" algn="l" rtl="0" eaLnBrk="1" fontAlgn="base" hangingPunct="1">
        <a:spcBef>
          <a:spcPct val="20000"/>
        </a:spcBef>
        <a:spcAft>
          <a:spcPct val="0"/>
        </a:spcAft>
        <a:buClr>
          <a:schemeClr val="tx2"/>
        </a:buClr>
        <a:buSzPct val="60000"/>
        <a:buFont typeface="Wingdings" pitchFamily="2" charset="2"/>
        <a:buChar char="n"/>
        <a:defRPr sz="2400">
          <a:solidFill>
            <a:schemeClr val="hlink"/>
          </a:solidFill>
          <a:latin typeface="Arial" pitchFamily="34" charset="0"/>
          <a:cs typeface="Arial" pitchFamily="34" charset="0"/>
        </a:defRPr>
      </a:lvl2pPr>
      <a:lvl3pPr marL="1143000" indent="-228600" algn="l" rtl="0" eaLnBrk="1" fontAlgn="base" hangingPunct="1">
        <a:spcBef>
          <a:spcPct val="20000"/>
        </a:spcBef>
        <a:spcAft>
          <a:spcPct val="0"/>
        </a:spcAft>
        <a:buClr>
          <a:schemeClr val="folHlink"/>
        </a:buClr>
        <a:buSzPct val="60000"/>
        <a:buFont typeface="Wingdings" pitchFamily="2" charset="2"/>
        <a:buChar char="n"/>
        <a:defRPr sz="2400">
          <a:solidFill>
            <a:schemeClr val="hlink"/>
          </a:solidFill>
          <a:latin typeface="Arial" pitchFamily="34" charset="0"/>
          <a:cs typeface="Arial" pitchFamily="34" charset="0"/>
        </a:defRPr>
      </a:lvl3pPr>
      <a:lvl4pPr marL="1600200" indent="-228600" algn="l" rtl="0" eaLnBrk="1" fontAlgn="base" hangingPunct="1">
        <a:spcBef>
          <a:spcPct val="20000"/>
        </a:spcBef>
        <a:spcAft>
          <a:spcPct val="0"/>
        </a:spcAft>
        <a:buClr>
          <a:schemeClr val="tx1"/>
        </a:buClr>
        <a:buSzPct val="60000"/>
        <a:buFont typeface="Wingdings" pitchFamily="2" charset="2"/>
        <a:buChar char="n"/>
        <a:defRPr sz="2000">
          <a:solidFill>
            <a:schemeClr val="hlink"/>
          </a:solidFill>
          <a:latin typeface="Arial" pitchFamily="34" charset="0"/>
          <a:cs typeface="Arial" pitchFamily="34" charset="0"/>
        </a:defRPr>
      </a:lvl4pPr>
      <a:lvl5pPr marL="2057400" indent="-228600" algn="l" rtl="0" eaLnBrk="1" fontAlgn="base" hangingPunct="1">
        <a:spcBef>
          <a:spcPct val="20000"/>
        </a:spcBef>
        <a:spcAft>
          <a:spcPct val="0"/>
        </a:spcAft>
        <a:buClr>
          <a:schemeClr val="hlink"/>
        </a:buClr>
        <a:buSzPct val="60000"/>
        <a:buFont typeface="Wingdings" pitchFamily="2" charset="2"/>
        <a:buChar char="n"/>
        <a:defRPr sz="2000">
          <a:solidFill>
            <a:schemeClr val="hlink"/>
          </a:solidFill>
          <a:latin typeface="Arial" pitchFamily="34" charset="0"/>
          <a:cs typeface="Arial" pitchFamily="34" charset="0"/>
        </a:defRPr>
      </a:lvl5pPr>
      <a:lvl6pPr marL="2514600" indent="-228600" algn="l" rtl="0" eaLnBrk="1" fontAlgn="base" hangingPunct="1">
        <a:spcBef>
          <a:spcPct val="20000"/>
        </a:spcBef>
        <a:spcAft>
          <a:spcPct val="0"/>
        </a:spcAft>
        <a:buClr>
          <a:schemeClr val="hlink"/>
        </a:buClr>
        <a:buSzPct val="60000"/>
        <a:buFont typeface="Wingdings" pitchFamily="2" charset="2"/>
        <a:buChar char="n"/>
        <a:defRPr sz="2000">
          <a:solidFill>
            <a:schemeClr val="hlink"/>
          </a:solidFill>
          <a:latin typeface="+mn-lt"/>
        </a:defRPr>
      </a:lvl6pPr>
      <a:lvl7pPr marL="2971800" indent="-228600" algn="l" rtl="0" eaLnBrk="1" fontAlgn="base" hangingPunct="1">
        <a:spcBef>
          <a:spcPct val="20000"/>
        </a:spcBef>
        <a:spcAft>
          <a:spcPct val="0"/>
        </a:spcAft>
        <a:buClr>
          <a:schemeClr val="hlink"/>
        </a:buClr>
        <a:buSzPct val="60000"/>
        <a:buFont typeface="Wingdings" pitchFamily="2" charset="2"/>
        <a:buChar char="n"/>
        <a:defRPr sz="2000">
          <a:solidFill>
            <a:schemeClr val="hlink"/>
          </a:solidFill>
          <a:latin typeface="+mn-lt"/>
        </a:defRPr>
      </a:lvl7pPr>
      <a:lvl8pPr marL="3429000" indent="-228600" algn="l" rtl="0" eaLnBrk="1" fontAlgn="base" hangingPunct="1">
        <a:spcBef>
          <a:spcPct val="20000"/>
        </a:spcBef>
        <a:spcAft>
          <a:spcPct val="0"/>
        </a:spcAft>
        <a:buClr>
          <a:schemeClr val="hlink"/>
        </a:buClr>
        <a:buSzPct val="60000"/>
        <a:buFont typeface="Wingdings" pitchFamily="2" charset="2"/>
        <a:buChar char="n"/>
        <a:defRPr sz="2000">
          <a:solidFill>
            <a:schemeClr val="hlink"/>
          </a:solidFill>
          <a:latin typeface="+mn-lt"/>
        </a:defRPr>
      </a:lvl8pPr>
      <a:lvl9pPr marL="3886200" indent="-228600" algn="l" rtl="0" eaLnBrk="1" fontAlgn="base" hangingPunct="1">
        <a:spcBef>
          <a:spcPct val="20000"/>
        </a:spcBef>
        <a:spcAft>
          <a:spcPct val="0"/>
        </a:spcAft>
        <a:buClr>
          <a:schemeClr val="hlink"/>
        </a:buClr>
        <a:buSzPct val="60000"/>
        <a:buFont typeface="Wingdings" pitchFamily="2" charset="2"/>
        <a:buChar char="n"/>
        <a:defRPr sz="2000">
          <a:solidFill>
            <a:schemeClr val="hlink"/>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mla.org/" TargetMode="External"/><Relationship Id="rId2" Type="http://schemas.openxmlformats.org/officeDocument/2006/relationships/hyperlink" Target="http://www.apa.org/" TargetMode="External"/><Relationship Id="rId1" Type="http://schemas.openxmlformats.org/officeDocument/2006/relationships/slideLayout" Target="../slideLayouts/slideLayout2.xml"/><Relationship Id="rId4" Type="http://schemas.openxmlformats.org/officeDocument/2006/relationships/hyperlink" Target="http://www.library.uq.edu.au/training/citation/harvard_6.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thuvien.hoasen.edu.v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058236" y="2647824"/>
            <a:ext cx="6085764" cy="1354137"/>
          </a:xfrm>
        </p:spPr>
        <p:txBody>
          <a:bodyPr/>
          <a:lstStyle/>
          <a:p>
            <a:r>
              <a:rPr lang="en-US" smtClean="0"/>
              <a:t>PHÒNG CHỐNG ĐẠO VĂN </a:t>
            </a:r>
            <a:br>
              <a:rPr lang="en-US" smtClean="0"/>
            </a:br>
            <a:r>
              <a:rPr lang="en-US" smtClean="0"/>
              <a:t>&amp; lập danh mục tham khảo</a:t>
            </a:r>
            <a:endParaRPr lang="vi-VN"/>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Thế</a:t>
            </a:r>
            <a:r>
              <a:rPr lang="en-US" smtClean="0"/>
              <a:t> </a:t>
            </a:r>
            <a:r>
              <a:rPr lang="en-US" err="1" smtClean="0"/>
              <a:t>nào</a:t>
            </a:r>
            <a:r>
              <a:rPr lang="en-US" smtClean="0"/>
              <a:t> </a:t>
            </a:r>
            <a:r>
              <a:rPr lang="en-US" err="1" smtClean="0"/>
              <a:t>là</a:t>
            </a:r>
            <a:r>
              <a:rPr lang="en-US" smtClean="0"/>
              <a:t> </a:t>
            </a:r>
            <a:r>
              <a:rPr lang="en-US" err="1" smtClean="0"/>
              <a:t>đạo</a:t>
            </a:r>
            <a:r>
              <a:rPr lang="en-US" smtClean="0"/>
              <a:t> </a:t>
            </a:r>
            <a:r>
              <a:rPr lang="en-US" err="1" smtClean="0"/>
              <a:t>văn</a:t>
            </a:r>
            <a:r>
              <a:rPr lang="en-US" smtClean="0"/>
              <a:t>? </a:t>
            </a:r>
            <a:endParaRPr lang="vi-VN"/>
          </a:p>
        </p:txBody>
      </p:sp>
      <p:sp>
        <p:nvSpPr>
          <p:cNvPr id="3" name="Content Placeholder 2"/>
          <p:cNvSpPr>
            <a:spLocks noGrp="1"/>
          </p:cNvSpPr>
          <p:nvPr>
            <p:ph idx="1"/>
          </p:nvPr>
        </p:nvSpPr>
        <p:spPr>
          <a:xfrm>
            <a:off x="369243" y="1032330"/>
            <a:ext cx="8359254" cy="5173398"/>
          </a:xfrm>
        </p:spPr>
        <p:txBody>
          <a:bodyPr/>
          <a:lstStyle/>
          <a:p>
            <a:r>
              <a:rPr lang="en-US" b="0" smtClean="0"/>
              <a:t>Mạo nhận ý tưởng hay lời văn của người khác là của mình</a:t>
            </a:r>
          </a:p>
          <a:p>
            <a:r>
              <a:rPr lang="en-US" b="0" smtClean="0"/>
              <a:t>Sử dụng tác phẩm của người khác mà không ghi nhận nguồn gốc, xuất xứ của tác phẩm đó</a:t>
            </a:r>
          </a:p>
          <a:p>
            <a:r>
              <a:rPr lang="en-US" b="0" smtClean="0"/>
              <a:t>Giới thiệu một sáng kiến/tác phẩm mới nhưng thực tế là lấy từ một nguồn có sẵn</a:t>
            </a:r>
          </a:p>
          <a:p>
            <a:r>
              <a:rPr lang="vi-VN" b="0" smtClean="0"/>
              <a:t>Tóm lại, đạo văn là hành vi gian trá bao gồm việc tước đoạt công trình của người khác và sau đó nói dối về việc này</a:t>
            </a:r>
          </a:p>
          <a:p>
            <a:pPr>
              <a:buNone/>
            </a:pPr>
            <a:r>
              <a:rPr lang="en-US" b="0" smtClean="0"/>
              <a:t>    (Theo </a:t>
            </a:r>
            <a:r>
              <a:rPr lang="vi-VN" b="0" smtClean="0"/>
              <a:t>Merriam-Webster Dictionary)</a:t>
            </a:r>
          </a:p>
          <a:p>
            <a:pPr>
              <a:buNone/>
            </a:pPr>
            <a:endParaRPr lang="en-US" smtClean="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a:t>
            </a:fld>
            <a:endParaRPr lang="en-US" altLang="ko-K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err="1" smtClean="0"/>
              <a:t>Các</a:t>
            </a:r>
            <a:r>
              <a:rPr lang="en-US" smtClean="0"/>
              <a:t> </a:t>
            </a:r>
            <a:r>
              <a:rPr lang="en-US" err="1" smtClean="0"/>
              <a:t>dạng</a:t>
            </a:r>
            <a:r>
              <a:rPr lang="en-US" smtClean="0"/>
              <a:t> </a:t>
            </a:r>
            <a:r>
              <a:rPr lang="en-US" err="1" smtClean="0"/>
              <a:t>đạo</a:t>
            </a:r>
            <a:r>
              <a:rPr lang="en-US" smtClean="0"/>
              <a:t> </a:t>
            </a:r>
            <a:r>
              <a:rPr lang="en-US" err="1" smtClean="0"/>
              <a:t>văn</a:t>
            </a:r>
            <a:r>
              <a:rPr lang="en-US" smtClean="0"/>
              <a:t> </a:t>
            </a:r>
            <a:r>
              <a:rPr lang="en-US" err="1" smtClean="0"/>
              <a:t>thường</a:t>
            </a:r>
            <a:r>
              <a:rPr lang="en-US" smtClean="0"/>
              <a:t> </a:t>
            </a:r>
            <a:r>
              <a:rPr lang="en-US" err="1" smtClean="0"/>
              <a:t>thấy</a:t>
            </a:r>
            <a:endParaRPr lang="vi-VN"/>
          </a:p>
        </p:txBody>
      </p:sp>
      <p:sp>
        <p:nvSpPr>
          <p:cNvPr id="11" name="Content Placeholder 10"/>
          <p:cNvSpPr>
            <a:spLocks noGrp="1"/>
          </p:cNvSpPr>
          <p:nvPr>
            <p:ph sz="half" idx="1"/>
          </p:nvPr>
        </p:nvSpPr>
        <p:spPr>
          <a:xfrm>
            <a:off x="0" y="1359408"/>
            <a:ext cx="4264152" cy="4953000"/>
          </a:xfrm>
        </p:spPr>
        <p:txBody>
          <a:bodyPr/>
          <a:lstStyle/>
          <a:p>
            <a:r>
              <a:rPr lang="en-US" err="1" smtClean="0"/>
              <a:t>Cố</a:t>
            </a:r>
            <a:r>
              <a:rPr lang="en-US" smtClean="0"/>
              <a:t> </a:t>
            </a:r>
            <a:r>
              <a:rPr lang="en-US" err="1" smtClean="0"/>
              <a:t>tình</a:t>
            </a:r>
            <a:endParaRPr lang="en-US" smtClean="0"/>
          </a:p>
          <a:p>
            <a:pPr marL="342900" lvl="1" indent="-342900">
              <a:lnSpc>
                <a:spcPct val="90000"/>
              </a:lnSpc>
              <a:buClr>
                <a:schemeClr val="tx1"/>
              </a:buClr>
            </a:pPr>
            <a:r>
              <a:rPr lang="en-US" sz="2800" err="1" smtClean="0">
                <a:solidFill>
                  <a:schemeClr val="accent1"/>
                </a:solidFill>
                <a:ea typeface="+mn-ea"/>
              </a:rPr>
              <a:t>Chép</a:t>
            </a:r>
            <a:r>
              <a:rPr lang="en-US" sz="2800" smtClean="0">
                <a:solidFill>
                  <a:schemeClr val="accent1"/>
                </a:solidFill>
                <a:ea typeface="+mn-ea"/>
              </a:rPr>
              <a:t> </a:t>
            </a:r>
            <a:r>
              <a:rPr lang="en-US" sz="2800" err="1" smtClean="0">
                <a:solidFill>
                  <a:schemeClr val="accent1"/>
                </a:solidFill>
                <a:ea typeface="+mn-ea"/>
              </a:rPr>
              <a:t>bài</a:t>
            </a:r>
            <a:r>
              <a:rPr lang="en-US" sz="2800" smtClean="0">
                <a:solidFill>
                  <a:schemeClr val="accent1"/>
                </a:solidFill>
                <a:ea typeface="+mn-ea"/>
              </a:rPr>
              <a:t> </a:t>
            </a:r>
            <a:r>
              <a:rPr lang="en-US" sz="2800" err="1" smtClean="0">
                <a:solidFill>
                  <a:schemeClr val="accent1"/>
                </a:solidFill>
                <a:ea typeface="+mn-ea"/>
              </a:rPr>
              <a:t>của</a:t>
            </a:r>
            <a:r>
              <a:rPr lang="en-US" sz="2800" smtClean="0">
                <a:solidFill>
                  <a:schemeClr val="accent1"/>
                </a:solidFill>
                <a:ea typeface="+mn-ea"/>
              </a:rPr>
              <a:t> bạn, nhờ bạn làm bài dùm</a:t>
            </a:r>
          </a:p>
          <a:p>
            <a:pPr marL="342900" lvl="1" indent="-342900">
              <a:lnSpc>
                <a:spcPct val="90000"/>
              </a:lnSpc>
              <a:buClr>
                <a:schemeClr val="tx1"/>
              </a:buClr>
            </a:pPr>
            <a:r>
              <a:rPr lang="en-US" sz="2800" smtClean="0">
                <a:solidFill>
                  <a:schemeClr val="accent1"/>
                </a:solidFill>
                <a:ea typeface="+mn-ea"/>
              </a:rPr>
              <a:t>Mua/chép luận văn</a:t>
            </a:r>
          </a:p>
          <a:p>
            <a:pPr marL="342900" lvl="1" indent="-342900">
              <a:lnSpc>
                <a:spcPct val="90000"/>
              </a:lnSpc>
              <a:buClr>
                <a:schemeClr val="tx1"/>
              </a:buClr>
            </a:pPr>
            <a:r>
              <a:rPr lang="en-US" sz="2800" smtClean="0">
                <a:solidFill>
                  <a:schemeClr val="accent1"/>
                </a:solidFill>
                <a:ea typeface="+mn-ea"/>
              </a:rPr>
              <a:t>Cắt </a:t>
            </a:r>
            <a:r>
              <a:rPr lang="en-US" sz="2800" err="1" smtClean="0">
                <a:solidFill>
                  <a:schemeClr val="accent1"/>
                </a:solidFill>
                <a:ea typeface="+mn-ea"/>
              </a:rPr>
              <a:t>dán</a:t>
            </a:r>
            <a:r>
              <a:rPr lang="en-US" sz="2800" smtClean="0">
                <a:solidFill>
                  <a:schemeClr val="accent1"/>
                </a:solidFill>
                <a:ea typeface="+mn-ea"/>
              </a:rPr>
              <a:t> </a:t>
            </a:r>
            <a:r>
              <a:rPr lang="en-US" sz="2800" err="1" smtClean="0">
                <a:solidFill>
                  <a:schemeClr val="accent1"/>
                </a:solidFill>
                <a:ea typeface="+mn-ea"/>
              </a:rPr>
              <a:t>tài</a:t>
            </a:r>
            <a:r>
              <a:rPr lang="en-US" sz="2800" smtClean="0">
                <a:solidFill>
                  <a:schemeClr val="accent1"/>
                </a:solidFill>
                <a:ea typeface="+mn-ea"/>
              </a:rPr>
              <a:t> </a:t>
            </a:r>
            <a:r>
              <a:rPr lang="en-US" sz="2800" err="1" smtClean="0">
                <a:solidFill>
                  <a:schemeClr val="accent1"/>
                </a:solidFill>
                <a:ea typeface="+mn-ea"/>
              </a:rPr>
              <a:t>liệu</a:t>
            </a:r>
            <a:r>
              <a:rPr lang="en-US" sz="2800" smtClean="0">
                <a:solidFill>
                  <a:schemeClr val="accent1"/>
                </a:solidFill>
                <a:ea typeface="+mn-ea"/>
              </a:rPr>
              <a:t> </a:t>
            </a:r>
            <a:r>
              <a:rPr lang="en-US" sz="2800" err="1" smtClean="0">
                <a:solidFill>
                  <a:schemeClr val="accent1"/>
                </a:solidFill>
                <a:ea typeface="+mn-ea"/>
              </a:rPr>
              <a:t>điện</a:t>
            </a:r>
            <a:r>
              <a:rPr lang="en-US" sz="2800" smtClean="0">
                <a:solidFill>
                  <a:schemeClr val="accent1"/>
                </a:solidFill>
                <a:ea typeface="+mn-ea"/>
              </a:rPr>
              <a:t> tử/internet mà không </a:t>
            </a:r>
            <a:r>
              <a:rPr lang="en-US" sz="2800" err="1" smtClean="0">
                <a:solidFill>
                  <a:schemeClr val="accent1"/>
                </a:solidFill>
                <a:ea typeface="+mn-ea"/>
              </a:rPr>
              <a:t>ghi</a:t>
            </a:r>
            <a:r>
              <a:rPr lang="en-US" sz="2800" smtClean="0">
                <a:solidFill>
                  <a:schemeClr val="accent1"/>
                </a:solidFill>
                <a:ea typeface="+mn-ea"/>
              </a:rPr>
              <a:t> nguồn</a:t>
            </a:r>
          </a:p>
          <a:p>
            <a:pPr marL="342900" lvl="1" indent="-342900">
              <a:lnSpc>
                <a:spcPct val="90000"/>
              </a:lnSpc>
              <a:buClr>
                <a:schemeClr val="tx1"/>
              </a:buClr>
            </a:pPr>
            <a:r>
              <a:rPr lang="en-US" sz="2800" smtClean="0">
                <a:solidFill>
                  <a:schemeClr val="accent1"/>
                </a:solidFill>
                <a:ea typeface="+mn-ea"/>
              </a:rPr>
              <a:t>Nộp một bài làm của chính mình cho nhiều lớp học khác nhau</a:t>
            </a:r>
          </a:p>
          <a:p>
            <a:pPr lvl="1">
              <a:lnSpc>
                <a:spcPct val="90000"/>
              </a:lnSpc>
              <a:buNone/>
            </a:pPr>
            <a:endParaRPr lang="en-US" smtClean="0">
              <a:solidFill>
                <a:srgbClr val="0070C0"/>
              </a:solidFill>
            </a:endParaRPr>
          </a:p>
          <a:p>
            <a:pPr>
              <a:buNone/>
            </a:pPr>
            <a:endParaRPr lang="vi-VN" sz="2000" smtClean="0"/>
          </a:p>
          <a:p>
            <a:pPr lvl="1">
              <a:lnSpc>
                <a:spcPct val="90000"/>
              </a:lnSpc>
            </a:pPr>
            <a:endParaRPr lang="en-US" sz="1800" smtClean="0">
              <a:solidFill>
                <a:srgbClr val="0070C0"/>
              </a:solidFill>
            </a:endParaRPr>
          </a:p>
          <a:p>
            <a:pPr lvl="1"/>
            <a:endParaRPr lang="vi-VN"/>
          </a:p>
        </p:txBody>
      </p:sp>
      <p:sp>
        <p:nvSpPr>
          <p:cNvPr id="12" name="Content Placeholder 11"/>
          <p:cNvSpPr>
            <a:spLocks noGrp="1"/>
          </p:cNvSpPr>
          <p:nvPr>
            <p:ph sz="half" idx="2"/>
          </p:nvPr>
        </p:nvSpPr>
        <p:spPr>
          <a:xfrm>
            <a:off x="4416552" y="1371600"/>
            <a:ext cx="4276344" cy="4953000"/>
          </a:xfrm>
        </p:spPr>
        <p:txBody>
          <a:bodyPr/>
          <a:lstStyle/>
          <a:p>
            <a:r>
              <a:rPr lang="en-US" err="1" smtClean="0"/>
              <a:t>Vô</a:t>
            </a:r>
            <a:r>
              <a:rPr lang="en-US" smtClean="0"/>
              <a:t> </a:t>
            </a:r>
            <a:r>
              <a:rPr lang="en-US" err="1" smtClean="0"/>
              <a:t>tình</a:t>
            </a:r>
            <a:endParaRPr lang="en-US" smtClean="0"/>
          </a:p>
          <a:p>
            <a:pPr marL="342900" lvl="1" indent="-342900">
              <a:lnSpc>
                <a:spcPct val="90000"/>
              </a:lnSpc>
              <a:buClr>
                <a:schemeClr val="tx1"/>
              </a:buClr>
            </a:pPr>
            <a:r>
              <a:rPr lang="en-US" sz="2800" err="1" smtClean="0">
                <a:solidFill>
                  <a:schemeClr val="accent1"/>
                </a:solidFill>
                <a:ea typeface="+mn-ea"/>
              </a:rPr>
              <a:t>Dẫn</a:t>
            </a:r>
            <a:r>
              <a:rPr lang="en-US" sz="2800" smtClean="0">
                <a:solidFill>
                  <a:schemeClr val="accent1"/>
                </a:solidFill>
                <a:ea typeface="+mn-ea"/>
              </a:rPr>
              <a:t> </a:t>
            </a:r>
            <a:r>
              <a:rPr lang="en-US" sz="2800" err="1" smtClean="0">
                <a:solidFill>
                  <a:schemeClr val="accent1"/>
                </a:solidFill>
                <a:ea typeface="+mn-ea"/>
              </a:rPr>
              <a:t>giải</a:t>
            </a:r>
            <a:r>
              <a:rPr lang="en-US" sz="2800" smtClean="0">
                <a:solidFill>
                  <a:schemeClr val="accent1"/>
                </a:solidFill>
                <a:ea typeface="+mn-ea"/>
              </a:rPr>
              <a:t> </a:t>
            </a:r>
            <a:r>
              <a:rPr lang="en-US" sz="2800" err="1" smtClean="0">
                <a:solidFill>
                  <a:schemeClr val="accent1"/>
                </a:solidFill>
                <a:ea typeface="+mn-ea"/>
              </a:rPr>
              <a:t>cẩu</a:t>
            </a:r>
            <a:r>
              <a:rPr lang="en-US" sz="2800" smtClean="0">
                <a:solidFill>
                  <a:schemeClr val="accent1"/>
                </a:solidFill>
                <a:ea typeface="+mn-ea"/>
              </a:rPr>
              <a:t> </a:t>
            </a:r>
            <a:r>
              <a:rPr lang="en-US" sz="2800" err="1" smtClean="0">
                <a:solidFill>
                  <a:schemeClr val="accent1"/>
                </a:solidFill>
                <a:ea typeface="+mn-ea"/>
              </a:rPr>
              <a:t>thả</a:t>
            </a:r>
            <a:endParaRPr lang="en-US" sz="2800" smtClean="0">
              <a:solidFill>
                <a:schemeClr val="accent1"/>
              </a:solidFill>
              <a:ea typeface="+mn-ea"/>
            </a:endParaRPr>
          </a:p>
          <a:p>
            <a:pPr marL="342900" lvl="1" indent="-342900">
              <a:lnSpc>
                <a:spcPct val="90000"/>
              </a:lnSpc>
              <a:buClr>
                <a:schemeClr val="tx1"/>
              </a:buClr>
            </a:pPr>
            <a:r>
              <a:rPr lang="en-US" sz="2800" err="1" smtClean="0">
                <a:solidFill>
                  <a:schemeClr val="accent1"/>
                </a:solidFill>
                <a:ea typeface="+mn-ea"/>
              </a:rPr>
              <a:t>Ghi</a:t>
            </a:r>
            <a:r>
              <a:rPr lang="en-US" sz="2800" smtClean="0">
                <a:solidFill>
                  <a:schemeClr val="accent1"/>
                </a:solidFill>
                <a:ea typeface="+mn-ea"/>
              </a:rPr>
              <a:t> </a:t>
            </a:r>
            <a:r>
              <a:rPr lang="en-US" sz="2800" err="1" smtClean="0">
                <a:solidFill>
                  <a:schemeClr val="accent1"/>
                </a:solidFill>
                <a:ea typeface="+mn-ea"/>
              </a:rPr>
              <a:t>nguồn</a:t>
            </a:r>
            <a:r>
              <a:rPr lang="en-US" sz="2800" smtClean="0">
                <a:solidFill>
                  <a:schemeClr val="accent1"/>
                </a:solidFill>
                <a:ea typeface="+mn-ea"/>
              </a:rPr>
              <a:t> </a:t>
            </a:r>
            <a:r>
              <a:rPr lang="en-US" sz="2800" err="1" smtClean="0">
                <a:solidFill>
                  <a:schemeClr val="accent1"/>
                </a:solidFill>
                <a:ea typeface="+mn-ea"/>
              </a:rPr>
              <a:t>không</a:t>
            </a:r>
            <a:r>
              <a:rPr lang="en-US" sz="2800" smtClean="0">
                <a:solidFill>
                  <a:schemeClr val="accent1"/>
                </a:solidFill>
                <a:ea typeface="+mn-ea"/>
              </a:rPr>
              <a:t> </a:t>
            </a:r>
            <a:r>
              <a:rPr lang="en-US" sz="2800" err="1" smtClean="0">
                <a:solidFill>
                  <a:schemeClr val="accent1"/>
                </a:solidFill>
                <a:ea typeface="+mn-ea"/>
              </a:rPr>
              <a:t>đầy</a:t>
            </a:r>
            <a:r>
              <a:rPr lang="en-US" sz="2800" smtClean="0">
                <a:solidFill>
                  <a:schemeClr val="accent1"/>
                </a:solidFill>
                <a:ea typeface="+mn-ea"/>
              </a:rPr>
              <a:t> </a:t>
            </a:r>
            <a:r>
              <a:rPr lang="en-US" sz="2800" err="1" smtClean="0">
                <a:solidFill>
                  <a:schemeClr val="accent1"/>
                </a:solidFill>
                <a:ea typeface="+mn-ea"/>
              </a:rPr>
              <a:t>đủ</a:t>
            </a:r>
            <a:endParaRPr lang="en-US" sz="2800" smtClean="0">
              <a:solidFill>
                <a:schemeClr val="accent1"/>
              </a:solidFill>
              <a:ea typeface="+mn-ea"/>
            </a:endParaRPr>
          </a:p>
          <a:p>
            <a:pPr marL="342900" lvl="1" indent="-342900">
              <a:lnSpc>
                <a:spcPct val="90000"/>
              </a:lnSpc>
              <a:buClr>
                <a:schemeClr val="tx1"/>
              </a:buClr>
            </a:pPr>
            <a:r>
              <a:rPr lang="en-US" sz="2800" err="1" smtClean="0">
                <a:solidFill>
                  <a:schemeClr val="accent1"/>
                </a:solidFill>
                <a:ea typeface="+mn-ea"/>
              </a:rPr>
              <a:t>Trích</a:t>
            </a:r>
            <a:r>
              <a:rPr lang="en-US" sz="2800" smtClean="0">
                <a:solidFill>
                  <a:schemeClr val="accent1"/>
                </a:solidFill>
                <a:ea typeface="+mn-ea"/>
              </a:rPr>
              <a:t> </a:t>
            </a:r>
            <a:r>
              <a:rPr lang="en-US" sz="2800" err="1" smtClean="0">
                <a:solidFill>
                  <a:schemeClr val="accent1"/>
                </a:solidFill>
                <a:ea typeface="+mn-ea"/>
              </a:rPr>
              <a:t>dẫn</a:t>
            </a:r>
            <a:r>
              <a:rPr lang="en-US" sz="2800" smtClean="0">
                <a:solidFill>
                  <a:schemeClr val="accent1"/>
                </a:solidFill>
                <a:ea typeface="+mn-ea"/>
              </a:rPr>
              <a:t> </a:t>
            </a:r>
            <a:r>
              <a:rPr lang="en-US" sz="2800" err="1" smtClean="0">
                <a:solidFill>
                  <a:schemeClr val="accent1"/>
                </a:solidFill>
                <a:ea typeface="+mn-ea"/>
              </a:rPr>
              <a:t>không</a:t>
            </a:r>
            <a:r>
              <a:rPr lang="en-US" sz="2800" smtClean="0">
                <a:solidFill>
                  <a:schemeClr val="accent1"/>
                </a:solidFill>
                <a:ea typeface="+mn-ea"/>
              </a:rPr>
              <a:t> </a:t>
            </a:r>
            <a:r>
              <a:rPr lang="en-US" sz="2800" err="1" smtClean="0">
                <a:solidFill>
                  <a:schemeClr val="accent1"/>
                </a:solidFill>
                <a:ea typeface="+mn-ea"/>
              </a:rPr>
              <a:t>chính</a:t>
            </a:r>
            <a:r>
              <a:rPr lang="en-US" sz="2800" smtClean="0">
                <a:solidFill>
                  <a:schemeClr val="accent1"/>
                </a:solidFill>
                <a:ea typeface="+mn-ea"/>
              </a:rPr>
              <a:t> </a:t>
            </a:r>
            <a:r>
              <a:rPr lang="en-US" sz="2800" err="1" smtClean="0">
                <a:solidFill>
                  <a:schemeClr val="accent1"/>
                </a:solidFill>
                <a:ea typeface="+mn-ea"/>
              </a:rPr>
              <a:t>xác</a:t>
            </a:r>
            <a:endParaRPr lang="en-US" sz="2800" smtClean="0">
              <a:solidFill>
                <a:schemeClr val="accent1"/>
              </a:solidFill>
              <a:ea typeface="+mn-ea"/>
            </a:endParaRPr>
          </a:p>
          <a:p>
            <a:pPr marL="342900" lvl="1" indent="-342900">
              <a:lnSpc>
                <a:spcPct val="90000"/>
              </a:lnSpc>
              <a:buClr>
                <a:schemeClr val="tx1"/>
              </a:buClr>
            </a:pPr>
            <a:r>
              <a:rPr lang="en-US" sz="2800" err="1" smtClean="0">
                <a:solidFill>
                  <a:schemeClr val="accent1"/>
                </a:solidFill>
                <a:ea typeface="+mn-ea"/>
              </a:rPr>
              <a:t>Không</a:t>
            </a:r>
            <a:r>
              <a:rPr lang="en-US" sz="2800" smtClean="0">
                <a:solidFill>
                  <a:schemeClr val="accent1"/>
                </a:solidFill>
                <a:ea typeface="+mn-ea"/>
              </a:rPr>
              <a:t> </a:t>
            </a:r>
            <a:r>
              <a:rPr lang="en-US" sz="2800" err="1" smtClean="0">
                <a:solidFill>
                  <a:schemeClr val="accent1"/>
                </a:solidFill>
                <a:ea typeface="+mn-ea"/>
              </a:rPr>
              <a:t>thể</a:t>
            </a:r>
            <a:r>
              <a:rPr lang="en-US" sz="2800" smtClean="0">
                <a:solidFill>
                  <a:schemeClr val="accent1"/>
                </a:solidFill>
                <a:ea typeface="+mn-ea"/>
              </a:rPr>
              <a:t> </a:t>
            </a:r>
            <a:r>
              <a:rPr lang="en-US" sz="2800" err="1" smtClean="0">
                <a:solidFill>
                  <a:schemeClr val="accent1"/>
                </a:solidFill>
                <a:ea typeface="+mn-ea"/>
              </a:rPr>
              <a:t>hiện</a:t>
            </a:r>
            <a:r>
              <a:rPr lang="en-US" sz="2800" smtClean="0">
                <a:solidFill>
                  <a:schemeClr val="accent1"/>
                </a:solidFill>
                <a:ea typeface="+mn-ea"/>
              </a:rPr>
              <a:t> </a:t>
            </a:r>
            <a:r>
              <a:rPr lang="en-US" sz="2800" err="1" smtClean="0">
                <a:solidFill>
                  <a:schemeClr val="accent1"/>
                </a:solidFill>
                <a:ea typeface="+mn-ea"/>
              </a:rPr>
              <a:t>được</a:t>
            </a:r>
            <a:r>
              <a:rPr lang="en-US" sz="2800" smtClean="0">
                <a:solidFill>
                  <a:schemeClr val="accent1"/>
                </a:solidFill>
                <a:ea typeface="+mn-ea"/>
              </a:rPr>
              <a:t> ý </a:t>
            </a:r>
            <a:r>
              <a:rPr lang="en-US" sz="2800" err="1" smtClean="0">
                <a:solidFill>
                  <a:schemeClr val="accent1"/>
                </a:solidFill>
                <a:ea typeface="+mn-ea"/>
              </a:rPr>
              <a:t>kiến</a:t>
            </a:r>
            <a:r>
              <a:rPr lang="en-US" sz="2800" smtClean="0">
                <a:solidFill>
                  <a:schemeClr val="accent1"/>
                </a:solidFill>
                <a:ea typeface="+mn-ea"/>
              </a:rPr>
              <a:t> </a:t>
            </a:r>
            <a:r>
              <a:rPr lang="en-US" sz="2800" err="1" smtClean="0">
                <a:solidFill>
                  <a:schemeClr val="accent1"/>
                </a:solidFill>
                <a:ea typeface="+mn-ea"/>
              </a:rPr>
              <a:t>cá</a:t>
            </a:r>
            <a:r>
              <a:rPr lang="en-US" sz="2800" smtClean="0">
                <a:solidFill>
                  <a:schemeClr val="accent1"/>
                </a:solidFill>
                <a:ea typeface="+mn-ea"/>
              </a:rPr>
              <a:t> </a:t>
            </a:r>
            <a:r>
              <a:rPr lang="en-US" sz="2800" err="1" smtClean="0">
                <a:solidFill>
                  <a:schemeClr val="accent1"/>
                </a:solidFill>
                <a:ea typeface="+mn-ea"/>
              </a:rPr>
              <a:t>nhân</a:t>
            </a:r>
            <a:r>
              <a:rPr lang="en-US" sz="2800" smtClean="0">
                <a:solidFill>
                  <a:schemeClr val="accent1"/>
                </a:solidFill>
                <a:ea typeface="+mn-ea"/>
              </a:rPr>
              <a:t> </a:t>
            </a:r>
            <a:r>
              <a:rPr lang="en-US" sz="2800" err="1" smtClean="0">
                <a:solidFill>
                  <a:schemeClr val="accent1"/>
                </a:solidFill>
                <a:ea typeface="+mn-ea"/>
              </a:rPr>
              <a:t>trong</a:t>
            </a:r>
            <a:r>
              <a:rPr lang="en-US" sz="2800" smtClean="0">
                <a:solidFill>
                  <a:schemeClr val="accent1"/>
                </a:solidFill>
                <a:ea typeface="+mn-ea"/>
              </a:rPr>
              <a:t> </a:t>
            </a:r>
            <a:r>
              <a:rPr lang="en-US" sz="2800" err="1" smtClean="0">
                <a:solidFill>
                  <a:schemeClr val="accent1"/>
                </a:solidFill>
                <a:ea typeface="+mn-ea"/>
              </a:rPr>
              <a:t>khi</a:t>
            </a:r>
            <a:r>
              <a:rPr lang="en-US" sz="2800" smtClean="0">
                <a:solidFill>
                  <a:schemeClr val="accent1"/>
                </a:solidFill>
                <a:ea typeface="+mn-ea"/>
              </a:rPr>
              <a:t> </a:t>
            </a:r>
            <a:r>
              <a:rPr lang="en-US" sz="2800" err="1" smtClean="0">
                <a:solidFill>
                  <a:schemeClr val="accent1"/>
                </a:solidFill>
                <a:ea typeface="+mn-ea"/>
              </a:rPr>
              <a:t>trích</a:t>
            </a:r>
            <a:r>
              <a:rPr lang="en-US" sz="2800" smtClean="0">
                <a:solidFill>
                  <a:schemeClr val="accent1"/>
                </a:solidFill>
                <a:ea typeface="+mn-ea"/>
              </a:rPr>
              <a:t> </a:t>
            </a:r>
            <a:r>
              <a:rPr lang="en-US" sz="2800" err="1" smtClean="0">
                <a:solidFill>
                  <a:schemeClr val="accent1"/>
                </a:solidFill>
                <a:ea typeface="+mn-ea"/>
              </a:rPr>
              <a:t>dẫn</a:t>
            </a:r>
            <a:endParaRPr lang="en-US" sz="2800" smtClean="0">
              <a:solidFill>
                <a:schemeClr val="accent1"/>
              </a:solidFill>
              <a:ea typeface="+mn-ea"/>
            </a:endParaRPr>
          </a:p>
          <a:p>
            <a:pPr lvl="1"/>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3</a:t>
            </a:fld>
            <a:endParaRPr lang="en-US" altLang="ko-K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Vì</a:t>
            </a:r>
            <a:r>
              <a:rPr lang="en-US" smtClean="0"/>
              <a:t> </a:t>
            </a:r>
            <a:r>
              <a:rPr lang="en-US" err="1" smtClean="0"/>
              <a:t>sao</a:t>
            </a:r>
            <a:r>
              <a:rPr lang="en-US" smtClean="0"/>
              <a:t> </a:t>
            </a:r>
            <a:r>
              <a:rPr lang="en-US" err="1" smtClean="0"/>
              <a:t>không</a:t>
            </a:r>
            <a:r>
              <a:rPr lang="en-US" smtClean="0"/>
              <a:t> </a:t>
            </a:r>
            <a:r>
              <a:rPr lang="en-US" err="1" smtClean="0"/>
              <a:t>nên</a:t>
            </a:r>
            <a:r>
              <a:rPr lang="en-US" smtClean="0"/>
              <a:t> </a:t>
            </a:r>
            <a:r>
              <a:rPr lang="en-US" err="1" smtClean="0"/>
              <a:t>đạo</a:t>
            </a:r>
            <a:r>
              <a:rPr lang="en-US" smtClean="0"/>
              <a:t> </a:t>
            </a:r>
            <a:r>
              <a:rPr lang="en-US" err="1" smtClean="0"/>
              <a:t>văn</a:t>
            </a:r>
            <a:r>
              <a:rPr lang="en-US" smtClean="0"/>
              <a:t>? </a:t>
            </a:r>
            <a:endParaRPr lang="vi-VN"/>
          </a:p>
        </p:txBody>
      </p:sp>
      <p:sp>
        <p:nvSpPr>
          <p:cNvPr id="3" name="Content Placeholder 2"/>
          <p:cNvSpPr>
            <a:spLocks noGrp="1"/>
          </p:cNvSpPr>
          <p:nvPr>
            <p:ph idx="1"/>
          </p:nvPr>
        </p:nvSpPr>
        <p:spPr>
          <a:xfrm>
            <a:off x="457200" y="1146412"/>
            <a:ext cx="8686800" cy="4899546"/>
          </a:xfrm>
        </p:spPr>
        <p:txBody>
          <a:bodyPr/>
          <a:lstStyle/>
          <a:p>
            <a:pPr>
              <a:lnSpc>
                <a:spcPct val="90000"/>
              </a:lnSpc>
            </a:pPr>
            <a:r>
              <a:rPr lang="en-US" b="0" err="1" smtClean="0"/>
              <a:t>Đạo</a:t>
            </a:r>
            <a:r>
              <a:rPr lang="en-US" b="0" smtClean="0"/>
              <a:t> </a:t>
            </a:r>
            <a:r>
              <a:rPr lang="en-US" b="0" err="1" smtClean="0"/>
              <a:t>văn</a:t>
            </a:r>
            <a:r>
              <a:rPr lang="en-US" b="0" smtClean="0"/>
              <a:t> </a:t>
            </a:r>
            <a:r>
              <a:rPr lang="en-US" b="0" err="1" smtClean="0"/>
              <a:t>là</a:t>
            </a:r>
            <a:r>
              <a:rPr lang="en-US" b="0" smtClean="0"/>
              <a:t> </a:t>
            </a:r>
            <a:r>
              <a:rPr lang="en-US" b="0" err="1" smtClean="0">
                <a:solidFill>
                  <a:srgbClr val="C00000"/>
                </a:solidFill>
              </a:rPr>
              <a:t>lừa</a:t>
            </a:r>
            <a:r>
              <a:rPr lang="en-US" b="0" smtClean="0">
                <a:solidFill>
                  <a:srgbClr val="C00000"/>
                </a:solidFill>
              </a:rPr>
              <a:t> </a:t>
            </a:r>
            <a:r>
              <a:rPr lang="en-US" b="0" err="1" smtClean="0">
                <a:solidFill>
                  <a:srgbClr val="C00000"/>
                </a:solidFill>
              </a:rPr>
              <a:t>dối</a:t>
            </a:r>
            <a:r>
              <a:rPr lang="en-US" b="0" smtClean="0">
                <a:solidFill>
                  <a:srgbClr val="C00000"/>
                </a:solidFill>
              </a:rPr>
              <a:t> </a:t>
            </a:r>
            <a:r>
              <a:rPr lang="en-US" b="0" err="1" smtClean="0"/>
              <a:t>chính</a:t>
            </a:r>
            <a:r>
              <a:rPr lang="en-US" b="0" smtClean="0"/>
              <a:t> mình và người khác </a:t>
            </a:r>
          </a:p>
          <a:p>
            <a:pPr>
              <a:lnSpc>
                <a:spcPct val="90000"/>
              </a:lnSpc>
            </a:pPr>
            <a:r>
              <a:rPr lang="en-US" b="0" smtClean="0"/>
              <a:t>Nó </a:t>
            </a:r>
            <a:r>
              <a:rPr lang="en-US" b="0" err="1" smtClean="0"/>
              <a:t>làm</a:t>
            </a:r>
            <a:r>
              <a:rPr lang="en-US" b="0" smtClean="0"/>
              <a:t> triệt tiêu tính sáng tạo và tư duy độc lập trong học tập</a:t>
            </a:r>
          </a:p>
          <a:p>
            <a:r>
              <a:rPr lang="vi-VN" b="0" smtClean="0"/>
              <a:t>Bài làm có phát hiện đạo văn sẽ bị xử lý và lưu trong hồ sơ SV</a:t>
            </a:r>
            <a:r>
              <a:rPr lang="en-GB" b="0" smtClean="0"/>
              <a:t>.</a:t>
            </a:r>
            <a:r>
              <a:rPr lang="vi-VN" b="0" smtClean="0"/>
              <a:t> Các hình thức xử lý có mức độ từ cảnh cáo, hủy kết quả môn học, đến buộc thôi học. </a:t>
            </a:r>
            <a:endParaRPr lang="en-GB" b="0" smtClean="0"/>
          </a:p>
          <a:p>
            <a:pPr>
              <a:lnSpc>
                <a:spcPct val="90000"/>
              </a:lnSpc>
            </a:pPr>
            <a:r>
              <a:rPr lang="en-US" b="0" smtClean="0"/>
              <a:t>Với </a:t>
            </a:r>
            <a:r>
              <a:rPr lang="en-US" b="0" err="1" smtClean="0"/>
              <a:t>bài</a:t>
            </a:r>
            <a:r>
              <a:rPr lang="en-US" b="0" smtClean="0"/>
              <a:t> </a:t>
            </a:r>
            <a:r>
              <a:rPr lang="en-US" b="0" err="1" smtClean="0"/>
              <a:t>tốt</a:t>
            </a:r>
            <a:r>
              <a:rPr lang="en-US" b="0" smtClean="0"/>
              <a:t> </a:t>
            </a:r>
            <a:r>
              <a:rPr lang="en-US" b="0" err="1" smtClean="0"/>
              <a:t>nghiệp</a:t>
            </a:r>
            <a:r>
              <a:rPr lang="en-US" b="0" smtClean="0"/>
              <a:t> vi </a:t>
            </a:r>
            <a:r>
              <a:rPr lang="en-US" b="0" err="1" smtClean="0"/>
              <a:t>phạm</a:t>
            </a:r>
            <a:r>
              <a:rPr lang="en-US" b="0" smtClean="0"/>
              <a:t>, </a:t>
            </a:r>
            <a:r>
              <a:rPr lang="en-US" b="0" err="1" smtClean="0"/>
              <a:t>có</a:t>
            </a:r>
            <a:r>
              <a:rPr lang="en-US" b="0" smtClean="0"/>
              <a:t> </a:t>
            </a:r>
            <a:r>
              <a:rPr lang="en-US" b="0" err="1" smtClean="0"/>
              <a:t>thể</a:t>
            </a:r>
            <a:r>
              <a:rPr lang="en-US" b="0" smtClean="0"/>
              <a:t> </a:t>
            </a:r>
            <a:r>
              <a:rPr lang="en-US" b="0" err="1" smtClean="0"/>
              <a:t>bị</a:t>
            </a:r>
            <a:r>
              <a:rPr lang="en-US" b="0" smtClean="0"/>
              <a:t> thu hồi bằng cấp</a:t>
            </a:r>
          </a:p>
          <a:p>
            <a:pPr>
              <a:lnSpc>
                <a:spcPct val="90000"/>
              </a:lnSpc>
            </a:pPr>
            <a:r>
              <a:rPr lang="en-US" b="0" smtClean="0"/>
              <a:t>Nên nhớ rằng, dù không cố tình sao chép thì đạo văn vẫn bị xem là một </a:t>
            </a:r>
            <a:r>
              <a:rPr lang="en-US" b="0" smtClean="0">
                <a:solidFill>
                  <a:srgbClr val="C00000"/>
                </a:solidFill>
              </a:rPr>
              <a:t>lỗi nghiêm trọng </a:t>
            </a:r>
            <a:r>
              <a:rPr lang="en-US" b="0" smtClean="0"/>
              <a:t>trong học tập ở bậc đại học</a:t>
            </a:r>
          </a:p>
          <a:p>
            <a:pPr>
              <a:lnSpc>
                <a:spcPct val="90000"/>
              </a:lnSpc>
            </a:pPr>
            <a:endParaRPr lang="en-US" b="0" smtClean="0"/>
          </a:p>
          <a:p>
            <a:pPr>
              <a:lnSpc>
                <a:spcPct val="90000"/>
              </a:lnSpc>
            </a:pPr>
            <a:endParaRPr lang="en-US" b="0" smtClean="0"/>
          </a:p>
          <a:p>
            <a:pPr>
              <a:lnSpc>
                <a:spcPct val="90000"/>
              </a:lnSpc>
              <a:buNone/>
            </a:pPr>
            <a:endParaRPr lang="en-US" sz="2400" smtClean="0"/>
          </a:p>
          <a:p>
            <a:pPr>
              <a:lnSpc>
                <a:spcPct val="90000"/>
              </a:lnSpc>
              <a:buNone/>
            </a:pPr>
            <a:endParaRPr lang="en-US" sz="2400" smtClean="0"/>
          </a:p>
          <a:p>
            <a:pPr>
              <a:buNone/>
            </a:pP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4</a:t>
            </a:fld>
            <a:endParaRPr lang="en-US" altLang="ko-K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Vì sao không nên đạo văn? </a:t>
            </a:r>
            <a:endParaRPr lang="vi-VN"/>
          </a:p>
        </p:txBody>
      </p:sp>
      <p:sp>
        <p:nvSpPr>
          <p:cNvPr id="3" name="Content Placeholder 2"/>
          <p:cNvSpPr>
            <a:spLocks noGrp="1"/>
          </p:cNvSpPr>
          <p:nvPr>
            <p:ph idx="1"/>
          </p:nvPr>
        </p:nvSpPr>
        <p:spPr/>
        <p:txBody>
          <a:bodyPr/>
          <a:lstStyle/>
          <a:p>
            <a:pPr>
              <a:lnSpc>
                <a:spcPct val="90000"/>
              </a:lnSpc>
            </a:pPr>
            <a:r>
              <a:rPr lang="en-US" b="0" smtClean="0"/>
              <a:t>Mục tiêu của giáo dục không phải là chuyện hơn - thua, mà là học tập để biết cách học đúng</a:t>
            </a:r>
          </a:p>
          <a:p>
            <a:pPr>
              <a:lnSpc>
                <a:spcPct val="90000"/>
              </a:lnSpc>
            </a:pPr>
            <a:r>
              <a:rPr lang="en-US" b="0" smtClean="0"/>
              <a:t>Nên nhớ bài làm được đánh giá dựa trên </a:t>
            </a:r>
            <a:r>
              <a:rPr lang="en-US" b="0" smtClean="0">
                <a:solidFill>
                  <a:srgbClr val="C00000"/>
                </a:solidFill>
              </a:rPr>
              <a:t>ý tưởng, lập luận của cá nhân</a:t>
            </a:r>
            <a:r>
              <a:rPr lang="en-US" b="0" smtClean="0"/>
              <a:t> chứ không phải từ việc lặp lại những kiến thức có sẵn</a:t>
            </a:r>
          </a:p>
          <a:p>
            <a:r>
              <a:rPr lang="en-US" b="0" smtClean="0"/>
              <a:t>Nên lưu ý, hành động đạo văn hiện tại là </a:t>
            </a:r>
            <a:r>
              <a:rPr lang="en-US" b="0" smtClean="0">
                <a:solidFill>
                  <a:srgbClr val="C00000"/>
                </a:solidFill>
              </a:rPr>
              <a:t>nguy cơ tiềm ẩn</a:t>
            </a:r>
            <a:r>
              <a:rPr lang="en-US" b="0" smtClean="0"/>
              <a:t> của sự nghiệp trong tương lai khi bị phát hiện</a:t>
            </a:r>
          </a:p>
          <a:p>
            <a:r>
              <a:rPr lang="en-US" b="0" smtClean="0"/>
              <a:t>Kết quả đạt được không đáng phải mạo hiểm. Nhà tuyển dụng thường coi trọng </a:t>
            </a:r>
            <a:r>
              <a:rPr lang="en-US" b="0" smtClean="0">
                <a:solidFill>
                  <a:srgbClr val="C00000"/>
                </a:solidFill>
              </a:rPr>
              <a:t>năng lực thực sự</a:t>
            </a:r>
            <a:r>
              <a:rPr lang="en-US" b="0" smtClean="0"/>
              <a:t> hơn là điểm số</a:t>
            </a:r>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5</a:t>
            </a:fld>
            <a:endParaRPr lang="en-US" altLang="ko-K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7696" cy="789296"/>
          </a:xfrm>
        </p:spPr>
        <p:txBody>
          <a:bodyPr/>
          <a:lstStyle/>
          <a:p>
            <a:r>
              <a:rPr lang="en-US" smtClean="0"/>
              <a:t>Tình trạng báo động trong sinh viên </a:t>
            </a: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6</a:t>
            </a:fld>
            <a:endParaRPr lang="en-US" altLang="ko-KR"/>
          </a:p>
        </p:txBody>
      </p:sp>
      <p:pic>
        <p:nvPicPr>
          <p:cNvPr id="5" name="Content Placeholder 4" descr="http://nld.vcmedia.vn/Images/Uploaded/Share/2010/11/12/11-chot_450x338.jpg"/>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5608320" y="2090167"/>
            <a:ext cx="3169920" cy="2859785"/>
          </a:xfrm>
          <a:prstGeom prst="rect">
            <a:avLst/>
          </a:prstGeom>
          <a:noFill/>
          <a:ln>
            <a:noFill/>
          </a:ln>
        </p:spPr>
      </p:pic>
      <p:sp>
        <p:nvSpPr>
          <p:cNvPr id="6" name="Rectangle 5"/>
          <p:cNvSpPr/>
          <p:nvPr/>
        </p:nvSpPr>
        <p:spPr>
          <a:xfrm>
            <a:off x="231648" y="1033194"/>
            <a:ext cx="5132832" cy="4401205"/>
          </a:xfrm>
          <a:prstGeom prst="rect">
            <a:avLst/>
          </a:prstGeom>
        </p:spPr>
        <p:txBody>
          <a:bodyPr wrap="square">
            <a:spAutoFit/>
          </a:bodyPr>
          <a:lstStyle/>
          <a:p>
            <a:r>
              <a:rPr lang="vi-VN" sz="2800" smtClean="0">
                <a:solidFill>
                  <a:srgbClr val="0092CC"/>
                </a:solidFill>
                <a:latin typeface="Arial" pitchFamily="34" charset="0"/>
                <a:cs typeface="Arial" pitchFamily="34" charset="0"/>
              </a:rPr>
              <a:t>Việc sao chép hiện nay trong trường ĐH đang nằm ngoài tầm kiểm soát và ở mức tồi tệ. </a:t>
            </a:r>
          </a:p>
          <a:p>
            <a:r>
              <a:rPr lang="vi-VN" sz="2800" smtClean="0">
                <a:solidFill>
                  <a:srgbClr val="0092CC"/>
                </a:solidFill>
                <a:latin typeface="Arial" pitchFamily="34" charset="0"/>
                <a:cs typeface="Arial" pitchFamily="34" charset="0"/>
              </a:rPr>
              <a:t>Tình trạng “đạo văn” trong hàng loạt tiểu luận, luận văn, luận án. Thậm chí “chợ” luận văn tồn tại ngay sát cổng trường ĐH, cung cấp bất kỳ loại luận văn, đồ án nào cho sinh viên có nhu cầu.</a:t>
            </a:r>
            <a:endParaRPr lang="vi-VN" sz="2800">
              <a:solidFill>
                <a:srgbClr val="0092CC"/>
              </a:solidFill>
              <a:latin typeface="Arial" pitchFamily="34" charset="0"/>
              <a:cs typeface="Arial"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 và giảng viên</a:t>
            </a: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7</a:t>
            </a:fld>
            <a:endParaRPr lang="en-US" altLang="ko-KR"/>
          </a:p>
        </p:txBody>
      </p:sp>
      <p:pic>
        <p:nvPicPr>
          <p:cNvPr id="1026" name="Picture 2"/>
          <p:cNvPicPr>
            <a:picLocks noGrp="1" noChangeAspect="1" noChangeArrowheads="1"/>
          </p:cNvPicPr>
          <p:nvPr>
            <p:ph idx="1"/>
          </p:nvPr>
        </p:nvPicPr>
        <p:blipFill>
          <a:blip r:embed="rId2" cstate="print"/>
          <a:srcRect/>
          <a:stretch>
            <a:fillRect/>
          </a:stretch>
        </p:blipFill>
        <p:spPr bwMode="auto">
          <a:xfrm>
            <a:off x="275541" y="841248"/>
            <a:ext cx="8514891" cy="5321807"/>
          </a:xfrm>
          <a:prstGeom prst="rect">
            <a:avLst/>
          </a:prstGeom>
          <a:noFill/>
          <a:ln w="9525">
            <a:noFill/>
            <a:miter lim="800000"/>
            <a:headEnd/>
            <a:tailEnd/>
          </a:ln>
          <a:effec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24544" cy="789296"/>
          </a:xfrm>
        </p:spPr>
        <p:txBody>
          <a:bodyPr/>
          <a:lstStyle/>
          <a:p>
            <a:r>
              <a:rPr lang="en-US" smtClean="0"/>
              <a:t>Hậu quả khi bị phát hiện...</a:t>
            </a:r>
            <a:endParaRPr lang="vi-VN"/>
          </a:p>
        </p:txBody>
      </p:sp>
      <p:sp>
        <p:nvSpPr>
          <p:cNvPr id="3" name="Content Placeholder 2"/>
          <p:cNvSpPr>
            <a:spLocks noGrp="1"/>
          </p:cNvSpPr>
          <p:nvPr>
            <p:ph idx="1"/>
          </p:nvPr>
        </p:nvSpPr>
        <p:spPr/>
        <p:txBody>
          <a:bodyPr/>
          <a:lstStyle/>
          <a:p>
            <a:r>
              <a:rPr lang="vi-VN" b="0" smtClean="0"/>
              <a:t>6/2010, 1 bài </a:t>
            </a:r>
            <a:r>
              <a:rPr lang="vi-VN" b="0" smtClean="0">
                <a:solidFill>
                  <a:srgbClr val="0092CC"/>
                </a:solidFill>
              </a:rPr>
              <a:t>báo</a:t>
            </a:r>
            <a:r>
              <a:rPr lang="vi-VN" b="0" smtClean="0"/>
              <a:t> chuyên ngành vật lý của nhóm tác giả Lê Đức Thông, Nguyễn Mộng Giao, Trần Văn Hùng bị rút khỏi tạp chí quốc tế vì đạo văn.</a:t>
            </a:r>
          </a:p>
          <a:p>
            <a:pPr>
              <a:buNone/>
            </a:pPr>
            <a:r>
              <a:rPr lang="vi-VN" sz="2400" b="0" smtClean="0"/>
              <a:t> </a:t>
            </a:r>
          </a:p>
          <a:p>
            <a:pPr>
              <a:buNone/>
            </a:pPr>
            <a:endParaRPr lang="vi-VN" sz="2400" smtClean="0"/>
          </a:p>
          <a:p>
            <a:endParaRPr lang="vi-VN" sz="2400" b="0" smtClean="0"/>
          </a:p>
          <a:p>
            <a:endParaRPr lang="vi-VN" sz="2400" smtClean="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8</a:t>
            </a:fld>
            <a:endParaRPr lang="en-US" altLang="ko-KR"/>
          </a:p>
        </p:txBody>
      </p:sp>
      <p:pic>
        <p:nvPicPr>
          <p:cNvPr id="5" name="Picture 4" descr="http://www.thanhnien.com.vn/News/Pictures201003/TuanThanh/2010/10/27/p8a1.jpg"/>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1182624" y="2633472"/>
            <a:ext cx="6790944" cy="3084576"/>
          </a:xfrm>
          <a:prstGeom prst="rect">
            <a:avLst/>
          </a:prstGeom>
          <a:noFill/>
          <a:ln>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Hậu quả khi bị phát hiện...</a:t>
            </a:r>
            <a:endParaRPr lang="vi-VN"/>
          </a:p>
        </p:txBody>
      </p:sp>
      <p:sp>
        <p:nvSpPr>
          <p:cNvPr id="3" name="Content Placeholder 2"/>
          <p:cNvSpPr>
            <a:spLocks noGrp="1"/>
          </p:cNvSpPr>
          <p:nvPr>
            <p:ph idx="1"/>
          </p:nvPr>
        </p:nvSpPr>
        <p:spPr/>
        <p:txBody>
          <a:bodyPr/>
          <a:lstStyle/>
          <a:p>
            <a:r>
              <a:rPr lang="vi-VN" b="0" smtClean="0"/>
              <a:t>4/2010, nhóm tác giả 2 cuốn sách </a:t>
            </a:r>
            <a:r>
              <a:rPr lang="vi-VN" b="0" i="1" smtClean="0"/>
              <a:t>Tài chính quốc tế</a:t>
            </a:r>
            <a:r>
              <a:rPr lang="vi-VN" b="0" smtClean="0"/>
              <a:t> và </a:t>
            </a:r>
            <a:r>
              <a:rPr lang="vi-VN" b="0" i="1" smtClean="0"/>
              <a:t>Nguyên lý thực hành bảo hiểm </a:t>
            </a:r>
            <a:r>
              <a:rPr lang="vi-VN" b="0" smtClean="0"/>
              <a:t>bị tố “đạo sách” nhận quyết định kỷ luật của Trường ĐH Công nghiệp TPHCM. </a:t>
            </a:r>
          </a:p>
          <a:p>
            <a:r>
              <a:rPr lang="vi-VN" b="0" smtClean="0"/>
              <a:t>8/2011, 1 thạc sĩ chuyên ngành tiếng Anh (ĐHXHNV TPHCM) khóa 2002-2005 bị thu hồi bằng vì bị phát hiện sao chép luận văn.</a:t>
            </a:r>
          </a:p>
          <a:p>
            <a:endParaRPr lang="vi-VN" sz="2400" smtClean="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9</a:t>
            </a:fld>
            <a:endParaRPr lang="en-US" altLang="ko-K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Hậu quả </a:t>
            </a:r>
            <a:r>
              <a:rPr lang="en-US" smtClean="0"/>
              <a:t>khi bị phát hiện...</a:t>
            </a:r>
            <a:endParaRPr lang="vi-VN"/>
          </a:p>
        </p:txBody>
      </p:sp>
      <p:sp>
        <p:nvSpPr>
          <p:cNvPr id="4" name="Content Placeholder 3"/>
          <p:cNvSpPr>
            <a:spLocks noGrp="1"/>
          </p:cNvSpPr>
          <p:nvPr>
            <p:ph sz="half" idx="2"/>
          </p:nvPr>
        </p:nvSpPr>
        <p:spPr>
          <a:xfrm>
            <a:off x="0" y="1591056"/>
            <a:ext cx="4425696" cy="4953000"/>
          </a:xfrm>
        </p:spPr>
        <p:txBody>
          <a:bodyPr/>
          <a:lstStyle/>
          <a:p>
            <a:pPr>
              <a:buNone/>
            </a:pPr>
            <a:r>
              <a:rPr lang="vi-VN" sz="2400" smtClean="0"/>
              <a:t>	</a:t>
            </a:r>
            <a:r>
              <a:rPr lang="vi-VN" b="0" smtClean="0"/>
              <a:t>Bộ trưởng Quốc phòng Đức </a:t>
            </a:r>
            <a:r>
              <a:rPr lang="vi-VN" b="0" i="1" smtClean="0"/>
              <a:t>Karl-Theodor zu Guttenberg</a:t>
            </a:r>
            <a:r>
              <a:rPr lang="vi-VN" b="0" smtClean="0"/>
              <a:t>, bị cáo buộc đã “đạo văn” trong luận án tiến sĩ vào năm 2006, bằng tiến sĩ của ông bị hủy bỏ và ông từ chức bộ trưởng vào 1/3/2011.</a:t>
            </a:r>
            <a:endParaRPr lang="vi-VN" sz="2400" b="0" smtClean="0"/>
          </a:p>
          <a:p>
            <a:endParaRPr lang="vi-VN"/>
          </a:p>
        </p:txBody>
      </p:sp>
      <p:sp>
        <p:nvSpPr>
          <p:cNvPr id="5" name="Slide Number Placeholder 4"/>
          <p:cNvSpPr>
            <a:spLocks noGrp="1"/>
          </p:cNvSpPr>
          <p:nvPr>
            <p:ph type="sldNum" sz="quarter" idx="11"/>
          </p:nvPr>
        </p:nvSpPr>
        <p:spPr/>
        <p:txBody>
          <a:bodyPr/>
          <a:lstStyle/>
          <a:p>
            <a:pPr>
              <a:defRPr/>
            </a:pPr>
            <a:fld id="{BBF80B51-F811-40B8-9C80-E0F0665DBF6E}" type="slidenum">
              <a:rPr lang="ko-KR" altLang="en-US" smtClean="0"/>
              <a:pPr>
                <a:defRPr/>
              </a:pPr>
              <a:t>10</a:t>
            </a:fld>
            <a:endParaRPr lang="en-US" altLang="ko-KR"/>
          </a:p>
        </p:txBody>
      </p:sp>
      <p:pic>
        <p:nvPicPr>
          <p:cNvPr id="6" name="Content Placeholder 5" descr="http://media.thethaovanhoa.vn/2011/02/18/10/46/Ger%20%282%29.jpg"/>
          <p:cNvPicPr>
            <a:picLocks noGrp="1"/>
          </p:cNvPicPr>
          <p:nvPr>
            <p:ph sz="half" idx="1"/>
          </p:nvPr>
        </p:nvPicPr>
        <p:blipFill>
          <a:blip r:embed="rId2"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4590288" y="2688060"/>
            <a:ext cx="4163568" cy="2688612"/>
          </a:xfrm>
          <a:prstGeom prst="rect">
            <a:avLst/>
          </a:prstGeom>
          <a:noFill/>
          <a:ln>
            <a:noFill/>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89296"/>
          </a:xfrm>
        </p:spPr>
        <p:txBody>
          <a:bodyPr/>
          <a:lstStyle/>
          <a:p>
            <a:pPr algn="ctr"/>
            <a:r>
              <a:rPr lang="en-US" smtClean="0"/>
              <a:t>Vì sao nhà trường chú trọng</a:t>
            </a:r>
            <a:br>
              <a:rPr lang="en-US" smtClean="0"/>
            </a:br>
            <a:r>
              <a:rPr lang="en-US" smtClean="0"/>
              <a:t>phòng tránh đạo văn?</a:t>
            </a:r>
            <a:endParaRPr lang="vi-VN"/>
          </a:p>
        </p:txBody>
      </p:sp>
      <p:sp>
        <p:nvSpPr>
          <p:cNvPr id="3" name="Content Placeholder 2"/>
          <p:cNvSpPr>
            <a:spLocks noGrp="1"/>
          </p:cNvSpPr>
          <p:nvPr>
            <p:ph idx="1"/>
          </p:nvPr>
        </p:nvSpPr>
        <p:spPr>
          <a:xfrm>
            <a:off x="353568" y="1146412"/>
            <a:ext cx="8462886" cy="4899546"/>
          </a:xfrm>
        </p:spPr>
        <p:txBody>
          <a:bodyPr/>
          <a:lstStyle/>
          <a:p>
            <a:pPr marL="609600" indent="-609600"/>
            <a:r>
              <a:rPr lang="en-GB" sz="3200" b="0" smtClean="0"/>
              <a:t>Đạo văn ngày càng bị xã hội lên án</a:t>
            </a:r>
          </a:p>
          <a:p>
            <a:pPr marL="609600" indent="-609600"/>
            <a:r>
              <a:rPr lang="en-GB" sz="3200" b="0" smtClean="0"/>
              <a:t>Đạo văn làm ảnh hưởng đến uy tín của trường và văn bằng do trường cấp </a:t>
            </a:r>
          </a:p>
          <a:p>
            <a:pPr marL="609600" indent="-609600"/>
            <a:r>
              <a:rPr lang="vi-VN" sz="3200" b="0" smtClean="0"/>
              <a:t>Sinh viên cần nhận thức </a:t>
            </a:r>
            <a:r>
              <a:rPr lang="en-GB" sz="3200" b="0" smtClean="0"/>
              <a:t>giá trị đích thực của giáo dục chứ không </a:t>
            </a:r>
            <a:r>
              <a:rPr lang="vi-VN" sz="3200" b="0" smtClean="0"/>
              <a:t>chỉ</a:t>
            </a:r>
            <a:r>
              <a:rPr lang="en-GB" sz="3200" b="0" smtClean="0"/>
              <a:t> học vì bằng cấp </a:t>
            </a:r>
          </a:p>
          <a:p>
            <a:pPr marL="609600" indent="-609600"/>
            <a:r>
              <a:rPr lang="en-GB" sz="3200" b="0" smtClean="0"/>
              <a:t>Sinh viên có thói quen đạo văn sẽ mất khả năng tư duy độc lập và tự học hỏi, do đó sẽ khó thành đạt khi đi làm việc</a:t>
            </a:r>
          </a:p>
          <a:p>
            <a:pPr>
              <a:buNone/>
            </a:pPr>
            <a:endParaRPr lang="vi-VN" sz="3200" b="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11</a:t>
            </a:fld>
            <a:endParaRPr lang="en-US" altLang="ko-K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70976" cy="789296"/>
          </a:xfrm>
        </p:spPr>
        <p:txBody>
          <a:bodyPr/>
          <a:lstStyle/>
          <a:p>
            <a:r>
              <a:rPr lang="vi-VN" smtClean="0"/>
              <a:t>Hành động tại Đại học Hoa Sen </a:t>
            </a:r>
            <a:endParaRPr lang="vi-VN"/>
          </a:p>
        </p:txBody>
      </p:sp>
      <p:sp>
        <p:nvSpPr>
          <p:cNvPr id="3" name="Content Placeholder 2"/>
          <p:cNvSpPr>
            <a:spLocks noGrp="1"/>
          </p:cNvSpPr>
          <p:nvPr>
            <p:ph idx="1"/>
          </p:nvPr>
        </p:nvSpPr>
        <p:spPr>
          <a:xfrm>
            <a:off x="219456" y="1146412"/>
            <a:ext cx="8596998" cy="4899546"/>
          </a:xfrm>
        </p:spPr>
        <p:txBody>
          <a:bodyPr/>
          <a:lstStyle/>
          <a:p>
            <a:r>
              <a:rPr lang="vi-VN" sz="2600" b="0" smtClean="0"/>
              <a:t>Từ 2012, ĐHHS có </a:t>
            </a:r>
            <a:r>
              <a:rPr lang="vi-VN" sz="2600" b="0" smtClean="0">
                <a:solidFill>
                  <a:srgbClr val="C00000"/>
                </a:solidFill>
              </a:rPr>
              <a:t>Quy định về Phòng chống Đạo văn, </a:t>
            </a:r>
            <a:r>
              <a:rPr lang="vi-VN" sz="2600" b="0" smtClean="0"/>
              <a:t>bao gồm hướng dẫn cách thực hiện và hình thức xử lý vi phạm lỗi đạo văn.</a:t>
            </a:r>
          </a:p>
          <a:p>
            <a:r>
              <a:rPr lang="vi-VN" sz="2600" b="0" smtClean="0">
                <a:solidFill>
                  <a:srgbClr val="C00000"/>
                </a:solidFill>
              </a:rPr>
              <a:t>Câu lạc bộ FACE</a:t>
            </a:r>
            <a:r>
              <a:rPr lang="vi-VN" sz="2600" b="0" smtClean="0"/>
              <a:t> </a:t>
            </a:r>
            <a:r>
              <a:rPr lang="vi-VN" sz="2600" b="0" smtClean="0">
                <a:solidFill>
                  <a:srgbClr val="C00000"/>
                </a:solidFill>
              </a:rPr>
              <a:t>(For A Clean Education) </a:t>
            </a:r>
            <a:r>
              <a:rPr lang="vi-VN" sz="2600" b="0" smtClean="0"/>
              <a:t>tổ chức vận động tăng cường nhận thức của GV, SV trong việc  bài trừ nạn đạo văn thông qua các cuộc thi, seminar, diễn đàn,...</a:t>
            </a:r>
          </a:p>
          <a:p>
            <a:r>
              <a:rPr lang="vi-VN" sz="2600" b="0" smtClean="0"/>
              <a:t>Đưa nội dung </a:t>
            </a:r>
            <a:r>
              <a:rPr lang="vi-VN" sz="2600" b="0" smtClean="0">
                <a:solidFill>
                  <a:srgbClr val="C00000"/>
                </a:solidFill>
              </a:rPr>
              <a:t>Hướng dẫn cách phòng chống đạo văn và Lập danh mục tham khảo </a:t>
            </a:r>
            <a:r>
              <a:rPr lang="vi-VN" sz="2600" b="0" smtClean="0"/>
              <a:t>vào chương trình giảng dạy.</a:t>
            </a:r>
          </a:p>
          <a:p>
            <a:r>
              <a:rPr lang="vi-VN" sz="2600" b="0" smtClean="0"/>
              <a:t>Thư viện lập bộ phận tư vấn, hỗ trợ, hướng dẫn phòng chống đạo văn, cung cấp công cụ phát hiện đạo văn</a:t>
            </a:r>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12</a:t>
            </a:fld>
            <a:endParaRPr lang="en-US" altLang="ko-K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12608" cy="789296"/>
          </a:xfrm>
        </p:spPr>
        <p:txBody>
          <a:bodyPr/>
          <a:lstStyle/>
          <a:p>
            <a:r>
              <a:rPr lang="vi-VN" smtClean="0"/>
              <a:t>Phòng tránh đạo văn bằng cách nào?</a:t>
            </a:r>
            <a:endParaRPr lang="vi-VN"/>
          </a:p>
        </p:txBody>
      </p:sp>
      <p:sp>
        <p:nvSpPr>
          <p:cNvPr id="3" name="Content Placeholder 2"/>
          <p:cNvSpPr>
            <a:spLocks noGrp="1"/>
          </p:cNvSpPr>
          <p:nvPr>
            <p:ph idx="1"/>
          </p:nvPr>
        </p:nvSpPr>
        <p:spPr>
          <a:xfrm>
            <a:off x="493776" y="890380"/>
            <a:ext cx="8359254" cy="4899546"/>
          </a:xfrm>
        </p:spPr>
        <p:txBody>
          <a:bodyPr/>
          <a:lstStyle/>
          <a:p>
            <a:pPr>
              <a:buNone/>
            </a:pPr>
            <a:endParaRPr lang="vi-VN" sz="3200" b="0" smtClean="0"/>
          </a:p>
          <a:p>
            <a:pPr>
              <a:buNone/>
            </a:pPr>
            <a:r>
              <a:rPr lang="vi-VN" sz="3200" b="0" smtClean="0"/>
              <a:t>Phải ghi nguồn gốc của tài liệu đã sử dụng!</a:t>
            </a:r>
          </a:p>
          <a:p>
            <a:pPr>
              <a:buNone/>
            </a:pPr>
            <a:endParaRPr lang="vi-VN" sz="3200" smtClean="0"/>
          </a:p>
          <a:p>
            <a:pPr>
              <a:buNone/>
            </a:pPr>
            <a:endParaRPr lang="vi-VN" sz="440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13</a:t>
            </a:fld>
            <a:endParaRPr lang="en-US" altLang="ko-KR"/>
          </a:p>
        </p:txBody>
      </p:sp>
      <p:pic>
        <p:nvPicPr>
          <p:cNvPr id="5" name="Picture 4" descr="http://library.belmont.edu/images/cite1.gif"/>
          <p:cNvPicPr/>
          <p:nvPr/>
        </p:nvPicPr>
        <p:blipFill>
          <a:blip r:embed="rId2" cstate="print"/>
          <a:srcRect/>
          <a:stretch>
            <a:fillRect/>
          </a:stretch>
        </p:blipFill>
        <p:spPr bwMode="auto">
          <a:xfrm>
            <a:off x="3730752" y="2401824"/>
            <a:ext cx="4669536" cy="4102608"/>
          </a:xfrm>
          <a:prstGeom prst="rect">
            <a:avLst/>
          </a:prstGeom>
          <a:noFill/>
          <a:ln w="9525">
            <a:noFill/>
            <a:miter lim="800000"/>
            <a:headEnd/>
            <a:tailEnd/>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Vì sao phải ghi nguồn?</a:t>
            </a:r>
            <a:endParaRPr lang="vi-VN"/>
          </a:p>
        </p:txBody>
      </p:sp>
      <p:sp>
        <p:nvSpPr>
          <p:cNvPr id="3" name="Content Placeholder 2"/>
          <p:cNvSpPr>
            <a:spLocks noGrp="1"/>
          </p:cNvSpPr>
          <p:nvPr>
            <p:ph idx="1"/>
          </p:nvPr>
        </p:nvSpPr>
        <p:spPr/>
        <p:txBody>
          <a:bodyPr/>
          <a:lstStyle/>
          <a:p>
            <a:pPr marL="609600" indent="-609600">
              <a:lnSpc>
                <a:spcPct val="90000"/>
              </a:lnSpc>
              <a:spcAft>
                <a:spcPct val="20000"/>
              </a:spcAft>
            </a:pPr>
            <a:r>
              <a:rPr lang="vi-VN" b="0" smtClean="0"/>
              <a:t>Thể hiện sự tôn trọng tác giả của thông tin được sử dụng</a:t>
            </a:r>
          </a:p>
          <a:p>
            <a:pPr marL="609600" indent="-609600">
              <a:lnSpc>
                <a:spcPct val="90000"/>
              </a:lnSpc>
              <a:spcAft>
                <a:spcPct val="20000"/>
              </a:spcAft>
            </a:pPr>
            <a:r>
              <a:rPr lang="vi-VN" b="0" smtClean="0"/>
              <a:t>Tránh được lỗi đạo văn</a:t>
            </a:r>
          </a:p>
          <a:p>
            <a:pPr marL="609600" indent="-609600">
              <a:lnSpc>
                <a:spcPct val="90000"/>
              </a:lnSpc>
              <a:spcAft>
                <a:spcPct val="20000"/>
              </a:spcAft>
            </a:pPr>
            <a:r>
              <a:rPr lang="vi-VN" b="0" smtClean="0"/>
              <a:t>Giúp người đọc dễ dàng tìm kiếm và truy cập lại các nguồn thông tin đó</a:t>
            </a:r>
          </a:p>
          <a:p>
            <a:pPr marL="609600" indent="-609600">
              <a:lnSpc>
                <a:spcPct val="90000"/>
              </a:lnSpc>
              <a:spcAft>
                <a:spcPct val="20000"/>
              </a:spcAft>
            </a:pPr>
            <a:r>
              <a:rPr lang="vi-VN" b="0" smtClean="0"/>
              <a:t>Nâng cao độ tin cậy, giá trị, và độ sâu rộng của bài viết</a:t>
            </a:r>
            <a:endParaRPr lang="en-US" b="0" smtClean="0"/>
          </a:p>
          <a:p>
            <a:pPr marL="609600" indent="-609600">
              <a:lnSpc>
                <a:spcPct val="90000"/>
              </a:lnSpc>
              <a:spcAft>
                <a:spcPct val="20000"/>
              </a:spcAft>
            </a:pPr>
            <a:r>
              <a:rPr lang="en-US" b="0" smtClean="0"/>
              <a:t>Có 2 cách ghi nguồn:</a:t>
            </a:r>
          </a:p>
          <a:p>
            <a:pPr marL="400050" lvl="1" indent="0"/>
            <a:r>
              <a:rPr lang="en-US" b="0" smtClean="0"/>
              <a:t>   Ghi trích dẫn trong bài (in-text citation)</a:t>
            </a:r>
          </a:p>
          <a:p>
            <a:pPr marL="400050" lvl="1" indent="0"/>
            <a:r>
              <a:rPr lang="en-US" b="0" smtClean="0"/>
              <a:t>   Lập danh mục tham khảo cuối bài (bibliography)</a:t>
            </a:r>
          </a:p>
          <a:p>
            <a:pPr marL="609600" indent="-609600">
              <a:lnSpc>
                <a:spcPct val="90000"/>
              </a:lnSpc>
              <a:spcAft>
                <a:spcPct val="20000"/>
              </a:spcAft>
            </a:pPr>
            <a:endParaRPr lang="en-US" b="0" smtClean="0"/>
          </a:p>
          <a:p>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14</a:t>
            </a:fld>
            <a:endParaRPr lang="en-US" altLang="ko-K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89296"/>
          </a:xfrm>
        </p:spPr>
        <p:txBody>
          <a:bodyPr/>
          <a:lstStyle/>
          <a:p>
            <a:r>
              <a:rPr lang="en-US" smtClean="0"/>
              <a:t>Ghi trích dẫn trong bài</a:t>
            </a:r>
            <a:endParaRPr lang="vi-VN"/>
          </a:p>
        </p:txBody>
      </p:sp>
      <p:sp>
        <p:nvSpPr>
          <p:cNvPr id="3" name="Content Placeholder 2"/>
          <p:cNvSpPr>
            <a:spLocks noGrp="1"/>
          </p:cNvSpPr>
          <p:nvPr>
            <p:ph idx="1"/>
          </p:nvPr>
        </p:nvSpPr>
        <p:spPr/>
        <p:txBody>
          <a:bodyPr/>
          <a:lstStyle/>
          <a:p>
            <a:pPr marL="0" indent="0"/>
            <a:r>
              <a:rPr lang="en-US" b="0" smtClean="0"/>
              <a:t> Trích dẫn là đưa tài liệu của người khác vào bài viết của bạn, nhằm minh họa, chứng minh hay bảo vệ ý kiến của cá nhân (trong đó yếu tố cá nhân là quan trọng)</a:t>
            </a:r>
          </a:p>
          <a:p>
            <a:pPr marL="0" indent="0"/>
            <a:r>
              <a:rPr lang="en-US" b="0" smtClean="0"/>
              <a:t> Khi trích dẫn, phải ghi nguồn trích, tức là tên tác giả của tài liệu đó</a:t>
            </a:r>
          </a:p>
          <a:p>
            <a:pPr marL="0" indent="0">
              <a:buNone/>
            </a:pPr>
            <a:r>
              <a:rPr lang="en-US" b="0" smtClean="0"/>
              <a:t>Có 3 hình thức:</a:t>
            </a:r>
          </a:p>
          <a:p>
            <a:r>
              <a:rPr lang="en-US" b="0" smtClean="0"/>
              <a:t>Trích nguyên văn (quote)</a:t>
            </a:r>
          </a:p>
          <a:p>
            <a:r>
              <a:rPr lang="en-US" b="0" smtClean="0"/>
              <a:t>Dẫn giải lại đoạn văn (paraphrase)</a:t>
            </a:r>
          </a:p>
          <a:p>
            <a:r>
              <a:rPr lang="en-US" b="0" smtClean="0"/>
              <a:t>Tóm tắt ý tưởng (summarise)</a:t>
            </a:r>
          </a:p>
          <a:p>
            <a:pPr marL="0" indent="0">
              <a:buNone/>
            </a:pPr>
            <a:endParaRPr lang="en-US" b="0" smtClean="0">
              <a:solidFill>
                <a:srgbClr val="C00000"/>
              </a:solidFill>
            </a:endParaRPr>
          </a:p>
          <a:p>
            <a:pPr marL="0" indent="0">
              <a:buNone/>
            </a:pPr>
            <a:endParaRPr lang="en-US" b="0" smtClean="0">
              <a:solidFill>
                <a:srgbClr val="C00000"/>
              </a:solidFill>
            </a:endParaRPr>
          </a:p>
          <a:p>
            <a:pPr marL="0" indent="0">
              <a:buNone/>
            </a:pPr>
            <a:endParaRPr lang="en-US" b="0" smtClean="0">
              <a:solidFill>
                <a:srgbClr val="C00000"/>
              </a:solidFill>
            </a:endParaRPr>
          </a:p>
          <a:p>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15</a:t>
            </a:fld>
            <a:endParaRPr lang="en-US" altLang="ko-K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107680" cy="789296"/>
          </a:xfrm>
        </p:spPr>
        <p:txBody>
          <a:bodyPr/>
          <a:lstStyle/>
          <a:p>
            <a:r>
              <a:rPr lang="en-US" smtClean="0"/>
              <a:t>  Trích dẫn nguyên văn </a:t>
            </a:r>
            <a:endParaRPr lang="vi-VN"/>
          </a:p>
        </p:txBody>
      </p:sp>
      <p:sp>
        <p:nvSpPr>
          <p:cNvPr id="3" name="Content Placeholder 2"/>
          <p:cNvSpPr>
            <a:spLocks noGrp="1"/>
          </p:cNvSpPr>
          <p:nvPr>
            <p:ph idx="1"/>
          </p:nvPr>
        </p:nvSpPr>
        <p:spPr>
          <a:xfrm>
            <a:off x="0" y="898218"/>
            <a:ext cx="8851392" cy="5356278"/>
          </a:xfrm>
        </p:spPr>
        <p:txBody>
          <a:bodyPr/>
          <a:lstStyle/>
          <a:p>
            <a:r>
              <a:rPr lang="en-US" b="0" smtClean="0"/>
              <a:t>Là đưa nguyên câu/đoạn văn của người khác vào trong bài viết. Phần sao chép này phải để trong </a:t>
            </a:r>
            <a:r>
              <a:rPr lang="en-US" b="0" err="1" smtClean="0">
                <a:solidFill>
                  <a:srgbClr val="C00000"/>
                </a:solidFill>
              </a:rPr>
              <a:t>ngoặc</a:t>
            </a:r>
            <a:r>
              <a:rPr lang="en-US" b="0" smtClean="0">
                <a:solidFill>
                  <a:srgbClr val="C00000"/>
                </a:solidFill>
              </a:rPr>
              <a:t> kép </a:t>
            </a:r>
            <a:r>
              <a:rPr lang="en-US" smtClean="0">
                <a:solidFill>
                  <a:srgbClr val="C00000"/>
                </a:solidFill>
              </a:rPr>
              <a:t>“ ”</a:t>
            </a:r>
          </a:p>
          <a:p>
            <a:r>
              <a:rPr lang="en-US" b="0" smtClean="0"/>
              <a:t>Đồng </a:t>
            </a:r>
            <a:r>
              <a:rPr lang="en-US" b="0" smtClean="0"/>
              <a:t>thời </a:t>
            </a:r>
            <a:r>
              <a:rPr lang="en-US" b="0" smtClean="0"/>
              <a:t>phải ghi </a:t>
            </a:r>
            <a:r>
              <a:rPr lang="en-US" b="0" smtClean="0">
                <a:solidFill>
                  <a:srgbClr val="C00000"/>
                </a:solidFill>
              </a:rPr>
              <a:t>nguồn trích dẫn </a:t>
            </a:r>
            <a:r>
              <a:rPr lang="en-US" b="0" smtClean="0"/>
              <a:t>ở cuối câu/đoạn văn với các nội dung như sau:</a:t>
            </a:r>
          </a:p>
          <a:p>
            <a:pPr>
              <a:buNone/>
            </a:pPr>
            <a:r>
              <a:rPr lang="en-US" b="0" smtClean="0"/>
              <a:t>       (</a:t>
            </a:r>
            <a:r>
              <a:rPr lang="en-US" smtClean="0"/>
              <a:t>Tác giả Năm XB, số trang</a:t>
            </a:r>
            <a:r>
              <a:rPr lang="en-US" b="0" smtClean="0"/>
              <a:t>)</a:t>
            </a:r>
          </a:p>
          <a:p>
            <a:pPr>
              <a:buNone/>
            </a:pPr>
            <a:r>
              <a:rPr lang="en-US" b="0" smtClean="0"/>
              <a:t>    Ví dụ:</a:t>
            </a:r>
          </a:p>
          <a:p>
            <a:pPr>
              <a:buNone/>
            </a:pPr>
            <a:r>
              <a:rPr lang="en-US" smtClean="0"/>
              <a:t>    ... </a:t>
            </a:r>
            <a:r>
              <a:rPr lang="en-US" b="0" smtClean="0"/>
              <a:t>Không như cách chào hỏi mang tính hình thức của nhiều dân tộc khác, </a:t>
            </a:r>
            <a:r>
              <a:rPr lang="en-US" smtClean="0">
                <a:solidFill>
                  <a:srgbClr val="C00000"/>
                </a:solidFill>
              </a:rPr>
              <a:t>“</a:t>
            </a:r>
            <a:r>
              <a:rPr lang="en-US" b="0" smtClean="0">
                <a:solidFill>
                  <a:srgbClr val="00B050"/>
                </a:solidFill>
              </a:rPr>
              <a:t>người </a:t>
            </a:r>
            <a:r>
              <a:rPr lang="en-US" b="0" err="1" smtClean="0">
                <a:solidFill>
                  <a:srgbClr val="00B050"/>
                </a:solidFill>
              </a:rPr>
              <a:t>Việt</a:t>
            </a:r>
            <a:r>
              <a:rPr lang="en-US" b="0" smtClean="0">
                <a:solidFill>
                  <a:srgbClr val="00B050"/>
                </a:solidFill>
              </a:rPr>
              <a:t> </a:t>
            </a:r>
            <a:r>
              <a:rPr lang="en-US" b="0" err="1" smtClean="0">
                <a:solidFill>
                  <a:srgbClr val="00B050"/>
                </a:solidFill>
              </a:rPr>
              <a:t>phân</a:t>
            </a:r>
            <a:r>
              <a:rPr lang="en-US" b="0" smtClean="0">
                <a:solidFill>
                  <a:srgbClr val="00B050"/>
                </a:solidFill>
              </a:rPr>
              <a:t> </a:t>
            </a:r>
            <a:r>
              <a:rPr lang="en-US" b="0" err="1" smtClean="0">
                <a:solidFill>
                  <a:srgbClr val="00B050"/>
                </a:solidFill>
              </a:rPr>
              <a:t>biệt</a:t>
            </a:r>
            <a:r>
              <a:rPr lang="en-US" b="0" smtClean="0">
                <a:solidFill>
                  <a:srgbClr val="00B050"/>
                </a:solidFill>
              </a:rPr>
              <a:t> </a:t>
            </a:r>
            <a:r>
              <a:rPr lang="en-US" b="0" err="1" smtClean="0">
                <a:solidFill>
                  <a:srgbClr val="00B050"/>
                </a:solidFill>
              </a:rPr>
              <a:t>kỹ</a:t>
            </a:r>
            <a:r>
              <a:rPr lang="en-US" b="0" smtClean="0">
                <a:solidFill>
                  <a:srgbClr val="00B050"/>
                </a:solidFill>
              </a:rPr>
              <a:t> </a:t>
            </a:r>
            <a:r>
              <a:rPr lang="en-US" b="0" err="1" smtClean="0">
                <a:solidFill>
                  <a:srgbClr val="00B050"/>
                </a:solidFill>
              </a:rPr>
              <a:t>các</a:t>
            </a:r>
            <a:r>
              <a:rPr lang="en-US" b="0" smtClean="0">
                <a:solidFill>
                  <a:srgbClr val="00B050"/>
                </a:solidFill>
              </a:rPr>
              <a:t> </a:t>
            </a:r>
            <a:r>
              <a:rPr lang="en-US" b="0" err="1" smtClean="0">
                <a:solidFill>
                  <a:srgbClr val="00B050"/>
                </a:solidFill>
              </a:rPr>
              <a:t>lời</a:t>
            </a:r>
            <a:r>
              <a:rPr lang="en-US" b="0" smtClean="0">
                <a:solidFill>
                  <a:srgbClr val="00B050"/>
                </a:solidFill>
              </a:rPr>
              <a:t> </a:t>
            </a:r>
            <a:r>
              <a:rPr lang="en-US" b="0" err="1" smtClean="0">
                <a:solidFill>
                  <a:srgbClr val="00B050"/>
                </a:solidFill>
              </a:rPr>
              <a:t>chào</a:t>
            </a:r>
            <a:r>
              <a:rPr lang="en-US" b="0" smtClean="0">
                <a:solidFill>
                  <a:srgbClr val="00B050"/>
                </a:solidFill>
              </a:rPr>
              <a:t> </a:t>
            </a:r>
            <a:r>
              <a:rPr lang="en-US" b="0" err="1" smtClean="0">
                <a:solidFill>
                  <a:srgbClr val="00B050"/>
                </a:solidFill>
              </a:rPr>
              <a:t>theo</a:t>
            </a:r>
            <a:r>
              <a:rPr lang="en-US" b="0" smtClean="0">
                <a:solidFill>
                  <a:srgbClr val="00B050"/>
                </a:solidFill>
              </a:rPr>
              <a:t> </a:t>
            </a:r>
            <a:r>
              <a:rPr lang="en-US" b="0" err="1" smtClean="0">
                <a:solidFill>
                  <a:srgbClr val="00B050"/>
                </a:solidFill>
              </a:rPr>
              <a:t>quan</a:t>
            </a:r>
            <a:r>
              <a:rPr lang="en-US" b="0" smtClean="0">
                <a:solidFill>
                  <a:srgbClr val="00B050"/>
                </a:solidFill>
              </a:rPr>
              <a:t> </a:t>
            </a:r>
            <a:r>
              <a:rPr lang="en-US" b="0" err="1" smtClean="0">
                <a:solidFill>
                  <a:srgbClr val="00B050"/>
                </a:solidFill>
              </a:rPr>
              <a:t>hệ</a:t>
            </a:r>
            <a:r>
              <a:rPr lang="en-US" b="0" smtClean="0">
                <a:solidFill>
                  <a:srgbClr val="00B050"/>
                </a:solidFill>
              </a:rPr>
              <a:t> </a:t>
            </a:r>
            <a:r>
              <a:rPr lang="en-US" b="0" err="1" smtClean="0">
                <a:solidFill>
                  <a:srgbClr val="00B050"/>
                </a:solidFill>
              </a:rPr>
              <a:t>xã</a:t>
            </a:r>
            <a:r>
              <a:rPr lang="en-US" b="0" smtClean="0">
                <a:solidFill>
                  <a:srgbClr val="00B050"/>
                </a:solidFill>
              </a:rPr>
              <a:t> </a:t>
            </a:r>
            <a:r>
              <a:rPr lang="en-US" b="0" err="1" smtClean="0">
                <a:solidFill>
                  <a:srgbClr val="00B050"/>
                </a:solidFill>
              </a:rPr>
              <a:t>hội</a:t>
            </a:r>
            <a:r>
              <a:rPr lang="en-US" b="0" smtClean="0">
                <a:solidFill>
                  <a:srgbClr val="00B050"/>
                </a:solidFill>
              </a:rPr>
              <a:t> </a:t>
            </a:r>
            <a:r>
              <a:rPr lang="en-US" b="0" err="1" smtClean="0">
                <a:solidFill>
                  <a:srgbClr val="00B050"/>
                </a:solidFill>
              </a:rPr>
              <a:t>và</a:t>
            </a:r>
            <a:r>
              <a:rPr lang="en-US" b="0" smtClean="0">
                <a:solidFill>
                  <a:srgbClr val="00B050"/>
                </a:solidFill>
              </a:rPr>
              <a:t> </a:t>
            </a:r>
            <a:r>
              <a:rPr lang="en-US" b="0" err="1" smtClean="0">
                <a:solidFill>
                  <a:srgbClr val="00B050"/>
                </a:solidFill>
              </a:rPr>
              <a:t>theo</a:t>
            </a:r>
            <a:r>
              <a:rPr lang="en-US" b="0" smtClean="0">
                <a:solidFill>
                  <a:srgbClr val="00B050"/>
                </a:solidFill>
              </a:rPr>
              <a:t> </a:t>
            </a:r>
            <a:r>
              <a:rPr lang="en-US" b="0" err="1" smtClean="0">
                <a:solidFill>
                  <a:srgbClr val="00B050"/>
                </a:solidFill>
              </a:rPr>
              <a:t>sắc</a:t>
            </a:r>
            <a:r>
              <a:rPr lang="en-US" b="0" smtClean="0">
                <a:solidFill>
                  <a:srgbClr val="00B050"/>
                </a:solidFill>
              </a:rPr>
              <a:t> </a:t>
            </a:r>
            <a:r>
              <a:rPr lang="en-US" b="0" err="1" smtClean="0">
                <a:solidFill>
                  <a:srgbClr val="00B050"/>
                </a:solidFill>
              </a:rPr>
              <a:t>thái</a:t>
            </a:r>
            <a:r>
              <a:rPr lang="en-US" b="0" smtClean="0">
                <a:solidFill>
                  <a:srgbClr val="00B050"/>
                </a:solidFill>
              </a:rPr>
              <a:t> </a:t>
            </a:r>
            <a:r>
              <a:rPr lang="en-US" b="0" err="1" smtClean="0">
                <a:solidFill>
                  <a:srgbClr val="00B050"/>
                </a:solidFill>
              </a:rPr>
              <a:t>tình</a:t>
            </a:r>
            <a:r>
              <a:rPr lang="en-US" b="0" smtClean="0">
                <a:solidFill>
                  <a:srgbClr val="00B050"/>
                </a:solidFill>
              </a:rPr>
              <a:t> cảm</a:t>
            </a:r>
            <a:r>
              <a:rPr lang="en-US" smtClean="0">
                <a:solidFill>
                  <a:srgbClr val="C00000"/>
                </a:solidFill>
              </a:rPr>
              <a:t>”</a:t>
            </a:r>
            <a:r>
              <a:rPr lang="en-US" b="0" smtClean="0">
                <a:solidFill>
                  <a:srgbClr val="00B050"/>
                </a:solidFill>
              </a:rPr>
              <a:t> </a:t>
            </a:r>
            <a:r>
              <a:rPr lang="en-US" b="0" smtClean="0"/>
              <a:t>(</a:t>
            </a:r>
            <a:r>
              <a:rPr lang="en-US" err="1" smtClean="0"/>
              <a:t>Trần</a:t>
            </a:r>
            <a:r>
              <a:rPr lang="en-US" smtClean="0"/>
              <a:t> </a:t>
            </a:r>
            <a:r>
              <a:rPr lang="en-US" err="1" smtClean="0"/>
              <a:t>Ngọc</a:t>
            </a:r>
            <a:r>
              <a:rPr lang="en-US" smtClean="0"/>
              <a:t> Thêm 1998, 67</a:t>
            </a:r>
            <a:r>
              <a:rPr lang="en-US" b="0" smtClean="0"/>
              <a:t>)</a:t>
            </a:r>
          </a:p>
          <a:p>
            <a:pPr>
              <a:buNone/>
            </a:pPr>
            <a:endParaRPr lang="en-US" smtClean="0">
              <a:solidFill>
                <a:srgbClr val="00B050"/>
              </a:solidFill>
            </a:endParaRPr>
          </a:p>
          <a:p>
            <a:pPr>
              <a:buNone/>
            </a:pPr>
            <a:r>
              <a:rPr lang="en-US" b="0" smtClean="0">
                <a:solidFill>
                  <a:srgbClr val="0070C0"/>
                </a:solidFill>
              </a:rPr>
              <a:t>    </a:t>
            </a:r>
            <a:endParaRPr lang="en-US" smtClean="0">
              <a:solidFill>
                <a:srgbClr val="00B050"/>
              </a:solidFill>
            </a:endParaRPr>
          </a:p>
          <a:p>
            <a:pPr>
              <a:buNone/>
            </a:pPr>
            <a:r>
              <a:rPr lang="en-US" smtClean="0">
                <a:solidFill>
                  <a:srgbClr val="00B050"/>
                </a:solidFill>
              </a:rPr>
              <a:t>	</a:t>
            </a:r>
            <a:r>
              <a:rPr lang="en-US" smtClean="0">
                <a:solidFill>
                  <a:srgbClr val="C00000"/>
                </a:solidFill>
              </a:rPr>
              <a:t>	</a:t>
            </a:r>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16</a:t>
            </a:fld>
            <a:endParaRPr lang="en-US" altLang="ko-K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Dẫn</a:t>
            </a:r>
            <a:r>
              <a:rPr lang="en-US"/>
              <a:t> </a:t>
            </a:r>
            <a:r>
              <a:rPr lang="en-US" err="1" smtClean="0"/>
              <a:t>giải</a:t>
            </a:r>
            <a:r>
              <a:rPr lang="en-US" smtClean="0"/>
              <a:t> </a:t>
            </a:r>
            <a:r>
              <a:rPr lang="en-US" err="1"/>
              <a:t>lại</a:t>
            </a:r>
            <a:r>
              <a:rPr lang="en-US"/>
              <a:t> </a:t>
            </a:r>
            <a:r>
              <a:rPr lang="en-US" err="1"/>
              <a:t>đoạn</a:t>
            </a:r>
            <a:r>
              <a:rPr lang="en-US"/>
              <a:t> </a:t>
            </a:r>
            <a:r>
              <a:rPr lang="en-US" err="1" smtClean="0"/>
              <a:t>văn</a:t>
            </a:r>
            <a:endParaRPr lang="vi-VN"/>
          </a:p>
        </p:txBody>
      </p:sp>
      <p:sp>
        <p:nvSpPr>
          <p:cNvPr id="3" name="Content Placeholder 2"/>
          <p:cNvSpPr>
            <a:spLocks noGrp="1"/>
          </p:cNvSpPr>
          <p:nvPr>
            <p:ph idx="1"/>
          </p:nvPr>
        </p:nvSpPr>
        <p:spPr/>
        <p:txBody>
          <a:bodyPr/>
          <a:lstStyle/>
          <a:p>
            <a:r>
              <a:rPr lang="en-US" b="0" smtClean="0"/>
              <a:t>Là viết lại thông tin hoặc ý tưởng của người khác theo từ ngữ của bạn, đồng thời </a:t>
            </a:r>
            <a:r>
              <a:rPr lang="en-US" b="0" smtClean="0">
                <a:solidFill>
                  <a:srgbClr val="C00000"/>
                </a:solidFill>
              </a:rPr>
              <a:t>nêu nguồn gốc của đoạn văn đã dẫn giải</a:t>
            </a:r>
            <a:r>
              <a:rPr lang="en-US" b="0" smtClean="0"/>
              <a:t>.</a:t>
            </a:r>
            <a:endParaRPr lang="vi-VN" b="0" smtClean="0"/>
          </a:p>
          <a:p>
            <a:r>
              <a:rPr lang="en-US" b="0" smtClean="0"/>
              <a:t>Câu dẫn giải </a:t>
            </a:r>
            <a:r>
              <a:rPr lang="en-US" b="0" smtClean="0">
                <a:solidFill>
                  <a:srgbClr val="C00000"/>
                </a:solidFill>
              </a:rPr>
              <a:t>không cần đưa vào ngoặc kép</a:t>
            </a:r>
            <a:r>
              <a:rPr lang="en-US" b="0" smtClean="0"/>
              <a:t>.</a:t>
            </a:r>
            <a:endParaRPr lang="vi-VN" b="0" smtClean="0"/>
          </a:p>
          <a:p>
            <a:r>
              <a:rPr lang="en-US" b="0" smtClean="0"/>
              <a:t>Cẩn </a:t>
            </a:r>
            <a:r>
              <a:rPr lang="en-US" b="0" err="1" smtClean="0"/>
              <a:t>thận</a:t>
            </a:r>
            <a:r>
              <a:rPr lang="en-US" b="0" smtClean="0"/>
              <a:t> </a:t>
            </a:r>
            <a:r>
              <a:rPr lang="en-US" b="0" err="1" smtClean="0"/>
              <a:t>khi</a:t>
            </a:r>
            <a:r>
              <a:rPr lang="en-US" b="0" smtClean="0"/>
              <a:t> </a:t>
            </a:r>
            <a:r>
              <a:rPr lang="en-US" b="0" err="1" smtClean="0"/>
              <a:t>dẫn</a:t>
            </a:r>
            <a:r>
              <a:rPr lang="en-US" b="0" smtClean="0"/>
              <a:t> giải, nếu sử dụng </a:t>
            </a:r>
            <a:r>
              <a:rPr lang="en-US" b="0" err="1" smtClean="0"/>
              <a:t>lại</a:t>
            </a:r>
            <a:r>
              <a:rPr lang="en-US" b="0" smtClean="0"/>
              <a:t> hầu hết </a:t>
            </a:r>
            <a:r>
              <a:rPr lang="en-US" b="0" err="1" smtClean="0"/>
              <a:t>từ</a:t>
            </a:r>
            <a:r>
              <a:rPr lang="en-US" b="0" smtClean="0"/>
              <a:t> </a:t>
            </a:r>
            <a:r>
              <a:rPr lang="en-US" b="0" err="1" smtClean="0"/>
              <a:t>ngữ</a:t>
            </a:r>
            <a:r>
              <a:rPr lang="en-US" b="0" smtClean="0"/>
              <a:t> </a:t>
            </a:r>
            <a:r>
              <a:rPr lang="en-US" b="0" err="1" smtClean="0"/>
              <a:t>hoặc</a:t>
            </a:r>
            <a:r>
              <a:rPr lang="en-US" b="0" smtClean="0"/>
              <a:t> </a:t>
            </a:r>
            <a:r>
              <a:rPr lang="en-US" b="0" err="1" smtClean="0"/>
              <a:t>cấu</a:t>
            </a:r>
            <a:r>
              <a:rPr lang="en-US" b="0" smtClean="0"/>
              <a:t> </a:t>
            </a:r>
            <a:r>
              <a:rPr lang="en-US" b="0" err="1" smtClean="0"/>
              <a:t>trúc</a:t>
            </a:r>
            <a:r>
              <a:rPr lang="en-US" b="0" smtClean="0"/>
              <a:t> </a:t>
            </a:r>
            <a:r>
              <a:rPr lang="en-US" b="0" err="1" smtClean="0"/>
              <a:t>câu</a:t>
            </a:r>
            <a:r>
              <a:rPr lang="en-US" b="0" smtClean="0"/>
              <a:t> </a:t>
            </a:r>
            <a:r>
              <a:rPr lang="en-US" b="0" err="1" smtClean="0"/>
              <a:t>của</a:t>
            </a:r>
            <a:r>
              <a:rPr lang="en-US" b="0" smtClean="0"/>
              <a:t> </a:t>
            </a:r>
            <a:r>
              <a:rPr lang="en-US" b="0" err="1" smtClean="0"/>
              <a:t>đoạn</a:t>
            </a:r>
            <a:r>
              <a:rPr lang="en-US" b="0" smtClean="0"/>
              <a:t> </a:t>
            </a:r>
            <a:r>
              <a:rPr lang="en-US" b="0" err="1" smtClean="0"/>
              <a:t>văn</a:t>
            </a:r>
            <a:r>
              <a:rPr lang="en-US" b="0" smtClean="0"/>
              <a:t> gốc mà chỉ </a:t>
            </a:r>
            <a:r>
              <a:rPr lang="en-US" b="0" err="1" smtClean="0"/>
              <a:t>chỉnh</a:t>
            </a:r>
            <a:r>
              <a:rPr lang="en-US" b="0" smtClean="0"/>
              <a:t> </a:t>
            </a:r>
            <a:r>
              <a:rPr lang="en-US" b="0" err="1" smtClean="0"/>
              <a:t>sửa</a:t>
            </a:r>
            <a:r>
              <a:rPr lang="en-US" b="0" smtClean="0"/>
              <a:t>, </a:t>
            </a:r>
            <a:r>
              <a:rPr lang="en-US" b="0" err="1" smtClean="0"/>
              <a:t>thay</a:t>
            </a:r>
            <a:r>
              <a:rPr lang="en-US" b="0" smtClean="0"/>
              <a:t> </a:t>
            </a:r>
            <a:r>
              <a:rPr lang="en-US" b="0" err="1" smtClean="0"/>
              <a:t>đổi</a:t>
            </a:r>
            <a:r>
              <a:rPr lang="en-US" b="0" smtClean="0"/>
              <a:t> </a:t>
            </a:r>
            <a:r>
              <a:rPr lang="en-US" b="0" err="1" smtClean="0"/>
              <a:t>thứ</a:t>
            </a:r>
            <a:r>
              <a:rPr lang="en-US" b="0" smtClean="0"/>
              <a:t> </a:t>
            </a:r>
            <a:r>
              <a:rPr lang="en-US" b="0" err="1" smtClean="0"/>
              <a:t>tự</a:t>
            </a:r>
            <a:r>
              <a:rPr lang="en-US" b="0" smtClean="0"/>
              <a:t> </a:t>
            </a:r>
            <a:r>
              <a:rPr lang="en-US" b="0" err="1" smtClean="0"/>
              <a:t>lại</a:t>
            </a:r>
            <a:r>
              <a:rPr lang="en-US" b="0" smtClean="0"/>
              <a:t> </a:t>
            </a:r>
            <a:r>
              <a:rPr lang="en-US" b="0" err="1" smtClean="0"/>
              <a:t>một</a:t>
            </a:r>
            <a:r>
              <a:rPr lang="en-US" b="0" smtClean="0"/>
              <a:t> </a:t>
            </a:r>
            <a:r>
              <a:rPr lang="en-US" b="0" err="1" smtClean="0"/>
              <a:t>ít</a:t>
            </a:r>
            <a:r>
              <a:rPr lang="en-US" b="0" smtClean="0"/>
              <a:t>, </a:t>
            </a:r>
            <a:r>
              <a:rPr lang="en-US" b="0" err="1" smtClean="0"/>
              <a:t>thì</a:t>
            </a:r>
            <a:r>
              <a:rPr lang="en-US" b="0" smtClean="0"/>
              <a:t> </a:t>
            </a:r>
            <a:r>
              <a:rPr lang="en-US" b="0" err="1" smtClean="0"/>
              <a:t>vẫn</a:t>
            </a:r>
            <a:r>
              <a:rPr lang="en-US" b="0" smtClean="0"/>
              <a:t> bị xem là </a:t>
            </a:r>
            <a:r>
              <a:rPr lang="en-US" b="0" err="1" smtClean="0"/>
              <a:t>đạo</a:t>
            </a:r>
            <a:r>
              <a:rPr lang="en-US" b="0" smtClean="0"/>
              <a:t> </a:t>
            </a:r>
            <a:r>
              <a:rPr lang="en-US" b="0" err="1" smtClean="0"/>
              <a:t>văn</a:t>
            </a:r>
            <a:r>
              <a:rPr lang="en-US" b="0" smtClean="0"/>
              <a:t>. </a:t>
            </a:r>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17</a:t>
            </a:fld>
            <a:endParaRPr lang="en-US" altLang="ko-KR"/>
          </a:p>
        </p:txBody>
      </p:sp>
    </p:spTree>
    <p:extLst>
      <p:ext uri="{BB962C8B-B14F-4D97-AF65-F5344CB8AC3E}">
        <p14:creationId xmlns="" xmlns:p14="http://schemas.microsoft.com/office/powerpoint/2010/main" val="83845615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  </a:t>
            </a:r>
            <a:endParaRPr lang="vi-VN"/>
          </a:p>
        </p:txBody>
      </p:sp>
      <p:sp>
        <p:nvSpPr>
          <p:cNvPr id="3" name="Content Placeholder 2"/>
          <p:cNvSpPr>
            <a:spLocks noGrp="1"/>
          </p:cNvSpPr>
          <p:nvPr>
            <p:ph idx="1"/>
          </p:nvPr>
        </p:nvSpPr>
        <p:spPr/>
        <p:txBody>
          <a:bodyPr/>
          <a:lstStyle/>
          <a:p>
            <a:r>
              <a:rPr lang="en-US" b="0" smtClean="0"/>
              <a:t>Từ câu:</a:t>
            </a:r>
            <a:endParaRPr lang="en-US" sz="2400" b="0" smtClean="0"/>
          </a:p>
          <a:p>
            <a:pPr>
              <a:buNone/>
            </a:pPr>
            <a:r>
              <a:rPr lang="en-US" smtClean="0"/>
              <a:t>	</a:t>
            </a:r>
            <a:r>
              <a:rPr lang="en-US" smtClean="0">
                <a:solidFill>
                  <a:srgbClr val="C00000"/>
                </a:solidFill>
              </a:rPr>
              <a:t> </a:t>
            </a:r>
            <a:r>
              <a:rPr lang="en-US" b="0" smtClean="0">
                <a:solidFill>
                  <a:srgbClr val="00B050"/>
                </a:solidFill>
              </a:rPr>
              <a:t>“người Việt phân biệt kỹ các lời chào theo quan hệ xã hội và theo sắc thái tình cảm” </a:t>
            </a:r>
          </a:p>
          <a:p>
            <a:r>
              <a:rPr lang="en-US" b="0" smtClean="0">
                <a:solidFill>
                  <a:schemeClr val="accent2">
                    <a:lumMod val="50000"/>
                  </a:schemeClr>
                </a:solidFill>
              </a:rPr>
              <a:t>Dẫn giải lại:</a:t>
            </a:r>
          </a:p>
          <a:p>
            <a:pPr>
              <a:buNone/>
            </a:pPr>
            <a:r>
              <a:rPr lang="en-US" b="0" smtClean="0">
                <a:solidFill>
                  <a:srgbClr val="00B050"/>
                </a:solidFill>
              </a:rPr>
              <a:t>   Người </a:t>
            </a:r>
            <a:r>
              <a:rPr lang="en-US" b="0" err="1" smtClean="0">
                <a:solidFill>
                  <a:srgbClr val="00B050"/>
                </a:solidFill>
              </a:rPr>
              <a:t>Việt</a:t>
            </a:r>
            <a:r>
              <a:rPr lang="en-US" b="0" smtClean="0">
                <a:solidFill>
                  <a:srgbClr val="00B050"/>
                </a:solidFill>
              </a:rPr>
              <a:t> có những cách </a:t>
            </a:r>
            <a:r>
              <a:rPr lang="en-US" b="0" err="1" smtClean="0">
                <a:solidFill>
                  <a:srgbClr val="00B050"/>
                </a:solidFill>
              </a:rPr>
              <a:t>chào</a:t>
            </a:r>
            <a:r>
              <a:rPr lang="en-US" b="0" smtClean="0">
                <a:solidFill>
                  <a:srgbClr val="00B050"/>
                </a:solidFill>
              </a:rPr>
              <a:t> khác nhau tùy vào mối quan </a:t>
            </a:r>
            <a:r>
              <a:rPr lang="en-US" b="0" err="1" smtClean="0">
                <a:solidFill>
                  <a:srgbClr val="00B050"/>
                </a:solidFill>
              </a:rPr>
              <a:t>hệ</a:t>
            </a:r>
            <a:r>
              <a:rPr lang="en-US" b="0" smtClean="0">
                <a:solidFill>
                  <a:srgbClr val="00B050"/>
                </a:solidFill>
              </a:rPr>
              <a:t> </a:t>
            </a:r>
            <a:r>
              <a:rPr lang="en-US" b="0" err="1" smtClean="0">
                <a:solidFill>
                  <a:srgbClr val="00B050"/>
                </a:solidFill>
              </a:rPr>
              <a:t>hoặc</a:t>
            </a:r>
            <a:r>
              <a:rPr lang="en-US" b="0" smtClean="0">
                <a:solidFill>
                  <a:srgbClr val="00B050"/>
                </a:solidFill>
              </a:rPr>
              <a:t> </a:t>
            </a:r>
            <a:r>
              <a:rPr lang="en-US" b="0" err="1" smtClean="0">
                <a:solidFill>
                  <a:srgbClr val="00B050"/>
                </a:solidFill>
              </a:rPr>
              <a:t>tình</a:t>
            </a:r>
            <a:r>
              <a:rPr lang="en-US" b="0" smtClean="0">
                <a:solidFill>
                  <a:srgbClr val="00B050"/>
                </a:solidFill>
              </a:rPr>
              <a:t> </a:t>
            </a:r>
            <a:r>
              <a:rPr lang="en-US" b="0" err="1" smtClean="0">
                <a:solidFill>
                  <a:srgbClr val="00B050"/>
                </a:solidFill>
              </a:rPr>
              <a:t>cảm</a:t>
            </a:r>
            <a:r>
              <a:rPr lang="en-US" b="0" smtClean="0">
                <a:solidFill>
                  <a:srgbClr val="00B050"/>
                </a:solidFill>
              </a:rPr>
              <a:t> giữa người chào và người được chào </a:t>
            </a:r>
            <a:r>
              <a:rPr lang="en-US" b="0" smtClean="0"/>
              <a:t>(Trần Ngọc Thêm 1998, 67)</a:t>
            </a:r>
          </a:p>
          <a:p>
            <a:pPr>
              <a:buNone/>
            </a:pPr>
            <a:endParaRPr lang="en-US" smtClean="0">
              <a:solidFill>
                <a:srgbClr val="00B050"/>
              </a:solidFill>
            </a:endParaRPr>
          </a:p>
          <a:p>
            <a:pPr>
              <a:buNone/>
            </a:pPr>
            <a:r>
              <a:rPr lang="en-US">
                <a:solidFill>
                  <a:srgbClr val="00B050"/>
                </a:solidFill>
              </a:rPr>
              <a:t>	</a:t>
            </a:r>
            <a:r>
              <a:rPr lang="en-US" smtClean="0">
                <a:solidFill>
                  <a:srgbClr val="C00000"/>
                </a:solidFill>
              </a:rPr>
              <a:t>	</a:t>
            </a:r>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18</a:t>
            </a:fld>
            <a:endParaRPr lang="en-US" altLang="ko-KR"/>
          </a:p>
        </p:txBody>
      </p:sp>
      <p:sp>
        <p:nvSpPr>
          <p:cNvPr id="8" name="Rectangle 7"/>
          <p:cNvSpPr/>
          <p:nvPr/>
        </p:nvSpPr>
        <p:spPr>
          <a:xfrm>
            <a:off x="0" y="179162"/>
            <a:ext cx="4257897" cy="584775"/>
          </a:xfrm>
          <a:prstGeom prst="rect">
            <a:avLst/>
          </a:prstGeom>
        </p:spPr>
        <p:txBody>
          <a:bodyPr wrap="none">
            <a:spAutoFit/>
          </a:bodyPr>
          <a:lstStyle/>
          <a:p>
            <a:r>
              <a:rPr lang="en-US" sz="3200" b="1" smtClean="0">
                <a:solidFill>
                  <a:schemeClr val="bg1"/>
                </a:solidFill>
                <a:latin typeface="Arial" pitchFamily="34" charset="0"/>
                <a:cs typeface="Arial" pitchFamily="34" charset="0"/>
              </a:rPr>
              <a:t>Dẫn giải lại đoạn văn</a:t>
            </a:r>
            <a:endParaRPr lang="vi-VN" sz="3200" b="1">
              <a:solidFill>
                <a:schemeClr val="bg1"/>
              </a:solidFill>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Tóm tắt ý tưởng</a:t>
            </a:r>
            <a:endParaRPr lang="vi-VN"/>
          </a:p>
        </p:txBody>
      </p:sp>
      <p:sp>
        <p:nvSpPr>
          <p:cNvPr id="3" name="Content Placeholder 2"/>
          <p:cNvSpPr>
            <a:spLocks noGrp="1"/>
          </p:cNvSpPr>
          <p:nvPr>
            <p:ph idx="1"/>
          </p:nvPr>
        </p:nvSpPr>
        <p:spPr/>
        <p:txBody>
          <a:bodyPr/>
          <a:lstStyle/>
          <a:p>
            <a:r>
              <a:rPr lang="en-US" b="0" smtClean="0"/>
              <a:t>Là diễn tả lại ý tưởng của đoạn văn gốc thành câu ngắn gọn hơn</a:t>
            </a:r>
          </a:p>
          <a:p>
            <a:r>
              <a:rPr lang="en-US" b="0" smtClean="0"/>
              <a:t>Khi </a:t>
            </a:r>
            <a:r>
              <a:rPr lang="en-US" b="0" err="1"/>
              <a:t>trình</a:t>
            </a:r>
            <a:r>
              <a:rPr lang="en-US" b="0"/>
              <a:t> </a:t>
            </a:r>
            <a:r>
              <a:rPr lang="en-US" b="0" err="1"/>
              <a:t>bày</a:t>
            </a:r>
            <a:r>
              <a:rPr lang="en-US" b="0" smtClean="0"/>
              <a:t> ý </a:t>
            </a:r>
            <a:r>
              <a:rPr lang="en-US" b="0" err="1" smtClean="0"/>
              <a:t>tưởng</a:t>
            </a:r>
            <a:r>
              <a:rPr lang="en-US" b="0" smtClean="0"/>
              <a:t> </a:t>
            </a:r>
            <a:r>
              <a:rPr lang="en-US" b="0" err="1" smtClean="0"/>
              <a:t>của</a:t>
            </a:r>
            <a:r>
              <a:rPr lang="en-US" b="0" smtClean="0"/>
              <a:t> </a:t>
            </a:r>
            <a:r>
              <a:rPr lang="en-US" b="0" err="1" smtClean="0"/>
              <a:t>người</a:t>
            </a:r>
            <a:r>
              <a:rPr lang="en-US" b="0" smtClean="0"/>
              <a:t> </a:t>
            </a:r>
            <a:r>
              <a:rPr lang="en-US" b="0" err="1" smtClean="0"/>
              <a:t>khác</a:t>
            </a:r>
            <a:r>
              <a:rPr lang="en-US" b="0" smtClean="0"/>
              <a:t>, </a:t>
            </a:r>
            <a:r>
              <a:rPr lang="en-US" b="0" smtClean="0">
                <a:solidFill>
                  <a:srgbClr val="C00000"/>
                </a:solidFill>
              </a:rPr>
              <a:t>vẫn phải </a:t>
            </a:r>
            <a:r>
              <a:rPr lang="en-US" b="0" err="1" smtClean="0">
                <a:solidFill>
                  <a:srgbClr val="C00000"/>
                </a:solidFill>
              </a:rPr>
              <a:t>nêu</a:t>
            </a:r>
            <a:r>
              <a:rPr lang="en-US" b="0" smtClean="0">
                <a:solidFill>
                  <a:srgbClr val="C00000"/>
                </a:solidFill>
              </a:rPr>
              <a:t> tên tác giả</a:t>
            </a:r>
            <a:r>
              <a:rPr lang="en-US" b="0" smtClean="0"/>
              <a:t>, </a:t>
            </a:r>
            <a:r>
              <a:rPr lang="en-US" b="0" err="1" smtClean="0"/>
              <a:t>nếu</a:t>
            </a:r>
            <a:r>
              <a:rPr lang="en-US" b="0" smtClean="0"/>
              <a:t> </a:t>
            </a:r>
            <a:r>
              <a:rPr lang="en-US" b="0" err="1" smtClean="0"/>
              <a:t>không</a:t>
            </a:r>
            <a:r>
              <a:rPr lang="en-US" b="0" smtClean="0"/>
              <a:t> </a:t>
            </a:r>
            <a:r>
              <a:rPr lang="en-US" b="0" err="1" smtClean="0"/>
              <a:t>cũng</a:t>
            </a:r>
            <a:r>
              <a:rPr lang="en-US" b="0" smtClean="0"/>
              <a:t> </a:t>
            </a:r>
            <a:r>
              <a:rPr lang="en-US" b="0" err="1" smtClean="0"/>
              <a:t>bị</a:t>
            </a:r>
            <a:r>
              <a:rPr lang="en-US" b="0" smtClean="0"/>
              <a:t> </a:t>
            </a:r>
            <a:r>
              <a:rPr lang="en-US" b="0" err="1" smtClean="0"/>
              <a:t>xem</a:t>
            </a:r>
            <a:r>
              <a:rPr lang="en-US" b="0" smtClean="0"/>
              <a:t> </a:t>
            </a:r>
            <a:r>
              <a:rPr lang="en-US" b="0" err="1" smtClean="0"/>
              <a:t>là</a:t>
            </a:r>
            <a:r>
              <a:rPr lang="en-US" b="0" smtClean="0"/>
              <a:t> </a:t>
            </a:r>
            <a:r>
              <a:rPr lang="en-US" b="0" err="1" smtClean="0"/>
              <a:t>đạo</a:t>
            </a:r>
            <a:r>
              <a:rPr lang="en-US" b="0" smtClean="0"/>
              <a:t> </a:t>
            </a:r>
            <a:r>
              <a:rPr lang="en-US" b="0" err="1" smtClean="0"/>
              <a:t>văn</a:t>
            </a:r>
            <a:r>
              <a:rPr lang="en-US" b="0" smtClean="0"/>
              <a:t>. </a:t>
            </a:r>
          </a:p>
          <a:p>
            <a:r>
              <a:rPr lang="en-US" b="0" smtClean="0"/>
              <a:t>Một số cụm từ thường dùng khi trích dẫn:</a:t>
            </a:r>
            <a:endParaRPr lang="vi-VN" b="0" smtClean="0"/>
          </a:p>
          <a:p>
            <a:pPr>
              <a:buNone/>
            </a:pPr>
            <a:r>
              <a:rPr lang="en-US" b="0" smtClean="0"/>
              <a:t>       • X phát biểu/nêu rõ rằng… </a:t>
            </a:r>
            <a:endParaRPr lang="vi-VN" b="0" smtClean="0"/>
          </a:p>
          <a:p>
            <a:pPr>
              <a:buNone/>
            </a:pPr>
            <a:r>
              <a:rPr lang="en-US" b="0" smtClean="0"/>
              <a:t>       • X chỉ ra rằng … </a:t>
            </a:r>
            <a:endParaRPr lang="vi-VN" b="0" smtClean="0"/>
          </a:p>
          <a:p>
            <a:pPr>
              <a:buNone/>
            </a:pPr>
            <a:r>
              <a:rPr lang="en-US" b="0" smtClean="0"/>
              <a:t>       • X lưu ý … </a:t>
            </a:r>
            <a:endParaRPr lang="vi-VN" b="0" smtClean="0"/>
          </a:p>
          <a:p>
            <a:pPr>
              <a:buNone/>
            </a:pPr>
            <a:r>
              <a:rPr lang="en-US" b="0" smtClean="0"/>
              <a:t>       • Theo X…</a:t>
            </a:r>
            <a:endParaRPr lang="vi-VN" b="0" smtClean="0"/>
          </a:p>
          <a:p>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19</a:t>
            </a:fld>
            <a:endParaRPr lang="en-US" altLang="ko-KR"/>
          </a:p>
        </p:txBody>
      </p:sp>
    </p:spTree>
    <p:extLst>
      <p:ext uri="{BB962C8B-B14F-4D97-AF65-F5344CB8AC3E}">
        <p14:creationId xmlns="" xmlns:p14="http://schemas.microsoft.com/office/powerpoint/2010/main" val="157230379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543110" cy="789296"/>
          </a:xfrm>
        </p:spPr>
        <p:txBody>
          <a:bodyPr/>
          <a:lstStyle/>
          <a:p>
            <a:r>
              <a:rPr lang="en-US" smtClean="0"/>
              <a:t>Lập </a:t>
            </a:r>
            <a:r>
              <a:rPr lang="en-US" err="1" smtClean="0"/>
              <a:t>danh</a:t>
            </a:r>
            <a:r>
              <a:rPr lang="en-US" smtClean="0"/>
              <a:t> mục tham khảo</a:t>
            </a:r>
            <a:endParaRPr lang="vi-VN"/>
          </a:p>
        </p:txBody>
      </p:sp>
      <p:sp>
        <p:nvSpPr>
          <p:cNvPr id="3" name="Content Placeholder 2"/>
          <p:cNvSpPr>
            <a:spLocks noGrp="1"/>
          </p:cNvSpPr>
          <p:nvPr>
            <p:ph idx="1"/>
          </p:nvPr>
        </p:nvSpPr>
        <p:spPr>
          <a:xfrm>
            <a:off x="256032" y="890380"/>
            <a:ext cx="8278368" cy="4899546"/>
          </a:xfrm>
        </p:spPr>
        <p:txBody>
          <a:bodyPr/>
          <a:lstStyle/>
          <a:p>
            <a:r>
              <a:rPr lang="en-US" b="0" smtClean="0"/>
              <a:t>Danh mục là danh sách các tài liệu đã sử dụng trong bài viết. Danh mục thường nằm ở cuối bài viết.</a:t>
            </a:r>
          </a:p>
          <a:p>
            <a:r>
              <a:rPr lang="en-US" b="0" smtClean="0"/>
              <a:t>Thông tin trong danh mục bao gồm: </a:t>
            </a:r>
            <a:r>
              <a:rPr lang="en-US" b="0" smtClean="0">
                <a:solidFill>
                  <a:srgbClr val="C00000"/>
                </a:solidFill>
              </a:rPr>
              <a:t>tựa đề, tác giả, nơi xuất bản, năm xuất bản.</a:t>
            </a:r>
          </a:p>
          <a:p>
            <a:pPr marL="342900" lvl="1" indent="-342900">
              <a:buClr>
                <a:schemeClr val="tx1"/>
              </a:buClr>
              <a:buSzTx/>
              <a:buFont typeface="Wingdings" pitchFamily="2" charset="2"/>
              <a:buChar char="v"/>
            </a:pPr>
            <a:r>
              <a:rPr lang="en-US" sz="2800" smtClean="0">
                <a:solidFill>
                  <a:schemeClr val="accent1"/>
                </a:solidFill>
              </a:rPr>
              <a:t>Danh mục phải tuân theo những quy định về thứ tự, dấu chấm, phẩy...</a:t>
            </a:r>
            <a:endParaRPr lang="en-US" b="0" smtClean="0"/>
          </a:p>
          <a:p>
            <a:pPr lvl="1">
              <a:buNone/>
            </a:pPr>
            <a:r>
              <a:rPr lang="en-US" sz="2800" smtClean="0">
                <a:solidFill>
                  <a:schemeClr val="accent1"/>
                </a:solidFill>
                <a:ea typeface="+mn-ea"/>
              </a:rPr>
              <a:t>Ví dụ: </a:t>
            </a:r>
          </a:p>
          <a:p>
            <a:pPr lvl="1">
              <a:buNone/>
            </a:pPr>
            <a:r>
              <a:rPr lang="en-US" sz="2800" smtClean="0">
                <a:solidFill>
                  <a:srgbClr val="C00000"/>
                </a:solidFill>
              </a:rPr>
              <a:t>Adams, Ansel. </a:t>
            </a:r>
            <a:r>
              <a:rPr lang="en-US" sz="2800" smtClean="0">
                <a:solidFill>
                  <a:srgbClr val="008A3E"/>
                </a:solidFill>
              </a:rPr>
              <a:t>1985</a:t>
            </a:r>
            <a:r>
              <a:rPr lang="en-US" sz="2800" smtClean="0">
                <a:solidFill>
                  <a:srgbClr val="0070C0"/>
                </a:solidFill>
              </a:rPr>
              <a:t>. </a:t>
            </a:r>
            <a:r>
              <a:rPr lang="en-US" sz="2800" i="1" smtClean="0">
                <a:solidFill>
                  <a:srgbClr val="0070C0"/>
                </a:solidFill>
              </a:rPr>
              <a:t>Ansel Adams, an    autobiography</a:t>
            </a:r>
            <a:r>
              <a:rPr lang="en-US" sz="2800" smtClean="0">
                <a:solidFill>
                  <a:srgbClr val="0070C0"/>
                </a:solidFill>
              </a:rPr>
              <a:t>. </a:t>
            </a:r>
            <a:r>
              <a:rPr lang="en-US" sz="2800" smtClean="0">
                <a:solidFill>
                  <a:srgbClr val="AC148F"/>
                </a:solidFill>
              </a:rPr>
              <a:t>Boston: Little Brown</a:t>
            </a:r>
            <a:r>
              <a:rPr lang="en-US" sz="2800" b="1" smtClean="0">
                <a:solidFill>
                  <a:srgbClr val="0070C0"/>
                </a:solidFill>
              </a:rPr>
              <a:t>. </a:t>
            </a:r>
            <a:endParaRPr lang="en-US" sz="2800" b="1" smtClean="0">
              <a:solidFill>
                <a:srgbClr val="C00000"/>
              </a:solidFill>
            </a:endParaRPr>
          </a:p>
          <a:p>
            <a:pPr>
              <a:lnSpc>
                <a:spcPct val="90000"/>
              </a:lnSpc>
              <a:buNone/>
            </a:pPr>
            <a:endParaRPr lang="en-US" b="0" smtClean="0"/>
          </a:p>
          <a:p>
            <a:pPr>
              <a:buNone/>
            </a:pPr>
            <a:endParaRPr lang="vi-VN">
              <a:solidFill>
                <a:srgbClr val="0092CC"/>
              </a:solidFill>
            </a:endParaRPr>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20</a:t>
            </a:fld>
            <a:endParaRPr lang="en-US" altLang="ko-K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Lập danh mục</a:t>
            </a:r>
            <a:endParaRPr lang="vi-VN"/>
          </a:p>
        </p:txBody>
      </p:sp>
      <p:sp>
        <p:nvSpPr>
          <p:cNvPr id="3" name="Content Placeholder 2"/>
          <p:cNvSpPr>
            <a:spLocks noGrp="1"/>
          </p:cNvSpPr>
          <p:nvPr>
            <p:ph idx="1"/>
          </p:nvPr>
        </p:nvSpPr>
        <p:spPr/>
        <p:txBody>
          <a:bodyPr/>
          <a:lstStyle/>
          <a:p>
            <a:pPr>
              <a:buNone/>
            </a:pPr>
            <a:r>
              <a:rPr lang="en-US" b="0" smtClean="0"/>
              <a:t>    Có 2 loại danh mục:</a:t>
            </a:r>
            <a:endParaRPr lang="en-US" b="0" smtClean="0">
              <a:solidFill>
                <a:srgbClr val="C00000"/>
              </a:solidFill>
            </a:endParaRPr>
          </a:p>
          <a:p>
            <a:r>
              <a:rPr lang="en-US" b="0" smtClean="0">
                <a:solidFill>
                  <a:srgbClr val="C00000"/>
                </a:solidFill>
              </a:rPr>
              <a:t>Danh mục trích dẫn (References hoặc Citations)</a:t>
            </a:r>
            <a:r>
              <a:rPr lang="en-US" b="0" smtClean="0"/>
              <a:t> là danh sách các tài liệu (sách, bài báo, trang web...) </a:t>
            </a:r>
            <a:r>
              <a:rPr lang="en-US" b="0" smtClean="0">
                <a:solidFill>
                  <a:srgbClr val="008A3E"/>
                </a:solidFill>
              </a:rPr>
              <a:t>đã được trích dẫn </a:t>
            </a:r>
            <a:r>
              <a:rPr lang="en-US" b="0" smtClean="0"/>
              <a:t>trong bài. </a:t>
            </a:r>
          </a:p>
          <a:p>
            <a:r>
              <a:rPr lang="en-US" b="0" smtClean="0">
                <a:solidFill>
                  <a:srgbClr val="C00000"/>
                </a:solidFill>
              </a:rPr>
              <a:t>Danh mục tham khảo</a:t>
            </a:r>
            <a:r>
              <a:rPr lang="en-US" b="0" smtClean="0"/>
              <a:t> </a:t>
            </a:r>
            <a:r>
              <a:rPr lang="en-US" b="0" smtClean="0">
                <a:solidFill>
                  <a:srgbClr val="C00000"/>
                </a:solidFill>
              </a:rPr>
              <a:t>(Bibliography) </a:t>
            </a:r>
            <a:r>
              <a:rPr lang="en-US" b="0" smtClean="0"/>
              <a:t>là danh sách các tài liệu đã tham khảo trong quá trình làm bài viết, hoặc có liên quan đến bài viết và </a:t>
            </a:r>
            <a:r>
              <a:rPr lang="en-US" b="0" smtClean="0">
                <a:solidFill>
                  <a:srgbClr val="008A3E"/>
                </a:solidFill>
              </a:rPr>
              <a:t>không nhất thiết phải có trích dẫn </a:t>
            </a:r>
            <a:r>
              <a:rPr lang="en-US" b="0" smtClean="0"/>
              <a:t>trong bài.</a:t>
            </a:r>
          </a:p>
          <a:p>
            <a:r>
              <a:rPr lang="en-US" b="0" smtClean="0"/>
              <a:t>Có thể nhập chung hoặc để riêng hai loại danh mục này tùy theo yêu cầu của giảng viên hay đề tài.</a:t>
            </a:r>
            <a:endParaRPr lang="vi-VN" b="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21</a:t>
            </a:fld>
            <a:endParaRPr lang="en-US" altLang="ko-K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Các mẫu danh mục thông dụng</a:t>
            </a:r>
            <a:endParaRPr lang="vi-VN"/>
          </a:p>
        </p:txBody>
      </p:sp>
      <p:sp>
        <p:nvSpPr>
          <p:cNvPr id="3" name="Content Placeholder 2"/>
          <p:cNvSpPr>
            <a:spLocks noGrp="1"/>
          </p:cNvSpPr>
          <p:nvPr>
            <p:ph idx="1"/>
          </p:nvPr>
        </p:nvSpPr>
        <p:spPr>
          <a:xfrm>
            <a:off x="304800" y="1402444"/>
            <a:ext cx="8290560" cy="4899546"/>
          </a:xfrm>
        </p:spPr>
        <p:txBody>
          <a:bodyPr/>
          <a:lstStyle/>
          <a:p>
            <a:pPr>
              <a:lnSpc>
                <a:spcPct val="80000"/>
              </a:lnSpc>
            </a:pPr>
            <a:r>
              <a:rPr lang="en-US" sz="2600" smtClean="0">
                <a:solidFill>
                  <a:schemeClr val="accent2">
                    <a:lumMod val="50000"/>
                  </a:schemeClr>
                </a:solidFill>
              </a:rPr>
              <a:t>Chicago: </a:t>
            </a:r>
            <a:r>
              <a:rPr lang="en-US" sz="2600" b="0" i="1" u="sng" smtClean="0">
                <a:hlinkClick r:id="rId2"/>
              </a:rPr>
              <a:t>http://www.chicagomanualofstyle.org/</a:t>
            </a:r>
          </a:p>
          <a:p>
            <a:pPr>
              <a:lnSpc>
                <a:spcPct val="80000"/>
              </a:lnSpc>
            </a:pPr>
            <a:r>
              <a:rPr lang="en-US" sz="2600" smtClean="0">
                <a:solidFill>
                  <a:schemeClr val="accent2">
                    <a:lumMod val="50000"/>
                  </a:schemeClr>
                </a:solidFill>
              </a:rPr>
              <a:t>APA</a:t>
            </a:r>
            <a:r>
              <a:rPr lang="en-US" sz="2600" b="0" smtClean="0"/>
              <a:t>: </a:t>
            </a:r>
            <a:r>
              <a:rPr lang="vi-VN" sz="2600" b="0" smtClean="0"/>
              <a:t>(</a:t>
            </a:r>
            <a:r>
              <a:rPr lang="vi-VN" sz="2600" b="0" i="1" u="sng" smtClean="0">
                <a:hlinkClick r:id="rId2"/>
              </a:rPr>
              <a:t>http://www.apa.org/</a:t>
            </a:r>
            <a:r>
              <a:rPr lang="vi-VN" sz="2600" b="0" i="1" smtClean="0"/>
              <a:t>): </a:t>
            </a:r>
            <a:r>
              <a:rPr lang="vi-VN" sz="2600" b="0" smtClean="0"/>
              <a:t>dùng cho đề tài thuộc ngành tâm lý, giáo dục, xã hội học, và KH tự nhiên.</a:t>
            </a:r>
            <a:endParaRPr lang="en-US" sz="2600" b="0" i="1" smtClean="0"/>
          </a:p>
          <a:p>
            <a:pPr>
              <a:lnSpc>
                <a:spcPct val="80000"/>
              </a:lnSpc>
            </a:pPr>
            <a:r>
              <a:rPr lang="en-US" sz="2600" smtClean="0">
                <a:solidFill>
                  <a:schemeClr val="accent2">
                    <a:lumMod val="50000"/>
                  </a:schemeClr>
                </a:solidFill>
              </a:rPr>
              <a:t>MLA</a:t>
            </a:r>
            <a:r>
              <a:rPr lang="en-US" sz="2600" b="0" i="1" smtClean="0"/>
              <a:t>: </a:t>
            </a:r>
            <a:r>
              <a:rPr lang="vi-VN" sz="2600" b="0" smtClean="0"/>
              <a:t>(</a:t>
            </a:r>
            <a:r>
              <a:rPr lang="vi-VN" sz="2600" b="0" i="1" u="sng" smtClean="0">
                <a:hlinkClick r:id="rId3"/>
              </a:rPr>
              <a:t>http://www.mla.org/</a:t>
            </a:r>
            <a:r>
              <a:rPr lang="vi-VN" sz="2600" b="0" i="1" smtClean="0"/>
              <a:t>): </a:t>
            </a:r>
            <a:r>
              <a:rPr lang="vi-VN" sz="2600" b="0" smtClean="0"/>
              <a:t>dùng cho đề tài thuộc ngành văn học, nghệ thuật và khoa học nhân văn. </a:t>
            </a:r>
          </a:p>
          <a:p>
            <a:r>
              <a:rPr lang="en-US" sz="2600" smtClean="0"/>
              <a:t>Harvard: </a:t>
            </a:r>
            <a:r>
              <a:rPr lang="vi-VN" sz="2600" b="0" smtClean="0"/>
              <a:t>(</a:t>
            </a:r>
            <a:r>
              <a:rPr lang="vi-VN" sz="2600" b="0" i="1" smtClean="0">
                <a:hlinkClick r:id="rId4"/>
              </a:rPr>
              <a:t>http://www.library.uq.edu.au/training/citation/harvard_6.pdf </a:t>
            </a:r>
            <a:r>
              <a:rPr lang="vi-VN" sz="2600" b="0" i="1" smtClean="0"/>
              <a:t>)</a:t>
            </a:r>
          </a:p>
          <a:p>
            <a:r>
              <a:rPr lang="vi-VN" sz="2600" b="0" smtClean="0"/>
              <a:t>Có thể chọn mẫu danh mục tùy theo nhu cầu. </a:t>
            </a:r>
          </a:p>
          <a:p>
            <a:r>
              <a:rPr lang="vi-VN" sz="2600" b="0" smtClean="0"/>
              <a:t>Đại học Hoa Sen chọn mẫu Chicago để hướng dẫn cho SV sử dụng.</a:t>
            </a:r>
            <a:endParaRPr lang="en-US" sz="2600" b="0" smtClean="0"/>
          </a:p>
          <a:p>
            <a:pPr>
              <a:buNone/>
            </a:pPr>
            <a:endParaRPr lang="en-US" b="0" smtClean="0"/>
          </a:p>
          <a:p>
            <a:pPr>
              <a:buNone/>
            </a:pP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22</a:t>
            </a:fld>
            <a:endParaRPr lang="en-US" altLang="ko-K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89296"/>
          </a:xfrm>
        </p:spPr>
        <p:txBody>
          <a:bodyPr/>
          <a:lstStyle/>
          <a:p>
            <a:r>
              <a:rPr lang="vi-VN" smtClean="0"/>
              <a:t>Mẫu danh mục sách</a:t>
            </a:r>
            <a:endParaRPr lang="vi-VN"/>
          </a:p>
        </p:txBody>
      </p:sp>
      <p:sp>
        <p:nvSpPr>
          <p:cNvPr id="3" name="Content Placeholder 2"/>
          <p:cNvSpPr>
            <a:spLocks noGrp="1"/>
          </p:cNvSpPr>
          <p:nvPr>
            <p:ph idx="1"/>
          </p:nvPr>
        </p:nvSpPr>
        <p:spPr>
          <a:xfrm>
            <a:off x="304800" y="853804"/>
            <a:ext cx="8839200" cy="6004196"/>
          </a:xfrm>
        </p:spPr>
        <p:txBody>
          <a:bodyPr/>
          <a:lstStyle/>
          <a:p>
            <a:r>
              <a:rPr lang="en-US" smtClean="0"/>
              <a:t>Danh mục tham khảo </a:t>
            </a:r>
          </a:p>
          <a:p>
            <a:pPr>
              <a:buNone/>
            </a:pPr>
            <a:r>
              <a:rPr lang="en-US" b="0" smtClean="0">
                <a:solidFill>
                  <a:srgbClr val="008A3E"/>
                </a:solidFill>
              </a:rPr>
              <a:t>Tác giả</a:t>
            </a:r>
            <a:r>
              <a:rPr lang="en-US" smtClean="0">
                <a:solidFill>
                  <a:srgbClr val="000000"/>
                </a:solidFill>
              </a:rPr>
              <a:t>.</a:t>
            </a:r>
            <a:r>
              <a:rPr lang="en-US" b="0" smtClean="0">
                <a:solidFill>
                  <a:srgbClr val="008A3E"/>
                </a:solidFill>
              </a:rPr>
              <a:t> </a:t>
            </a:r>
            <a:r>
              <a:rPr lang="en-US" b="0" smtClean="0">
                <a:solidFill>
                  <a:srgbClr val="0070C0"/>
                </a:solidFill>
              </a:rPr>
              <a:t>Năm XB</a:t>
            </a:r>
            <a:r>
              <a:rPr lang="en-US" smtClean="0">
                <a:solidFill>
                  <a:srgbClr val="000000"/>
                </a:solidFill>
              </a:rPr>
              <a:t>.</a:t>
            </a:r>
            <a:r>
              <a:rPr lang="en-US" b="0" smtClean="0">
                <a:solidFill>
                  <a:srgbClr val="008A3E"/>
                </a:solidFill>
              </a:rPr>
              <a:t> </a:t>
            </a:r>
            <a:r>
              <a:rPr lang="en-US" b="0" i="1" smtClean="0">
                <a:solidFill>
                  <a:srgbClr val="FF0000"/>
                </a:solidFill>
              </a:rPr>
              <a:t>Tựa sách (chữ in nghiêng)</a:t>
            </a:r>
            <a:r>
              <a:rPr lang="en-US" smtClean="0">
                <a:solidFill>
                  <a:srgbClr val="000000"/>
                </a:solidFill>
              </a:rPr>
              <a:t>.</a:t>
            </a:r>
            <a:r>
              <a:rPr lang="en-US" b="0" smtClean="0">
                <a:solidFill>
                  <a:srgbClr val="008A3E"/>
                </a:solidFill>
              </a:rPr>
              <a:t> </a:t>
            </a:r>
            <a:r>
              <a:rPr lang="en-US" b="0" smtClean="0">
                <a:solidFill>
                  <a:srgbClr val="7030A0"/>
                </a:solidFill>
              </a:rPr>
              <a:t>Nơi XB</a:t>
            </a:r>
            <a:r>
              <a:rPr lang="en-US" smtClean="0">
                <a:solidFill>
                  <a:srgbClr val="000000"/>
                </a:solidFill>
              </a:rPr>
              <a:t>: </a:t>
            </a:r>
            <a:r>
              <a:rPr lang="en-US" b="0" smtClean="0">
                <a:solidFill>
                  <a:srgbClr val="7030A0"/>
                </a:solidFill>
              </a:rPr>
              <a:t>Nhà XB   </a:t>
            </a:r>
          </a:p>
          <a:p>
            <a:pPr>
              <a:buNone/>
            </a:pPr>
            <a:r>
              <a:rPr lang="en-US" b="0" smtClean="0">
                <a:solidFill>
                  <a:srgbClr val="008A3E"/>
                </a:solidFill>
              </a:rPr>
              <a:t>Pollan, Michael</a:t>
            </a:r>
            <a:r>
              <a:rPr lang="en-US" smtClean="0">
                <a:solidFill>
                  <a:srgbClr val="000000"/>
                </a:solidFill>
              </a:rPr>
              <a:t>.</a:t>
            </a:r>
            <a:r>
              <a:rPr lang="en-US" b="0" smtClean="0">
                <a:solidFill>
                  <a:srgbClr val="0070C0"/>
                </a:solidFill>
              </a:rPr>
              <a:t> 2006</a:t>
            </a:r>
            <a:r>
              <a:rPr lang="en-US" smtClean="0">
                <a:solidFill>
                  <a:srgbClr val="000000"/>
                </a:solidFill>
              </a:rPr>
              <a:t>.</a:t>
            </a:r>
            <a:r>
              <a:rPr lang="en-US" b="0" smtClean="0"/>
              <a:t> </a:t>
            </a:r>
            <a:r>
              <a:rPr lang="en-US" b="0" i="1" smtClean="0">
                <a:solidFill>
                  <a:srgbClr val="FF0000"/>
                </a:solidFill>
              </a:rPr>
              <a:t>The Omnivore’s Dilemma: A Natural History of Four Meals</a:t>
            </a:r>
            <a:r>
              <a:rPr lang="en-US" smtClean="0">
                <a:solidFill>
                  <a:srgbClr val="000000"/>
                </a:solidFill>
              </a:rPr>
              <a:t>.</a:t>
            </a:r>
            <a:r>
              <a:rPr lang="en-US" b="0" smtClean="0"/>
              <a:t> </a:t>
            </a:r>
            <a:r>
              <a:rPr lang="en-US" b="0" smtClean="0">
                <a:solidFill>
                  <a:srgbClr val="7030A0"/>
                </a:solidFill>
              </a:rPr>
              <a:t>New York: Penguin</a:t>
            </a:r>
            <a:r>
              <a:rPr lang="en-US" smtClean="0">
                <a:solidFill>
                  <a:srgbClr val="000000"/>
                </a:solidFill>
              </a:rPr>
              <a:t>.</a:t>
            </a:r>
          </a:p>
          <a:p>
            <a:r>
              <a:rPr lang="en-US" smtClean="0"/>
              <a:t>Trích dẫn trong bài </a:t>
            </a:r>
          </a:p>
          <a:p>
            <a:pPr>
              <a:buNone/>
            </a:pPr>
            <a:r>
              <a:rPr lang="en-US" smtClean="0"/>
              <a:t>   </a:t>
            </a:r>
            <a:r>
              <a:rPr lang="en-US" b="0" smtClean="0">
                <a:solidFill>
                  <a:srgbClr val="008A3E"/>
                </a:solidFill>
              </a:rPr>
              <a:t>(Tác giả </a:t>
            </a:r>
            <a:r>
              <a:rPr lang="en-US" b="0" smtClean="0">
                <a:solidFill>
                  <a:srgbClr val="0070C0"/>
                </a:solidFill>
              </a:rPr>
              <a:t>Năm XB</a:t>
            </a:r>
            <a:r>
              <a:rPr lang="en-US" smtClean="0">
                <a:solidFill>
                  <a:srgbClr val="000000"/>
                </a:solidFill>
              </a:rPr>
              <a:t>,</a:t>
            </a:r>
            <a:r>
              <a:rPr lang="en-US" b="0" smtClean="0">
                <a:solidFill>
                  <a:srgbClr val="008A3E"/>
                </a:solidFill>
              </a:rPr>
              <a:t> </a:t>
            </a:r>
            <a:r>
              <a:rPr lang="en-US" b="0" smtClean="0">
                <a:solidFill>
                  <a:srgbClr val="A5832D"/>
                </a:solidFill>
              </a:rPr>
              <a:t>trang có nguồn trích</a:t>
            </a:r>
            <a:r>
              <a:rPr lang="en-US" b="0" smtClean="0">
                <a:solidFill>
                  <a:srgbClr val="008A3E"/>
                </a:solidFill>
              </a:rPr>
              <a:t>)</a:t>
            </a:r>
          </a:p>
          <a:p>
            <a:pPr>
              <a:buNone/>
            </a:pPr>
            <a:r>
              <a:rPr lang="en-US" b="0" smtClean="0"/>
              <a:t>   (</a:t>
            </a:r>
            <a:r>
              <a:rPr lang="en-US" b="0" smtClean="0">
                <a:solidFill>
                  <a:srgbClr val="008A3E"/>
                </a:solidFill>
              </a:rPr>
              <a:t>Pollan</a:t>
            </a:r>
            <a:r>
              <a:rPr lang="en-US" b="0" smtClean="0"/>
              <a:t> </a:t>
            </a:r>
            <a:r>
              <a:rPr lang="en-US" b="0" smtClean="0">
                <a:solidFill>
                  <a:srgbClr val="0070C0"/>
                </a:solidFill>
              </a:rPr>
              <a:t>2006</a:t>
            </a:r>
            <a:r>
              <a:rPr lang="en-US" smtClean="0">
                <a:solidFill>
                  <a:srgbClr val="000000"/>
                </a:solidFill>
              </a:rPr>
              <a:t>,</a:t>
            </a:r>
            <a:r>
              <a:rPr lang="en-US" b="0" smtClean="0"/>
              <a:t> </a:t>
            </a:r>
            <a:r>
              <a:rPr lang="en-US" b="0" smtClean="0">
                <a:solidFill>
                  <a:srgbClr val="A5832D"/>
                </a:solidFill>
              </a:rPr>
              <a:t>99–100</a:t>
            </a:r>
            <a:r>
              <a:rPr lang="en-US" b="0" smtClean="0"/>
              <a:t>)</a:t>
            </a:r>
          </a:p>
          <a:p>
            <a:pPr>
              <a:buNone/>
            </a:pPr>
            <a:r>
              <a:rPr lang="en-US" b="0" smtClean="0"/>
              <a:t>  </a:t>
            </a:r>
            <a:r>
              <a:rPr lang="en-US" b="0" smtClean="0">
                <a:solidFill>
                  <a:srgbClr val="FF0000"/>
                </a:solidFill>
              </a:rPr>
              <a:t>* </a:t>
            </a:r>
            <a:r>
              <a:rPr lang="en-US" b="0" u="sng" smtClean="0">
                <a:solidFill>
                  <a:srgbClr val="FF0000"/>
                </a:solidFill>
              </a:rPr>
              <a:t>Lưu ý</a:t>
            </a:r>
            <a:r>
              <a:rPr lang="en-US" b="0" smtClean="0">
                <a:solidFill>
                  <a:srgbClr val="FF0000"/>
                </a:solidFill>
              </a:rPr>
              <a:t>: </a:t>
            </a:r>
            <a:r>
              <a:rPr lang="en-US" b="0" smtClean="0">
                <a:solidFill>
                  <a:schemeClr val="accent1">
                    <a:lumMod val="75000"/>
                  </a:schemeClr>
                </a:solidFill>
              </a:rPr>
              <a:t>Tác giả nước ngoài: </a:t>
            </a:r>
            <a:r>
              <a:rPr lang="en-US" b="0" smtClean="0">
                <a:solidFill>
                  <a:srgbClr val="FF0000"/>
                </a:solidFill>
              </a:rPr>
              <a:t>Họ</a:t>
            </a:r>
            <a:r>
              <a:rPr lang="en-US" smtClean="0">
                <a:solidFill>
                  <a:srgbClr val="FF0000"/>
                </a:solidFill>
              </a:rPr>
              <a:t>,</a:t>
            </a:r>
            <a:r>
              <a:rPr lang="en-US" b="0" smtClean="0">
                <a:solidFill>
                  <a:srgbClr val="FF0000"/>
                </a:solidFill>
              </a:rPr>
              <a:t> Tên </a:t>
            </a:r>
            <a:r>
              <a:rPr lang="en-US" b="0" smtClean="0">
                <a:solidFill>
                  <a:schemeClr val="accent1">
                    <a:lumMod val="75000"/>
                  </a:schemeClr>
                </a:solidFill>
              </a:rPr>
              <a:t>(phẩy sau Họ)</a:t>
            </a:r>
          </a:p>
          <a:p>
            <a:pPr>
              <a:buNone/>
            </a:pPr>
            <a:r>
              <a:rPr lang="en-US" b="0" smtClean="0">
                <a:solidFill>
                  <a:srgbClr val="FF0000"/>
                </a:solidFill>
              </a:rPr>
              <a:t>                </a:t>
            </a:r>
            <a:r>
              <a:rPr lang="en-US" b="0" smtClean="0">
                <a:solidFill>
                  <a:schemeClr val="accent1">
                    <a:lumMod val="75000"/>
                  </a:schemeClr>
                </a:solidFill>
              </a:rPr>
              <a:t>Tác giả Việt Nam: </a:t>
            </a:r>
            <a:r>
              <a:rPr lang="en-US" b="0" smtClean="0">
                <a:solidFill>
                  <a:srgbClr val="FF0000"/>
                </a:solidFill>
              </a:rPr>
              <a:t>Họ Tên </a:t>
            </a:r>
            <a:r>
              <a:rPr lang="en-US" b="0" smtClean="0">
                <a:solidFill>
                  <a:schemeClr val="accent1">
                    <a:lumMod val="75000"/>
                  </a:schemeClr>
                </a:solidFill>
              </a:rPr>
              <a:t>(không phẩy)</a:t>
            </a:r>
          </a:p>
          <a:p>
            <a:pPr>
              <a:buNone/>
            </a:pP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23</a:t>
            </a:fld>
            <a:endParaRPr lang="en-US" altLang="ko-K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8007531" cy="789296"/>
          </a:xfrm>
        </p:spPr>
        <p:txBody>
          <a:bodyPr/>
          <a:lstStyle/>
          <a:p>
            <a:r>
              <a:rPr lang="vi-VN" smtClean="0"/>
              <a:t>Mẫu danh mục tạp chí</a:t>
            </a:r>
            <a:endParaRPr lang="vi-VN"/>
          </a:p>
        </p:txBody>
      </p:sp>
      <p:sp>
        <p:nvSpPr>
          <p:cNvPr id="3" name="Content Placeholder 2"/>
          <p:cNvSpPr>
            <a:spLocks noGrp="1"/>
          </p:cNvSpPr>
          <p:nvPr>
            <p:ph idx="1"/>
          </p:nvPr>
        </p:nvSpPr>
        <p:spPr>
          <a:xfrm>
            <a:off x="207264" y="1146412"/>
            <a:ext cx="8609190" cy="4899546"/>
          </a:xfrm>
        </p:spPr>
        <p:txBody>
          <a:bodyPr/>
          <a:lstStyle/>
          <a:p>
            <a:r>
              <a:rPr lang="en-US" smtClean="0"/>
              <a:t>Danh mục tham khảo </a:t>
            </a:r>
          </a:p>
          <a:p>
            <a:pPr>
              <a:buNone/>
            </a:pPr>
            <a:r>
              <a:rPr lang="en-US" b="0" smtClean="0">
                <a:solidFill>
                  <a:srgbClr val="008A3E"/>
                </a:solidFill>
              </a:rPr>
              <a:t>Tác giả</a:t>
            </a:r>
            <a:r>
              <a:rPr lang="en-US" smtClean="0">
                <a:solidFill>
                  <a:srgbClr val="000000"/>
                </a:solidFill>
              </a:rPr>
              <a:t>.</a:t>
            </a:r>
            <a:r>
              <a:rPr lang="en-US" b="0" smtClean="0">
                <a:solidFill>
                  <a:srgbClr val="008A3E"/>
                </a:solidFill>
              </a:rPr>
              <a:t> </a:t>
            </a:r>
            <a:r>
              <a:rPr lang="en-US" b="0" smtClean="0">
                <a:solidFill>
                  <a:srgbClr val="0070C0"/>
                </a:solidFill>
              </a:rPr>
              <a:t>Năm XB</a:t>
            </a:r>
            <a:r>
              <a:rPr lang="en-US" smtClean="0">
                <a:solidFill>
                  <a:srgbClr val="000000"/>
                </a:solidFill>
              </a:rPr>
              <a:t>.</a:t>
            </a:r>
            <a:r>
              <a:rPr lang="en-US" b="0" smtClean="0">
                <a:solidFill>
                  <a:srgbClr val="008A3E"/>
                </a:solidFill>
              </a:rPr>
              <a:t> </a:t>
            </a:r>
            <a:r>
              <a:rPr lang="en-US" b="0" smtClean="0">
                <a:solidFill>
                  <a:srgbClr val="FF0000"/>
                </a:solidFill>
              </a:rPr>
              <a:t>“Tựa bài tạp chí.”</a:t>
            </a:r>
            <a:r>
              <a:rPr lang="en-US" b="0" smtClean="0">
                <a:solidFill>
                  <a:srgbClr val="008A3E"/>
                </a:solidFill>
              </a:rPr>
              <a:t> </a:t>
            </a:r>
            <a:r>
              <a:rPr lang="en-US" b="0" i="1" smtClean="0">
                <a:solidFill>
                  <a:srgbClr val="008A3E"/>
                </a:solidFill>
              </a:rPr>
              <a:t>Tên tạp chí</a:t>
            </a:r>
            <a:r>
              <a:rPr lang="en-US" b="0" smtClean="0">
                <a:solidFill>
                  <a:srgbClr val="7030A0"/>
                </a:solidFill>
              </a:rPr>
              <a:t> Số tạp chí</a:t>
            </a:r>
            <a:r>
              <a:rPr lang="en-US" smtClean="0">
                <a:solidFill>
                  <a:srgbClr val="000000"/>
                </a:solidFill>
              </a:rPr>
              <a:t>:</a:t>
            </a:r>
            <a:r>
              <a:rPr lang="en-US" b="0" smtClean="0">
                <a:solidFill>
                  <a:srgbClr val="A5832D"/>
                </a:solidFill>
              </a:rPr>
              <a:t>trang</a:t>
            </a:r>
            <a:r>
              <a:rPr lang="en-US" smtClean="0">
                <a:solidFill>
                  <a:srgbClr val="000000"/>
                </a:solidFill>
              </a:rPr>
              <a:t>.</a:t>
            </a:r>
          </a:p>
          <a:p>
            <a:pPr>
              <a:buNone/>
            </a:pPr>
            <a:r>
              <a:rPr lang="en-US" b="0" smtClean="0">
                <a:solidFill>
                  <a:srgbClr val="008A3E"/>
                </a:solidFill>
              </a:rPr>
              <a:t>Nguyễn Văn Công</a:t>
            </a:r>
            <a:r>
              <a:rPr lang="en-US" smtClean="0">
                <a:solidFill>
                  <a:srgbClr val="000000"/>
                </a:solidFill>
              </a:rPr>
              <a:t>.</a:t>
            </a:r>
            <a:r>
              <a:rPr lang="en-US" smtClean="0"/>
              <a:t> </a:t>
            </a:r>
            <a:r>
              <a:rPr lang="en-US" b="0" smtClean="0">
                <a:solidFill>
                  <a:srgbClr val="0070C0"/>
                </a:solidFill>
              </a:rPr>
              <a:t>1996</a:t>
            </a:r>
            <a:r>
              <a:rPr lang="en-US" smtClean="0">
                <a:solidFill>
                  <a:srgbClr val="000000"/>
                </a:solidFill>
              </a:rPr>
              <a:t>.</a:t>
            </a:r>
            <a:r>
              <a:rPr lang="en-US" smtClean="0"/>
              <a:t> </a:t>
            </a:r>
            <a:r>
              <a:rPr lang="en-US" b="0" smtClean="0">
                <a:solidFill>
                  <a:srgbClr val="FF0000"/>
                </a:solidFill>
              </a:rPr>
              <a:t>“Chăm sóc sức khỏe cho người mắc bệnh tiểu đường.”</a:t>
            </a:r>
            <a:r>
              <a:rPr lang="en-US" smtClean="0"/>
              <a:t> </a:t>
            </a:r>
            <a:r>
              <a:rPr lang="en-US" b="0" i="1" smtClean="0">
                <a:solidFill>
                  <a:srgbClr val="008A3E"/>
                </a:solidFill>
              </a:rPr>
              <a:t>Tạp chí Nghiên cứu Y học </a:t>
            </a:r>
            <a:r>
              <a:rPr lang="en-US" b="0" smtClean="0">
                <a:solidFill>
                  <a:srgbClr val="7030A0"/>
                </a:solidFill>
              </a:rPr>
              <a:t>số 12, tập 4</a:t>
            </a:r>
            <a:r>
              <a:rPr lang="en-US" smtClean="0">
                <a:solidFill>
                  <a:srgbClr val="000000"/>
                </a:solidFill>
              </a:rPr>
              <a:t>:</a:t>
            </a:r>
            <a:r>
              <a:rPr lang="en-US" b="0" smtClean="0">
                <a:solidFill>
                  <a:srgbClr val="A5832D"/>
                </a:solidFill>
              </a:rPr>
              <a:t>tr. 8-9</a:t>
            </a:r>
            <a:r>
              <a:rPr lang="en-US" smtClean="0">
                <a:solidFill>
                  <a:srgbClr val="000000"/>
                </a:solidFill>
              </a:rPr>
              <a:t>.</a:t>
            </a:r>
          </a:p>
          <a:p>
            <a:r>
              <a:rPr lang="en-US" smtClean="0">
                <a:solidFill>
                  <a:srgbClr val="C00000"/>
                </a:solidFill>
              </a:rPr>
              <a:t> </a:t>
            </a:r>
            <a:r>
              <a:rPr lang="en-US" smtClean="0"/>
              <a:t>Trích dẫn trong bài </a:t>
            </a:r>
          </a:p>
          <a:p>
            <a:pPr>
              <a:buNone/>
            </a:pPr>
            <a:r>
              <a:rPr lang="en-US" b="0" smtClean="0">
                <a:solidFill>
                  <a:srgbClr val="008A3E"/>
                </a:solidFill>
              </a:rPr>
              <a:t>  </a:t>
            </a:r>
            <a:r>
              <a:rPr lang="en-US" b="0" smtClean="0"/>
              <a:t>  (</a:t>
            </a:r>
            <a:r>
              <a:rPr lang="en-US" b="0" smtClean="0">
                <a:solidFill>
                  <a:srgbClr val="008A3E"/>
                </a:solidFill>
              </a:rPr>
              <a:t>Nguyễn Văn Công</a:t>
            </a:r>
            <a:r>
              <a:rPr lang="en-US" b="0" smtClean="0"/>
              <a:t> </a:t>
            </a:r>
            <a:r>
              <a:rPr lang="en-US" b="0" smtClean="0">
                <a:solidFill>
                  <a:srgbClr val="0070C0"/>
                </a:solidFill>
              </a:rPr>
              <a:t>1996</a:t>
            </a:r>
            <a:r>
              <a:rPr lang="en-US" smtClean="0">
                <a:solidFill>
                  <a:srgbClr val="000000"/>
                </a:solidFill>
              </a:rPr>
              <a:t>,</a:t>
            </a:r>
            <a:r>
              <a:rPr lang="en-US" b="0" smtClean="0"/>
              <a:t> </a:t>
            </a:r>
            <a:r>
              <a:rPr lang="en-US" b="0" smtClean="0">
                <a:solidFill>
                  <a:srgbClr val="A5832D"/>
                </a:solidFill>
              </a:rPr>
              <a:t>8-9</a:t>
            </a:r>
            <a:r>
              <a:rPr lang="en-US" b="0" smtClean="0"/>
              <a:t>)</a:t>
            </a:r>
          </a:p>
          <a:p>
            <a:pPr>
              <a:buNone/>
            </a:pP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24</a:t>
            </a:fld>
            <a:endParaRPr lang="en-US" altLang="ko-K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727324" cy="789296"/>
          </a:xfrm>
        </p:spPr>
        <p:txBody>
          <a:bodyPr/>
          <a:lstStyle/>
          <a:p>
            <a:r>
              <a:rPr lang="vi-VN" smtClean="0"/>
              <a:t>Mẫu danh mục tạp chí điện tử</a:t>
            </a:r>
            <a:endParaRPr lang="vi-VN"/>
          </a:p>
        </p:txBody>
      </p:sp>
      <p:sp>
        <p:nvSpPr>
          <p:cNvPr id="3" name="Content Placeholder 2"/>
          <p:cNvSpPr>
            <a:spLocks noGrp="1"/>
          </p:cNvSpPr>
          <p:nvPr>
            <p:ph idx="1"/>
          </p:nvPr>
        </p:nvSpPr>
        <p:spPr>
          <a:xfrm>
            <a:off x="146304" y="850320"/>
            <a:ext cx="8700630" cy="5465135"/>
          </a:xfrm>
        </p:spPr>
        <p:txBody>
          <a:bodyPr/>
          <a:lstStyle/>
          <a:p>
            <a:r>
              <a:rPr lang="en-US" smtClean="0"/>
              <a:t>Danh mục tham khảo </a:t>
            </a:r>
          </a:p>
          <a:p>
            <a:pPr>
              <a:buNone/>
            </a:pPr>
            <a:r>
              <a:rPr lang="en-US" b="0" smtClean="0">
                <a:solidFill>
                  <a:srgbClr val="008A3E"/>
                </a:solidFill>
              </a:rPr>
              <a:t>Họ tên tác giả</a:t>
            </a:r>
            <a:r>
              <a:rPr lang="en-US" smtClean="0">
                <a:solidFill>
                  <a:srgbClr val="000000"/>
                </a:solidFill>
              </a:rPr>
              <a:t>.</a:t>
            </a:r>
            <a:r>
              <a:rPr lang="en-US" b="0" smtClean="0">
                <a:solidFill>
                  <a:srgbClr val="008A3E"/>
                </a:solidFill>
              </a:rPr>
              <a:t> </a:t>
            </a:r>
            <a:r>
              <a:rPr lang="en-US" b="0" smtClean="0">
                <a:solidFill>
                  <a:srgbClr val="0070C0"/>
                </a:solidFill>
              </a:rPr>
              <a:t>Năm XB</a:t>
            </a:r>
            <a:r>
              <a:rPr lang="en-US" smtClean="0">
                <a:solidFill>
                  <a:srgbClr val="000000"/>
                </a:solidFill>
              </a:rPr>
              <a:t>.</a:t>
            </a:r>
            <a:r>
              <a:rPr lang="en-US" b="0" smtClean="0">
                <a:solidFill>
                  <a:srgbClr val="008A3E"/>
                </a:solidFill>
              </a:rPr>
              <a:t> </a:t>
            </a:r>
            <a:r>
              <a:rPr lang="en-US" b="0" smtClean="0">
                <a:solidFill>
                  <a:srgbClr val="FF0000"/>
                </a:solidFill>
              </a:rPr>
              <a:t>“Tựa bài tạp chí.”</a:t>
            </a:r>
            <a:r>
              <a:rPr lang="en-US" b="0" smtClean="0">
                <a:solidFill>
                  <a:srgbClr val="008A3E"/>
                </a:solidFill>
              </a:rPr>
              <a:t> </a:t>
            </a:r>
            <a:r>
              <a:rPr lang="en-US" b="0" i="1" smtClean="0">
                <a:solidFill>
                  <a:srgbClr val="008A3E"/>
                </a:solidFill>
              </a:rPr>
              <a:t>Tên tạp chí</a:t>
            </a:r>
            <a:r>
              <a:rPr lang="en-US" b="0" smtClean="0">
                <a:solidFill>
                  <a:srgbClr val="7030A0"/>
                </a:solidFill>
              </a:rPr>
              <a:t> Số tạp chí</a:t>
            </a:r>
            <a:r>
              <a:rPr lang="en-US" smtClean="0">
                <a:solidFill>
                  <a:srgbClr val="000000"/>
                </a:solidFill>
              </a:rPr>
              <a:t>:</a:t>
            </a:r>
            <a:r>
              <a:rPr lang="en-US" b="0" smtClean="0">
                <a:solidFill>
                  <a:srgbClr val="A5832D"/>
                </a:solidFill>
              </a:rPr>
              <a:t>trang</a:t>
            </a:r>
            <a:r>
              <a:rPr lang="en-US" smtClean="0">
                <a:solidFill>
                  <a:srgbClr val="000000"/>
                </a:solidFill>
              </a:rPr>
              <a:t>.</a:t>
            </a:r>
            <a:r>
              <a:rPr lang="en-US" b="0" smtClean="0">
                <a:solidFill>
                  <a:srgbClr val="A5832D"/>
                </a:solidFill>
              </a:rPr>
              <a:t> </a:t>
            </a:r>
            <a:r>
              <a:rPr lang="en-US" b="0" smtClean="0">
                <a:solidFill>
                  <a:srgbClr val="02C4DE"/>
                </a:solidFill>
              </a:rPr>
              <a:t>Ngày truy cập tài liệu</a:t>
            </a:r>
            <a:r>
              <a:rPr lang="en-US" smtClean="0">
                <a:solidFill>
                  <a:srgbClr val="000000"/>
                </a:solidFill>
              </a:rPr>
              <a:t>.</a:t>
            </a:r>
            <a:endParaRPr lang="en-US" sz="2400" smtClean="0">
              <a:solidFill>
                <a:srgbClr val="02C4DE"/>
              </a:solidFill>
            </a:endParaRPr>
          </a:p>
          <a:p>
            <a:pPr>
              <a:buNone/>
            </a:pPr>
            <a:r>
              <a:rPr lang="en-US" b="0" smtClean="0">
                <a:solidFill>
                  <a:srgbClr val="008A3E"/>
                </a:solidFill>
              </a:rPr>
              <a:t>Kossinets, Gueorgi, and Duncan J. Watts</a:t>
            </a:r>
            <a:r>
              <a:rPr lang="en-US" smtClean="0">
                <a:solidFill>
                  <a:srgbClr val="000000"/>
                </a:solidFill>
              </a:rPr>
              <a:t>. </a:t>
            </a:r>
            <a:r>
              <a:rPr lang="en-US" b="0" smtClean="0">
                <a:solidFill>
                  <a:srgbClr val="0070C0"/>
                </a:solidFill>
              </a:rPr>
              <a:t>2009</a:t>
            </a:r>
            <a:r>
              <a:rPr lang="en-US" smtClean="0">
                <a:solidFill>
                  <a:srgbClr val="000000"/>
                </a:solidFill>
              </a:rPr>
              <a:t>.</a:t>
            </a:r>
            <a:r>
              <a:rPr lang="en-US" b="0" smtClean="0"/>
              <a:t>       </a:t>
            </a:r>
            <a:r>
              <a:rPr lang="en-US" b="0" smtClean="0">
                <a:solidFill>
                  <a:srgbClr val="FF0000"/>
                </a:solidFill>
              </a:rPr>
              <a:t>“Origins of Homophily in an Evolving Social   Network.”</a:t>
            </a:r>
            <a:r>
              <a:rPr lang="en-US" b="0" smtClean="0"/>
              <a:t> </a:t>
            </a:r>
            <a:r>
              <a:rPr lang="en-US" b="0" i="1" smtClean="0">
                <a:solidFill>
                  <a:srgbClr val="008A3E"/>
                </a:solidFill>
              </a:rPr>
              <a:t>American Journal of Sociology</a:t>
            </a:r>
            <a:r>
              <a:rPr lang="en-US" b="0" smtClean="0"/>
              <a:t> </a:t>
            </a:r>
            <a:r>
              <a:rPr lang="en-US" b="0" smtClean="0">
                <a:solidFill>
                  <a:srgbClr val="7030A0"/>
                </a:solidFill>
              </a:rPr>
              <a:t>115</a:t>
            </a:r>
            <a:r>
              <a:rPr lang="en-US" smtClean="0">
                <a:solidFill>
                  <a:srgbClr val="000000"/>
                </a:solidFill>
              </a:rPr>
              <a:t>:</a:t>
            </a:r>
            <a:r>
              <a:rPr lang="en-US" b="0" smtClean="0">
                <a:solidFill>
                  <a:srgbClr val="A5832D"/>
                </a:solidFill>
              </a:rPr>
              <a:t>405–50</a:t>
            </a:r>
            <a:r>
              <a:rPr lang="en-US" smtClean="0">
                <a:solidFill>
                  <a:srgbClr val="000000"/>
                </a:solidFill>
              </a:rPr>
              <a:t>.</a:t>
            </a:r>
            <a:r>
              <a:rPr lang="en-US" b="0" smtClean="0"/>
              <a:t> </a:t>
            </a:r>
            <a:r>
              <a:rPr lang="en-US" b="0" smtClean="0">
                <a:solidFill>
                  <a:srgbClr val="02C4DE"/>
                </a:solidFill>
              </a:rPr>
              <a:t>Accessed February 28, 2010</a:t>
            </a:r>
            <a:r>
              <a:rPr lang="en-US" smtClean="0">
                <a:solidFill>
                  <a:srgbClr val="000000"/>
                </a:solidFill>
              </a:rPr>
              <a:t>.</a:t>
            </a:r>
            <a:r>
              <a:rPr lang="en-US" b="0" smtClean="0">
                <a:solidFill>
                  <a:srgbClr val="02C4DE"/>
                </a:solidFill>
              </a:rPr>
              <a:t> </a:t>
            </a:r>
          </a:p>
          <a:p>
            <a:r>
              <a:rPr lang="en-US" smtClean="0"/>
              <a:t>Trích dẫn trong bài </a:t>
            </a:r>
          </a:p>
          <a:p>
            <a:pPr>
              <a:buNone/>
            </a:pPr>
            <a:r>
              <a:rPr lang="en-US" sz="2800" b="0" smtClean="0">
                <a:solidFill>
                  <a:schemeClr val="accent1"/>
                </a:solidFill>
                <a:ea typeface="+mn-ea"/>
              </a:rPr>
              <a:t>   (</a:t>
            </a:r>
            <a:r>
              <a:rPr lang="en-US" b="0" smtClean="0">
                <a:solidFill>
                  <a:srgbClr val="008A3E"/>
                </a:solidFill>
              </a:rPr>
              <a:t>Kossinets and Watts </a:t>
            </a:r>
            <a:r>
              <a:rPr lang="en-US" b="0" smtClean="0">
                <a:solidFill>
                  <a:srgbClr val="0070C0"/>
                </a:solidFill>
              </a:rPr>
              <a:t>2009</a:t>
            </a:r>
            <a:r>
              <a:rPr lang="en-US" smtClean="0">
                <a:solidFill>
                  <a:srgbClr val="000000"/>
                </a:solidFill>
              </a:rPr>
              <a:t>, </a:t>
            </a:r>
            <a:r>
              <a:rPr lang="en-US" b="0" smtClean="0">
                <a:solidFill>
                  <a:srgbClr val="A5832D"/>
                </a:solidFill>
              </a:rPr>
              <a:t>411</a:t>
            </a:r>
            <a:r>
              <a:rPr lang="en-US" sz="2800" b="0" smtClean="0">
                <a:solidFill>
                  <a:schemeClr val="accent1"/>
                </a:solidFill>
                <a:ea typeface="+mn-ea"/>
              </a:rPr>
              <a:t>)</a:t>
            </a:r>
            <a:endParaRPr lang="vi-VN" sz="2800" b="0" smtClean="0">
              <a:solidFill>
                <a:schemeClr val="accent1"/>
              </a:solidFill>
              <a:ea typeface="+mn-ea"/>
            </a:endParaRPr>
          </a:p>
          <a:p>
            <a:pPr>
              <a:buNone/>
            </a:pPr>
            <a:endParaRPr lang="en-US" sz="2400" smtClean="0">
              <a:solidFill>
                <a:srgbClr val="C00000"/>
              </a:solidFill>
            </a:endParaRPr>
          </a:p>
          <a:p>
            <a:pPr>
              <a:buNone/>
            </a:pPr>
            <a:r>
              <a:rPr lang="en-US" smtClean="0">
                <a:solidFill>
                  <a:srgbClr val="0070C0"/>
                </a:solidFill>
              </a:rPr>
              <a:t> </a:t>
            </a:r>
          </a:p>
          <a:p>
            <a:pPr>
              <a:buNone/>
            </a:pP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25</a:t>
            </a:fld>
            <a:endParaRPr lang="en-US" altLang="ko-K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36736" cy="789296"/>
          </a:xfrm>
        </p:spPr>
        <p:txBody>
          <a:bodyPr/>
          <a:lstStyle/>
          <a:p>
            <a:r>
              <a:rPr lang="vi-VN" smtClean="0"/>
              <a:t>Cách xếp thứ tự danh mục tham khảo</a:t>
            </a:r>
            <a:endParaRPr lang="vi-VN"/>
          </a:p>
        </p:txBody>
      </p:sp>
      <p:sp>
        <p:nvSpPr>
          <p:cNvPr id="3" name="Content Placeholder 2"/>
          <p:cNvSpPr>
            <a:spLocks noGrp="1"/>
          </p:cNvSpPr>
          <p:nvPr>
            <p:ph idx="1"/>
          </p:nvPr>
        </p:nvSpPr>
        <p:spPr>
          <a:xfrm>
            <a:off x="408432" y="853804"/>
            <a:ext cx="8359254" cy="4899546"/>
          </a:xfrm>
        </p:spPr>
        <p:txBody>
          <a:bodyPr/>
          <a:lstStyle/>
          <a:p>
            <a:r>
              <a:rPr lang="en-US" b="0" smtClean="0"/>
              <a:t>Phân loại và xếp riêng từng ngôn ngữ (Việt, Anh, Pháp, Đức, Nga, Trung, Nhật...)</a:t>
            </a:r>
            <a:endParaRPr lang="vi-VN" b="0" smtClean="0"/>
          </a:p>
          <a:p>
            <a:r>
              <a:rPr lang="en-US" b="0" smtClean="0"/>
              <a:t>Tài liệu nước ngoài phải giữ nguyên văn</a:t>
            </a:r>
            <a:endParaRPr lang="vi-VN" b="0" smtClean="0"/>
          </a:p>
          <a:p>
            <a:r>
              <a:rPr lang="en-US" b="0" smtClean="0"/>
              <a:t>Xếp theo thứ tự ABC </a:t>
            </a:r>
            <a:r>
              <a:rPr lang="en-US" b="0" smtClean="0">
                <a:solidFill>
                  <a:srgbClr val="C00000"/>
                </a:solidFill>
              </a:rPr>
              <a:t>họ của tác giả </a:t>
            </a:r>
            <a:r>
              <a:rPr lang="en-US" b="0" smtClean="0"/>
              <a:t>(với tác giả nước ngoài) hoặc </a:t>
            </a:r>
            <a:r>
              <a:rPr lang="en-US" b="0" smtClean="0">
                <a:solidFill>
                  <a:srgbClr val="C00000"/>
                </a:solidFill>
              </a:rPr>
              <a:t>tên của tác giả </a:t>
            </a:r>
            <a:r>
              <a:rPr lang="en-US" b="0" smtClean="0"/>
              <a:t>(với tác giả Việt Nam). </a:t>
            </a:r>
          </a:p>
          <a:p>
            <a:r>
              <a:rPr lang="en-US" b="0" smtClean="0"/>
              <a:t>Tài liệu không có tác giả thì xếp theo vần chữ cái của tựa tài liệu, bỏ các mạo từ ở đầu như </a:t>
            </a:r>
            <a:r>
              <a:rPr lang="en-US" b="0" smtClean="0">
                <a:solidFill>
                  <a:srgbClr val="00B050"/>
                </a:solidFill>
              </a:rPr>
              <a:t>the, an, a, des, un, une</a:t>
            </a:r>
            <a:endParaRPr lang="en-US" b="0" smtClean="0"/>
          </a:p>
          <a:p>
            <a:r>
              <a:rPr lang="en-US" b="0" smtClean="0"/>
              <a:t>Nếu phải xuống dòng thì lùi vào 1 cm so với dòng trên</a:t>
            </a:r>
            <a:endParaRPr lang="vi-VN" b="0"/>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26</a:t>
            </a:fld>
            <a:endParaRPr lang="en-US" altLang="ko-K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  </a:t>
            </a:r>
            <a:endParaRPr lang="vi-VN"/>
          </a:p>
        </p:txBody>
      </p:sp>
      <p:sp>
        <p:nvSpPr>
          <p:cNvPr id="3" name="Content Placeholder 2"/>
          <p:cNvSpPr>
            <a:spLocks noGrp="1"/>
          </p:cNvSpPr>
          <p:nvPr>
            <p:ph idx="1"/>
          </p:nvPr>
        </p:nvSpPr>
        <p:spPr/>
        <p:txBody>
          <a:bodyPr/>
          <a:lstStyle/>
          <a:p>
            <a:r>
              <a:rPr lang="en-US" b="0" smtClean="0"/>
              <a:t>Xem </a:t>
            </a:r>
            <a:r>
              <a:rPr lang="en-US" b="0" i="1" smtClean="0"/>
              <a:t>Quy định về Đạo văn </a:t>
            </a:r>
            <a:r>
              <a:rPr lang="en-US" b="0" smtClean="0"/>
              <a:t>và </a:t>
            </a:r>
            <a:r>
              <a:rPr lang="en-US" b="0" i="1" smtClean="0"/>
              <a:t>Hướng dẫn lập Danh mục Tham khảo</a:t>
            </a:r>
            <a:r>
              <a:rPr lang="en-US" b="0" smtClean="0"/>
              <a:t> tại trang web thư viện:</a:t>
            </a:r>
          </a:p>
          <a:p>
            <a:pPr algn="ctr">
              <a:buNone/>
            </a:pPr>
            <a:r>
              <a:rPr lang="vi-VN" b="0" i="1" smtClean="0">
                <a:hlinkClick r:id="rId2"/>
              </a:rPr>
              <a:t>http://thuvien.hoasen.edu.vn/</a:t>
            </a:r>
            <a:endParaRPr lang="en-US" b="0" i="1" smtClean="0"/>
          </a:p>
          <a:p>
            <a:pPr>
              <a:buNone/>
            </a:pPr>
            <a:r>
              <a:rPr lang="en-US" b="0" smtClean="0"/>
              <a:t>   Chuyên mục: </a:t>
            </a:r>
          </a:p>
          <a:p>
            <a:pPr>
              <a:buNone/>
            </a:pPr>
            <a:r>
              <a:rPr lang="en-US" b="0" smtClean="0"/>
              <a:t>   </a:t>
            </a:r>
            <a:r>
              <a:rPr lang="en-US" b="0" u="sng" smtClean="0">
                <a:solidFill>
                  <a:srgbClr val="C00000"/>
                </a:solidFill>
              </a:rPr>
              <a:t>Kiến thức thông tin</a:t>
            </a:r>
            <a:r>
              <a:rPr lang="en-US" b="0" smtClean="0">
                <a:solidFill>
                  <a:srgbClr val="C00000"/>
                </a:solidFill>
              </a:rPr>
              <a:t> - </a:t>
            </a:r>
            <a:r>
              <a:rPr lang="vi-VN" b="0" u="sng" smtClean="0">
                <a:solidFill>
                  <a:srgbClr val="C00000"/>
                </a:solidFill>
              </a:rPr>
              <a:t>Hỗ trợ học tập, nghiên cứu</a:t>
            </a:r>
            <a:r>
              <a:rPr lang="en-US" u="sng" smtClean="0">
                <a:solidFill>
                  <a:srgbClr val="C00000"/>
                </a:solidFill>
              </a:rPr>
              <a:t> </a:t>
            </a:r>
          </a:p>
          <a:p>
            <a:r>
              <a:rPr lang="vi-VN" b="0" smtClean="0"/>
              <a:t>Thư viện thường xuyên tổ chức các lớp hướng dẫn phòng tránh đạo văn, cách trích dẫn &amp; lập danh mục, và các chủ đề về tra cứu và sử dụng thông tin.</a:t>
            </a:r>
            <a:endParaRPr lang="en-US" b="0" smtClean="0"/>
          </a:p>
          <a:p>
            <a:pPr>
              <a:buNone/>
            </a:pPr>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27</a:t>
            </a:fld>
            <a:endParaRPr lang="en-US" altLang="ko-K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3" name="Content Placeholder 2"/>
          <p:cNvSpPr>
            <a:spLocks noGrp="1"/>
          </p:cNvSpPr>
          <p:nvPr>
            <p:ph idx="1"/>
          </p:nvPr>
        </p:nvSpPr>
        <p:spPr/>
        <p:txBody>
          <a:bodyPr/>
          <a:lstStyle/>
          <a:p>
            <a:endParaRPr lang="vi-VN"/>
          </a:p>
        </p:txBody>
      </p:sp>
      <p:sp>
        <p:nvSpPr>
          <p:cNvPr id="4" name="Slide Number Placeholder 3"/>
          <p:cNvSpPr>
            <a:spLocks noGrp="1"/>
          </p:cNvSpPr>
          <p:nvPr>
            <p:ph type="sldNum" sz="quarter" idx="11"/>
          </p:nvPr>
        </p:nvSpPr>
        <p:spPr/>
        <p:txBody>
          <a:bodyPr/>
          <a:lstStyle/>
          <a:p>
            <a:pPr>
              <a:defRPr/>
            </a:pPr>
            <a:fld id="{45865E22-217B-46CF-897B-D405F50577A4}" type="slidenum">
              <a:rPr lang="ko-KR" altLang="en-US" smtClean="0"/>
              <a:pPr>
                <a:defRPr/>
              </a:pPr>
              <a:t>28</a:t>
            </a:fld>
            <a:endParaRPr lang="en-US" altLang="ko-KR"/>
          </a:p>
        </p:txBody>
      </p:sp>
      <p:pic>
        <p:nvPicPr>
          <p:cNvPr id="1026" name="Picture 2"/>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a:effectLst>
            <a:outerShdw blurRad="368300" dist="1562100" dir="5400000" algn="ctr" rotWithShape="0">
              <a:srgbClr val="000000"/>
            </a:outerShdw>
          </a:effectLst>
        </p:spPr>
      </p:pic>
      <p:sp>
        <p:nvSpPr>
          <p:cNvPr id="9" name="Rounded Rectangle 8"/>
          <p:cNvSpPr/>
          <p:nvPr/>
        </p:nvSpPr>
        <p:spPr bwMode="auto">
          <a:xfrm>
            <a:off x="3048000" y="3547872"/>
            <a:ext cx="2414016" cy="2657856"/>
          </a:xfrm>
          <a:prstGeom prst="roundRect">
            <a:avLst/>
          </a:prstGeom>
          <a:noFill/>
          <a:ln w="9525" cap="flat" cmpd="sng" algn="ctr">
            <a:solidFill>
              <a:srgbClr val="C00000"/>
            </a:solidFill>
            <a:prstDash val="solid"/>
            <a:round/>
            <a:headEnd type="none" w="med" len="med"/>
            <a:tailEnd type="none" w="med" len="med"/>
          </a:ln>
          <a:effectLst/>
          <a:scene3d>
            <a:camera prst="orthographicFront"/>
            <a:lightRig rig="threePt" dir="t"/>
          </a:scene3d>
          <a:sp3d contourW="38100">
            <a:contourClr>
              <a:srgbClr val="FF0000"/>
            </a:contourClr>
          </a:sp3d>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vi-VN" sz="1800" b="0" i="0" u="none" strike="noStrike" cap="none" normalizeH="0" baseline="0" smtClean="0">
              <a:ln>
                <a:noFill/>
              </a:ln>
              <a:solidFill>
                <a:schemeClr val="tx1"/>
              </a:solidFill>
              <a:effectLst/>
              <a:latin typeface="Times New Roman" pitchFamily="18" charset="0"/>
            </a:endParaRPr>
          </a:p>
        </p:txBody>
      </p:sp>
    </p:spTree>
  </p:cSld>
  <p:clrMapOvr>
    <a:masterClrMapping/>
  </p:clrMapOvr>
  <p:transition/>
</p:sld>
</file>

<file path=ppt/theme/theme1.xml><?xml version="1.0" encoding="utf-8"?>
<a:theme xmlns:a="http://schemas.openxmlformats.org/drawingml/2006/main" name="HDSD TV 2010 template">
  <a:themeElements>
    <a:clrScheme name="Corporation 1">
      <a:dk1>
        <a:srgbClr val="FFCC00"/>
      </a:dk1>
      <a:lt1>
        <a:srgbClr val="FFFFFF"/>
      </a:lt1>
      <a:dk2>
        <a:srgbClr val="DDDDDD"/>
      </a:dk2>
      <a:lt2>
        <a:srgbClr val="C0C0C0"/>
      </a:lt2>
      <a:accent1>
        <a:srgbClr val="0092CC"/>
      </a:accent1>
      <a:accent2>
        <a:srgbClr val="C7E6FD"/>
      </a:accent2>
      <a:accent3>
        <a:srgbClr val="FFFFFF"/>
      </a:accent3>
      <a:accent4>
        <a:srgbClr val="DAAE00"/>
      </a:accent4>
      <a:accent5>
        <a:srgbClr val="AAC7E2"/>
      </a:accent5>
      <a:accent6>
        <a:srgbClr val="B4D0E5"/>
      </a:accent6>
      <a:hlink>
        <a:srgbClr val="333399"/>
      </a:hlink>
      <a:folHlink>
        <a:srgbClr val="02C4DE"/>
      </a:folHlink>
    </a:clrScheme>
    <a:fontScheme name="Corporatio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orporation 1">
        <a:dk1>
          <a:srgbClr val="FFCC00"/>
        </a:dk1>
        <a:lt1>
          <a:srgbClr val="FFFFFF"/>
        </a:lt1>
        <a:dk2>
          <a:srgbClr val="DDDDDD"/>
        </a:dk2>
        <a:lt2>
          <a:srgbClr val="C0C0C0"/>
        </a:lt2>
        <a:accent1>
          <a:srgbClr val="0092CC"/>
        </a:accent1>
        <a:accent2>
          <a:srgbClr val="C7E6FD"/>
        </a:accent2>
        <a:accent3>
          <a:srgbClr val="FFFFFF"/>
        </a:accent3>
        <a:accent4>
          <a:srgbClr val="DAAE00"/>
        </a:accent4>
        <a:accent5>
          <a:srgbClr val="AAC7E2"/>
        </a:accent5>
        <a:accent6>
          <a:srgbClr val="B4D0E5"/>
        </a:accent6>
        <a:hlink>
          <a:srgbClr val="333399"/>
        </a:hlink>
        <a:folHlink>
          <a:srgbClr val="02C4DE"/>
        </a:folHlink>
      </a:clrScheme>
      <a:clrMap bg1="lt1" tx1="dk1" bg2="lt2" tx2="dk2" accent1="accent1" accent2="accent2" accent3="accent3" accent4="accent4" accent5="accent5" accent6="accent6" hlink="hlink" folHlink="folHlink"/>
    </a:extraClrScheme>
    <a:extraClrScheme>
      <a:clrScheme name="Corporation 2">
        <a:dk1>
          <a:srgbClr val="E1DC00"/>
        </a:dk1>
        <a:lt1>
          <a:srgbClr val="FFFFFF"/>
        </a:lt1>
        <a:dk2>
          <a:srgbClr val="DDDDDD"/>
        </a:dk2>
        <a:lt2>
          <a:srgbClr val="C0C0C0"/>
        </a:lt2>
        <a:accent1>
          <a:srgbClr val="008800"/>
        </a:accent1>
        <a:accent2>
          <a:srgbClr val="E0F5C7"/>
        </a:accent2>
        <a:accent3>
          <a:srgbClr val="FFFFFF"/>
        </a:accent3>
        <a:accent4>
          <a:srgbClr val="C0BC00"/>
        </a:accent4>
        <a:accent5>
          <a:srgbClr val="AAC3AA"/>
        </a:accent5>
        <a:accent6>
          <a:srgbClr val="CBDEB4"/>
        </a:accent6>
        <a:hlink>
          <a:srgbClr val="003300"/>
        </a:hlink>
        <a:folHlink>
          <a:srgbClr val="00CC66"/>
        </a:folHlink>
      </a:clrScheme>
      <a:clrMap bg1="lt1" tx1="dk1" bg2="lt2" tx2="dk2" accent1="accent1" accent2="accent2" accent3="accent3" accent4="accent4" accent5="accent5" accent6="accent6" hlink="hlink" folHlink="folHlink"/>
    </a:extraClrScheme>
    <a:extraClrScheme>
      <a:clrScheme name="Corporation 3">
        <a:dk1>
          <a:srgbClr val="00CC66"/>
        </a:dk1>
        <a:lt1>
          <a:srgbClr val="FFFFFF"/>
        </a:lt1>
        <a:dk2>
          <a:srgbClr val="DDDDDD"/>
        </a:dk2>
        <a:lt2>
          <a:srgbClr val="C0C0C0"/>
        </a:lt2>
        <a:accent1>
          <a:srgbClr val="BD9633"/>
        </a:accent1>
        <a:accent2>
          <a:srgbClr val="FFEDC9"/>
        </a:accent2>
        <a:accent3>
          <a:srgbClr val="FFFFFF"/>
        </a:accent3>
        <a:accent4>
          <a:srgbClr val="00AE56"/>
        </a:accent4>
        <a:accent5>
          <a:srgbClr val="DBC9AD"/>
        </a:accent5>
        <a:accent6>
          <a:srgbClr val="E7D7B6"/>
        </a:accent6>
        <a:hlink>
          <a:srgbClr val="68452A"/>
        </a:hlink>
        <a:folHlink>
          <a:srgbClr val="FF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HDSD TV 2010 template</Template>
  <TotalTime>8832</TotalTime>
  <Words>1925</Words>
  <Application>Microsoft Office PowerPoint</Application>
  <PresentationFormat>On-screen Show (4:3)</PresentationFormat>
  <Paragraphs>186</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HDSD TV 2010 template</vt:lpstr>
      <vt:lpstr>PHÒNG CHỐNG ĐẠO VĂN  &amp; lập danh mục tham khảo</vt:lpstr>
      <vt:lpstr>Thế nào là đạo văn? </vt:lpstr>
      <vt:lpstr>Các dạng đạo văn thường thấy</vt:lpstr>
      <vt:lpstr>Vì sao không nên đạo văn? </vt:lpstr>
      <vt:lpstr>Vì sao không nên đạo văn? </vt:lpstr>
      <vt:lpstr>Tình trạng báo động trong sinh viên </vt:lpstr>
      <vt:lpstr>... và giảng viên</vt:lpstr>
      <vt:lpstr>Hậu quả khi bị phát hiện...</vt:lpstr>
      <vt:lpstr>Hậu quả khi bị phát hiện...</vt:lpstr>
      <vt:lpstr>Hậu quả khi bị phát hiện...</vt:lpstr>
      <vt:lpstr>Vì sao nhà trường chú trọng phòng tránh đạo văn?</vt:lpstr>
      <vt:lpstr>Hành động tại Đại học Hoa Sen </vt:lpstr>
      <vt:lpstr>Phòng tránh đạo văn bằng cách nào?</vt:lpstr>
      <vt:lpstr>Vì sao phải ghi nguồn?</vt:lpstr>
      <vt:lpstr>Ghi trích dẫn trong bài</vt:lpstr>
      <vt:lpstr>  Trích dẫn nguyên văn </vt:lpstr>
      <vt:lpstr>Dẫn giải lại đoạn văn</vt:lpstr>
      <vt:lpstr>  </vt:lpstr>
      <vt:lpstr>Tóm tắt ý tưởng</vt:lpstr>
      <vt:lpstr>Lập danh mục tham khảo</vt:lpstr>
      <vt:lpstr>Lập danh mục</vt:lpstr>
      <vt:lpstr>Các mẫu danh mục thông dụng</vt:lpstr>
      <vt:lpstr>Mẫu danh mục sách</vt:lpstr>
      <vt:lpstr>Mẫu danh mục tạp chí</vt:lpstr>
      <vt:lpstr>Mẫu danh mục tạp chí điện tử</vt:lpstr>
      <vt:lpstr>Cách xếp thứ tự danh mục tham khảo</vt:lpstr>
      <vt:lpstr>  </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tttthuy</dc:creator>
  <cp:lastModifiedBy>tttthuy</cp:lastModifiedBy>
  <cp:revision>640</cp:revision>
  <dcterms:created xsi:type="dcterms:W3CDTF">2010-09-15T09:09:27Z</dcterms:created>
  <dcterms:modified xsi:type="dcterms:W3CDTF">2013-03-08T10:02:10Z</dcterms:modified>
</cp:coreProperties>
</file>