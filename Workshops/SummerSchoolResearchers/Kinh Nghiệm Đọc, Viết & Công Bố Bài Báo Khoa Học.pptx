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16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19C120-1821-4D49-B0AD-F7FE235EBAF4}"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3C6CF8-9AF1-4BAD-B16A-E88CB94E6DBC}" type="slidenum">
              <a:rPr lang="en-US" smtClean="0"/>
              <a:t>‹#›</a:t>
            </a:fld>
            <a:endParaRPr lang="en-US"/>
          </a:p>
        </p:txBody>
      </p:sp>
    </p:spTree>
    <p:extLst>
      <p:ext uri="{BB962C8B-B14F-4D97-AF65-F5344CB8AC3E}">
        <p14:creationId xmlns:p14="http://schemas.microsoft.com/office/powerpoint/2010/main" val="718074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7/23/2026</a:t>
            </a:r>
          </a:p>
        </p:txBody>
      </p:sp>
      <p:sp>
        <p:nvSpPr>
          <p:cNvPr id="5" name="Footer Placeholder 4"/>
          <p:cNvSpPr>
            <a:spLocks noGrp="1"/>
          </p:cNvSpPr>
          <p:nvPr>
            <p:ph type="ftr" sz="quarter" idx="11"/>
          </p:nvPr>
        </p:nvSpPr>
        <p:spPr/>
        <p:txBody>
          <a:bodyPr/>
          <a:lstStyle/>
          <a:p>
            <a:r>
              <a:rPr lang="en-US"/>
              <a:t>Summer School for Researchers,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7/23/2026</a:t>
            </a:r>
          </a:p>
        </p:txBody>
      </p:sp>
      <p:sp>
        <p:nvSpPr>
          <p:cNvPr id="5" name="Footer Placeholder 4"/>
          <p:cNvSpPr>
            <a:spLocks noGrp="1"/>
          </p:cNvSpPr>
          <p:nvPr>
            <p:ph type="ftr" sz="quarter" idx="11"/>
          </p:nvPr>
        </p:nvSpPr>
        <p:spPr/>
        <p:txBody>
          <a:bodyPr/>
          <a:lstStyle/>
          <a:p>
            <a:r>
              <a:rPr lang="en-US"/>
              <a:t>Summer School for Researchers,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7/23/2026</a:t>
            </a:r>
          </a:p>
        </p:txBody>
      </p:sp>
      <p:sp>
        <p:nvSpPr>
          <p:cNvPr id="5" name="Footer Placeholder 4"/>
          <p:cNvSpPr>
            <a:spLocks noGrp="1"/>
          </p:cNvSpPr>
          <p:nvPr>
            <p:ph type="ftr" sz="quarter" idx="11"/>
          </p:nvPr>
        </p:nvSpPr>
        <p:spPr/>
        <p:txBody>
          <a:bodyPr/>
          <a:lstStyle/>
          <a:p>
            <a:r>
              <a:rPr lang="en-US"/>
              <a:t>Summer School for Researchers,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7/23/2026</a:t>
            </a:r>
          </a:p>
        </p:txBody>
      </p:sp>
      <p:sp>
        <p:nvSpPr>
          <p:cNvPr id="6" name="Footer Placeholder 5"/>
          <p:cNvSpPr>
            <a:spLocks noGrp="1"/>
          </p:cNvSpPr>
          <p:nvPr>
            <p:ph type="ftr" sz="quarter" idx="11"/>
          </p:nvPr>
        </p:nvSpPr>
        <p:spPr/>
        <p:txBody>
          <a:bodyPr/>
          <a:lstStyle/>
          <a:p>
            <a:r>
              <a:rPr lang="en-US"/>
              <a:t>Summer School for Researchers,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7/23/2026</a:t>
            </a:r>
          </a:p>
        </p:txBody>
      </p:sp>
      <p:sp>
        <p:nvSpPr>
          <p:cNvPr id="8" name="Footer Placeholder 7"/>
          <p:cNvSpPr>
            <a:spLocks noGrp="1"/>
          </p:cNvSpPr>
          <p:nvPr>
            <p:ph type="ftr" sz="quarter" idx="11"/>
          </p:nvPr>
        </p:nvSpPr>
        <p:spPr/>
        <p:txBody>
          <a:bodyPr/>
          <a:lstStyle/>
          <a:p>
            <a:r>
              <a:rPr lang="en-US"/>
              <a:t>Summer School for Researchers, 2026</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7/23/2026</a:t>
            </a:r>
          </a:p>
        </p:txBody>
      </p:sp>
      <p:sp>
        <p:nvSpPr>
          <p:cNvPr id="4" name="Footer Placeholder 3"/>
          <p:cNvSpPr>
            <a:spLocks noGrp="1"/>
          </p:cNvSpPr>
          <p:nvPr>
            <p:ph type="ftr" sz="quarter" idx="11"/>
          </p:nvPr>
        </p:nvSpPr>
        <p:spPr/>
        <p:txBody>
          <a:bodyPr/>
          <a:lstStyle/>
          <a:p>
            <a:r>
              <a:rPr lang="en-US"/>
              <a:t>Summer School for Researchers, 2026</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7/23/2026</a:t>
            </a:r>
          </a:p>
        </p:txBody>
      </p:sp>
      <p:sp>
        <p:nvSpPr>
          <p:cNvPr id="3" name="Footer Placeholder 2"/>
          <p:cNvSpPr>
            <a:spLocks noGrp="1"/>
          </p:cNvSpPr>
          <p:nvPr>
            <p:ph type="ftr" sz="quarter" idx="11"/>
          </p:nvPr>
        </p:nvSpPr>
        <p:spPr/>
        <p:txBody>
          <a:bodyPr/>
          <a:lstStyle/>
          <a:p>
            <a:r>
              <a:rPr lang="en-US"/>
              <a:t>Summer School for Researchers, 2026</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7/23/2026</a:t>
            </a:r>
          </a:p>
        </p:txBody>
      </p:sp>
      <p:sp>
        <p:nvSpPr>
          <p:cNvPr id="6" name="Footer Placeholder 5"/>
          <p:cNvSpPr>
            <a:spLocks noGrp="1"/>
          </p:cNvSpPr>
          <p:nvPr>
            <p:ph type="ftr" sz="quarter" idx="11"/>
          </p:nvPr>
        </p:nvSpPr>
        <p:spPr/>
        <p:txBody>
          <a:bodyPr/>
          <a:lstStyle/>
          <a:p>
            <a:r>
              <a:rPr lang="en-US"/>
              <a:t>Summer School for Researchers,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7/23/2026</a:t>
            </a:r>
          </a:p>
        </p:txBody>
      </p:sp>
      <p:sp>
        <p:nvSpPr>
          <p:cNvPr id="6" name="Footer Placeholder 5"/>
          <p:cNvSpPr>
            <a:spLocks noGrp="1"/>
          </p:cNvSpPr>
          <p:nvPr>
            <p:ph type="ftr" sz="quarter" idx="11"/>
          </p:nvPr>
        </p:nvSpPr>
        <p:spPr/>
        <p:txBody>
          <a:bodyPr/>
          <a:lstStyle/>
          <a:p>
            <a:r>
              <a:rPr lang="en-US"/>
              <a:t>Summer School for Researchers,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7/23/2026</a:t>
            </a:r>
          </a:p>
        </p:txBody>
      </p:sp>
      <p:sp>
        <p:nvSpPr>
          <p:cNvPr id="5" name="Footer Placeholder 4"/>
          <p:cNvSpPr>
            <a:spLocks noGrp="1"/>
          </p:cNvSpPr>
          <p:nvPr>
            <p:ph type="ftr" sz="quarter" idx="11"/>
          </p:nvPr>
        </p:nvSpPr>
        <p:spPr/>
        <p:txBody>
          <a:bodyPr/>
          <a:lstStyle/>
          <a:p>
            <a:r>
              <a:rPr lang="en-US"/>
              <a:t>Summer School for Researchers,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7/23/2026</a:t>
            </a:r>
          </a:p>
        </p:txBody>
      </p:sp>
      <p:sp>
        <p:nvSpPr>
          <p:cNvPr id="5" name="Footer Placeholder 4"/>
          <p:cNvSpPr>
            <a:spLocks noGrp="1"/>
          </p:cNvSpPr>
          <p:nvPr>
            <p:ph type="ftr" sz="quarter" idx="11"/>
          </p:nvPr>
        </p:nvSpPr>
        <p:spPr/>
        <p:txBody>
          <a:bodyPr/>
          <a:lstStyle/>
          <a:p>
            <a:r>
              <a:rPr lang="en-US"/>
              <a:t>Summer School for Researchers,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7/23/2026</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Summer School for Researchers, 2026</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6.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31.png"/><Relationship Id="rId5" Type="http://schemas.openxmlformats.org/officeDocument/2006/relationships/image" Target="../media/image28.png"/><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433887" y="2126009"/>
            <a:ext cx="3324225" cy="323850"/>
          </a:xfrm>
          <a:prstGeom prst="rect">
            <a:avLst/>
          </a:prstGeom>
        </p:spPr>
      </p:pic>
      <p:sp>
        <p:nvSpPr>
          <p:cNvPr id="4" name="TextBox 3"/>
          <p:cNvSpPr txBox="1"/>
          <p:nvPr/>
        </p:nvSpPr>
        <p:spPr>
          <a:xfrm>
            <a:off x="1095375" y="2678459"/>
            <a:ext cx="10001250" cy="1234380"/>
          </a:xfrm>
          <a:prstGeom prst="rect">
            <a:avLst/>
          </a:prstGeom>
          <a:noFill/>
        </p:spPr>
        <p:txBody>
          <a:bodyPr wrap="square" lIns="0" tIns="0" rIns="0" bIns="0" anchor="t">
            <a:spAutoFit/>
          </a:bodyPr>
          <a:lstStyle/>
          <a:p>
            <a:pPr algn="ctr">
              <a:lnSpc>
                <a:spcPts val="4859"/>
              </a:lnSpc>
            </a:pPr>
            <a:r>
              <a:rPr sz="4050" b="0" i="0" u="none">
                <a:solidFill>
                  <a:srgbClr val="0F172A"/>
                </a:solidFill>
                <a:latin typeface="Plus Jakarta Sans ExtraBold"/>
              </a:rPr>
              <a:t>Kinh Nghiệm Đọc, Viết &amp; Công Bố Bài Báo Quốc Tế</a:t>
            </a:r>
          </a:p>
        </p:txBody>
      </p:sp>
      <p:sp>
        <p:nvSpPr>
          <p:cNvPr id="5" name="TextBox 4"/>
          <p:cNvSpPr txBox="1"/>
          <p:nvPr/>
        </p:nvSpPr>
        <p:spPr>
          <a:xfrm>
            <a:off x="2047875" y="4103340"/>
            <a:ext cx="8096250" cy="628650"/>
          </a:xfrm>
          <a:prstGeom prst="rect">
            <a:avLst/>
          </a:prstGeom>
          <a:noFill/>
        </p:spPr>
        <p:txBody>
          <a:bodyPr wrap="square" lIns="0" tIns="0" rIns="0" bIns="0" anchor="t">
            <a:spAutoFit/>
          </a:bodyPr>
          <a:lstStyle/>
          <a:p>
            <a:pPr algn="ctr">
              <a:lnSpc>
                <a:spcPts val="2475"/>
              </a:lnSpc>
            </a:pPr>
            <a:r>
              <a:rPr sz="1650" b="0" i="0" u="none">
                <a:solidFill>
                  <a:srgbClr val="64748B"/>
                </a:solidFill>
                <a:latin typeface="Lora"/>
              </a:rPr>
              <a:t>Phương pháp tư duy hệ thống và chiến lược nâng cao năng suất công bố bài báo khoa học chất lượng cao</a:t>
            </a:r>
          </a:p>
        </p:txBody>
      </p:sp>
      <p:pic>
        <p:nvPicPr>
          <p:cNvPr id="6" name="Picture 5" descr="image.png"/>
          <p:cNvPicPr>
            <a:picLocks noChangeAspect="1"/>
          </p:cNvPicPr>
          <p:nvPr/>
        </p:nvPicPr>
        <p:blipFill>
          <a:blip r:embed="rId4"/>
          <a:stretch>
            <a:fillRect/>
          </a:stretch>
        </p:blipFill>
        <p:spPr>
          <a:xfrm>
            <a:off x="4624387" y="2230784"/>
            <a:ext cx="185737" cy="133350"/>
          </a:xfrm>
          <a:prstGeom prst="rect">
            <a:avLst/>
          </a:prstGeom>
        </p:spPr>
      </p:pic>
      <p:sp>
        <p:nvSpPr>
          <p:cNvPr id="7" name="Date Placeholder 6">
            <a:extLst>
              <a:ext uri="{FF2B5EF4-FFF2-40B4-BE49-F238E27FC236}">
                <a16:creationId xmlns:a16="http://schemas.microsoft.com/office/drawing/2014/main" id="{F0C4149F-491C-6A18-B880-01886C08AB29}"/>
              </a:ext>
            </a:extLst>
          </p:cNvPr>
          <p:cNvSpPr>
            <a:spLocks noGrp="1"/>
          </p:cNvSpPr>
          <p:nvPr>
            <p:ph type="dt" sz="half" idx="10"/>
          </p:nvPr>
        </p:nvSpPr>
        <p:spPr/>
        <p:txBody>
          <a:bodyPr/>
          <a:lstStyle/>
          <a:p>
            <a:r>
              <a:rPr lang="en-US"/>
              <a:t>7/23/2026</a:t>
            </a:r>
          </a:p>
        </p:txBody>
      </p:sp>
      <p:sp>
        <p:nvSpPr>
          <p:cNvPr id="8" name="Footer Placeholder 7">
            <a:extLst>
              <a:ext uri="{FF2B5EF4-FFF2-40B4-BE49-F238E27FC236}">
                <a16:creationId xmlns:a16="http://schemas.microsoft.com/office/drawing/2014/main" id="{FB43B4C0-FDBD-A138-4BAB-9711963672A4}"/>
              </a:ext>
            </a:extLst>
          </p:cNvPr>
          <p:cNvSpPr>
            <a:spLocks noGrp="1"/>
          </p:cNvSpPr>
          <p:nvPr>
            <p:ph type="ftr" sz="quarter" idx="11"/>
          </p:nvPr>
        </p:nvSpPr>
        <p:spPr/>
        <p:txBody>
          <a:bodyPr/>
          <a:lstStyle/>
          <a:p>
            <a:r>
              <a:rPr lang="en-US"/>
              <a:t>Summer School for Researchers, 2026</a:t>
            </a:r>
          </a:p>
        </p:txBody>
      </p:sp>
      <p:sp>
        <p:nvSpPr>
          <p:cNvPr id="9" name="Slide Number Placeholder 8">
            <a:extLst>
              <a:ext uri="{FF2B5EF4-FFF2-40B4-BE49-F238E27FC236}">
                <a16:creationId xmlns:a16="http://schemas.microsoft.com/office/drawing/2014/main" id="{B2F0C955-94C7-DC0D-1CAA-B4BFE0959B74}"/>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5753100" y="2362200"/>
            <a:ext cx="685800" cy="200025"/>
          </a:xfrm>
          <a:prstGeom prst="rect">
            <a:avLst/>
          </a:prstGeom>
          <a:noFill/>
        </p:spPr>
        <p:txBody>
          <a:bodyPr wrap="square" lIns="0" tIns="0" rIns="0" bIns="0" anchor="t">
            <a:spAutoFit/>
          </a:bodyPr>
          <a:lstStyle/>
          <a:p>
            <a:pPr algn="ctr"/>
            <a:r>
              <a:rPr sz="1200" b="1" i="0" u="none">
                <a:solidFill>
                  <a:srgbClr val="38BDF8"/>
                </a:solidFill>
                <a:latin typeface="Plus Jakarta Sans"/>
              </a:rPr>
              <a:t>PHẦN 1</a:t>
            </a:r>
          </a:p>
        </p:txBody>
      </p:sp>
      <p:sp>
        <p:nvSpPr>
          <p:cNvPr id="5" name="TextBox 4"/>
          <p:cNvSpPr txBox="1"/>
          <p:nvPr/>
        </p:nvSpPr>
        <p:spPr>
          <a:xfrm>
            <a:off x="2515552" y="2676525"/>
            <a:ext cx="7160895" cy="581025"/>
          </a:xfrm>
          <a:prstGeom prst="rect">
            <a:avLst/>
          </a:prstGeom>
          <a:noFill/>
        </p:spPr>
        <p:txBody>
          <a:bodyPr wrap="square" lIns="0" tIns="0" rIns="0" bIns="0" anchor="t">
            <a:spAutoFit/>
          </a:bodyPr>
          <a:lstStyle/>
          <a:p>
            <a:pPr algn="ctr"/>
            <a:r>
              <a:rPr sz="3600" b="0" i="0" u="none">
                <a:solidFill>
                  <a:srgbClr val="FFFFFF"/>
                </a:solidFill>
                <a:latin typeface="Plus Jakarta Sans ExtraBold"/>
              </a:rPr>
              <a:t>Kỹ Năng Đọc Bài Báo Khoa Học</a:t>
            </a:r>
          </a:p>
        </p:txBody>
      </p:sp>
      <p:sp>
        <p:nvSpPr>
          <p:cNvPr id="6" name="TextBox 5"/>
          <p:cNvSpPr txBox="1"/>
          <p:nvPr/>
        </p:nvSpPr>
        <p:spPr>
          <a:xfrm>
            <a:off x="2762250" y="3905250"/>
            <a:ext cx="6667500" cy="590550"/>
          </a:xfrm>
          <a:prstGeom prst="rect">
            <a:avLst/>
          </a:prstGeom>
          <a:noFill/>
        </p:spPr>
        <p:txBody>
          <a:bodyPr wrap="square" lIns="0" tIns="0" rIns="0" bIns="0" anchor="t">
            <a:spAutoFit/>
          </a:bodyPr>
          <a:lstStyle/>
          <a:p>
            <a:pPr algn="ctr">
              <a:lnSpc>
                <a:spcPts val="2325"/>
              </a:lnSpc>
            </a:pPr>
            <a:r>
              <a:rPr sz="1500" b="0" i="0" u="none">
                <a:solidFill>
                  <a:srgbClr val="94A3B8"/>
                </a:solidFill>
                <a:latin typeface="Plus Jakarta Sans"/>
              </a:rPr>
              <a:t>Đọc hiểu phản biện, chọn lọc thông tin hiệu quả và xây dựng tổng quan tài liệu vững chắc</a:t>
            </a:r>
          </a:p>
        </p:txBody>
      </p:sp>
      <p:sp>
        <p:nvSpPr>
          <p:cNvPr id="7" name="Date Placeholder 6">
            <a:extLst>
              <a:ext uri="{FF2B5EF4-FFF2-40B4-BE49-F238E27FC236}">
                <a16:creationId xmlns:a16="http://schemas.microsoft.com/office/drawing/2014/main" id="{3D70F907-8AC5-80F8-7046-514B573CB1A6}"/>
              </a:ext>
            </a:extLst>
          </p:cNvPr>
          <p:cNvSpPr>
            <a:spLocks noGrp="1"/>
          </p:cNvSpPr>
          <p:nvPr>
            <p:ph type="dt" sz="half" idx="10"/>
          </p:nvPr>
        </p:nvSpPr>
        <p:spPr/>
        <p:txBody>
          <a:bodyPr/>
          <a:lstStyle/>
          <a:p>
            <a:r>
              <a:rPr lang="en-US"/>
              <a:t>7/23/2026</a:t>
            </a:r>
          </a:p>
        </p:txBody>
      </p:sp>
      <p:sp>
        <p:nvSpPr>
          <p:cNvPr id="8" name="Footer Placeholder 7">
            <a:extLst>
              <a:ext uri="{FF2B5EF4-FFF2-40B4-BE49-F238E27FC236}">
                <a16:creationId xmlns:a16="http://schemas.microsoft.com/office/drawing/2014/main" id="{6938048D-3AE4-3660-ED5F-B2126DF007B0}"/>
              </a:ext>
            </a:extLst>
          </p:cNvPr>
          <p:cNvSpPr>
            <a:spLocks noGrp="1"/>
          </p:cNvSpPr>
          <p:nvPr>
            <p:ph type="ftr" sz="quarter" idx="11"/>
          </p:nvPr>
        </p:nvSpPr>
        <p:spPr/>
        <p:txBody>
          <a:bodyPr/>
          <a:lstStyle/>
          <a:p>
            <a:r>
              <a:rPr lang="en-US"/>
              <a:t>Summer School for Researchers, 2026</a:t>
            </a:r>
          </a:p>
        </p:txBody>
      </p:sp>
      <p:sp>
        <p:nvSpPr>
          <p:cNvPr id="9" name="Slide Number Placeholder 8">
            <a:extLst>
              <a:ext uri="{FF2B5EF4-FFF2-40B4-BE49-F238E27FC236}">
                <a16:creationId xmlns:a16="http://schemas.microsoft.com/office/drawing/2014/main" id="{B779ACEB-A4ED-BCEF-2BD1-A1C8CBCBBA61}"/>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77826"/>
            <a:ext cx="3505200" cy="2883396"/>
          </a:xfrm>
          <a:prstGeom prst="rect">
            <a:avLst/>
          </a:prstGeom>
        </p:spPr>
      </p:pic>
      <p:pic>
        <p:nvPicPr>
          <p:cNvPr id="4" name="Picture 3" descr="image.png"/>
          <p:cNvPicPr>
            <a:picLocks noChangeAspect="1"/>
          </p:cNvPicPr>
          <p:nvPr/>
        </p:nvPicPr>
        <p:blipFill>
          <a:blip r:embed="rId4"/>
          <a:stretch>
            <a:fillRect/>
          </a:stretch>
        </p:blipFill>
        <p:spPr>
          <a:xfrm>
            <a:off x="4343400" y="2377826"/>
            <a:ext cx="3505200" cy="2883396"/>
          </a:xfrm>
          <a:prstGeom prst="rect">
            <a:avLst/>
          </a:prstGeom>
        </p:spPr>
      </p:pic>
      <p:pic>
        <p:nvPicPr>
          <p:cNvPr id="5" name="Picture 4" descr="image.png"/>
          <p:cNvPicPr>
            <a:picLocks noChangeAspect="1"/>
          </p:cNvPicPr>
          <p:nvPr/>
        </p:nvPicPr>
        <p:blipFill>
          <a:blip r:embed="rId5"/>
          <a:stretch>
            <a:fillRect/>
          </a:stretch>
        </p:blipFill>
        <p:spPr>
          <a:xfrm>
            <a:off x="8115300" y="2377826"/>
            <a:ext cx="3505200" cy="2883396"/>
          </a:xfrm>
          <a:prstGeom prst="rect">
            <a:avLst/>
          </a:prstGeom>
        </p:spPr>
      </p:pic>
      <p:pic>
        <p:nvPicPr>
          <p:cNvPr id="6" name="Picture 5" descr="image.png"/>
          <p:cNvPicPr>
            <a:picLocks noChangeAspect="1"/>
          </p:cNvPicPr>
          <p:nvPr/>
        </p:nvPicPr>
        <p:blipFill>
          <a:blip r:embed="rId6"/>
          <a:stretch>
            <a:fillRect/>
          </a:stretch>
        </p:blipFill>
        <p:spPr>
          <a:xfrm>
            <a:off x="847725" y="2654051"/>
            <a:ext cx="533400" cy="533400"/>
          </a:xfrm>
          <a:prstGeom prst="rect">
            <a:avLst/>
          </a:prstGeom>
        </p:spPr>
      </p:pic>
      <p:sp>
        <p:nvSpPr>
          <p:cNvPr id="7" name="TextBox 6"/>
          <p:cNvSpPr txBox="1"/>
          <p:nvPr/>
        </p:nvSpPr>
        <p:spPr>
          <a:xfrm>
            <a:off x="847725" y="3377951"/>
            <a:ext cx="2150268" cy="238125"/>
          </a:xfrm>
          <a:prstGeom prst="rect">
            <a:avLst/>
          </a:prstGeom>
          <a:noFill/>
        </p:spPr>
        <p:txBody>
          <a:bodyPr wrap="square" lIns="0" tIns="0" rIns="0" bIns="0" anchor="t">
            <a:spAutoFit/>
          </a:bodyPr>
          <a:lstStyle/>
          <a:p>
            <a:pPr algn="l"/>
            <a:r>
              <a:rPr sz="1500" b="1" i="0" u="none">
                <a:solidFill>
                  <a:srgbClr val="0F172A"/>
                </a:solidFill>
                <a:latin typeface="Plus Jakarta Sans"/>
              </a:rPr>
              <a:t>Lần 1: Lướt Tổng Quan</a:t>
            </a:r>
          </a:p>
        </p:txBody>
      </p:sp>
      <p:sp>
        <p:nvSpPr>
          <p:cNvPr id="8" name="TextBox 7"/>
          <p:cNvSpPr txBox="1"/>
          <p:nvPr/>
        </p:nvSpPr>
        <p:spPr>
          <a:xfrm>
            <a:off x="847725" y="3730376"/>
            <a:ext cx="2952750" cy="1254621"/>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Đọc Tiêu đề, Abstract, Các mục lớn và Kết luận (5-10 phút). Mục tiêu: Xác định phạm vi, đóng góp chính và liệu bài báo có phù hợp với nghiên cứu của bạn hay không.</a:t>
            </a:r>
          </a:p>
        </p:txBody>
      </p:sp>
      <p:pic>
        <p:nvPicPr>
          <p:cNvPr id="9" name="Picture 8" descr="image.png"/>
          <p:cNvPicPr>
            <a:picLocks noChangeAspect="1"/>
          </p:cNvPicPr>
          <p:nvPr/>
        </p:nvPicPr>
        <p:blipFill>
          <a:blip r:embed="rId7"/>
          <a:stretch>
            <a:fillRect/>
          </a:stretch>
        </p:blipFill>
        <p:spPr>
          <a:xfrm>
            <a:off x="4619625" y="2654051"/>
            <a:ext cx="533400" cy="533400"/>
          </a:xfrm>
          <a:prstGeom prst="rect">
            <a:avLst/>
          </a:prstGeom>
        </p:spPr>
      </p:pic>
      <p:sp>
        <p:nvSpPr>
          <p:cNvPr id="10" name="TextBox 9"/>
          <p:cNvSpPr txBox="1"/>
          <p:nvPr/>
        </p:nvSpPr>
        <p:spPr>
          <a:xfrm>
            <a:off x="4619625" y="3377951"/>
            <a:ext cx="2060257" cy="238125"/>
          </a:xfrm>
          <a:prstGeom prst="rect">
            <a:avLst/>
          </a:prstGeom>
          <a:noFill/>
        </p:spPr>
        <p:txBody>
          <a:bodyPr wrap="square" lIns="0" tIns="0" rIns="0" bIns="0" anchor="t">
            <a:spAutoFit/>
          </a:bodyPr>
          <a:lstStyle/>
          <a:p>
            <a:pPr algn="l"/>
            <a:r>
              <a:rPr sz="1500" b="1" i="0" u="none">
                <a:solidFill>
                  <a:srgbClr val="0F172A"/>
                </a:solidFill>
                <a:latin typeface="Plus Jakarta Sans"/>
              </a:rPr>
              <a:t>Lần 2: Đọc Trọng Tâm</a:t>
            </a:r>
          </a:p>
        </p:txBody>
      </p:sp>
      <p:sp>
        <p:nvSpPr>
          <p:cNvPr id="11" name="TextBox 10"/>
          <p:cNvSpPr txBox="1"/>
          <p:nvPr/>
        </p:nvSpPr>
        <p:spPr>
          <a:xfrm>
            <a:off x="4619625" y="3730376"/>
            <a:ext cx="2952750" cy="1254621"/>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Nghiên cứu kỹ các Hình vẽ (Figures), Bảng biểu (Tables) và Đồ thị. Đọc phần Kết quả &amp; Bàn luận. Bỏ qua các chi tiết chứng minh toán học hoặc thuật toán phức tạp.</a:t>
            </a:r>
          </a:p>
        </p:txBody>
      </p:sp>
      <p:pic>
        <p:nvPicPr>
          <p:cNvPr id="12" name="Picture 11" descr="image.png"/>
          <p:cNvPicPr>
            <a:picLocks noChangeAspect="1"/>
          </p:cNvPicPr>
          <p:nvPr/>
        </p:nvPicPr>
        <p:blipFill>
          <a:blip r:embed="rId8"/>
          <a:stretch>
            <a:fillRect/>
          </a:stretch>
        </p:blipFill>
        <p:spPr>
          <a:xfrm>
            <a:off x="8391525" y="2654051"/>
            <a:ext cx="533400" cy="533400"/>
          </a:xfrm>
          <a:prstGeom prst="rect">
            <a:avLst/>
          </a:prstGeom>
        </p:spPr>
      </p:pic>
      <p:sp>
        <p:nvSpPr>
          <p:cNvPr id="13" name="TextBox 12"/>
          <p:cNvSpPr txBox="1"/>
          <p:nvPr/>
        </p:nvSpPr>
        <p:spPr>
          <a:xfrm>
            <a:off x="8391525" y="3377951"/>
            <a:ext cx="2230278" cy="238125"/>
          </a:xfrm>
          <a:prstGeom prst="rect">
            <a:avLst/>
          </a:prstGeom>
          <a:noFill/>
        </p:spPr>
        <p:txBody>
          <a:bodyPr wrap="square" lIns="0" tIns="0" rIns="0" bIns="0" anchor="t">
            <a:spAutoFit/>
          </a:bodyPr>
          <a:lstStyle/>
          <a:p>
            <a:pPr algn="l"/>
            <a:r>
              <a:rPr sz="1500" b="1" i="0" u="none">
                <a:solidFill>
                  <a:srgbClr val="0F172A"/>
                </a:solidFill>
                <a:latin typeface="Plus Jakarta Sans"/>
              </a:rPr>
              <a:t>Lần 3: Đọc Chuyên Sâu</a:t>
            </a:r>
          </a:p>
        </p:txBody>
      </p:sp>
      <p:sp>
        <p:nvSpPr>
          <p:cNvPr id="14" name="TextBox 13"/>
          <p:cNvSpPr txBox="1"/>
          <p:nvPr/>
        </p:nvSpPr>
        <p:spPr>
          <a:xfrm>
            <a:off x="8391525" y="3730376"/>
            <a:ext cx="2952750" cy="1254621"/>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Thử tái dựng lại công trình trong tư duy. Kiểm tra tính đúng đắn của giả thuyết, phương pháp luận và số liệu. Tìm ra các điểm yếu hoặc giả định chưa thỏa đáng.</a:t>
            </a:r>
          </a:p>
        </p:txBody>
      </p:sp>
      <p:pic>
        <p:nvPicPr>
          <p:cNvPr id="15" name="Picture 14" descr="image.png"/>
          <p:cNvPicPr>
            <a:picLocks noChangeAspect="1"/>
          </p:cNvPicPr>
          <p:nvPr/>
        </p:nvPicPr>
        <p:blipFill>
          <a:blip r:embed="rId9"/>
          <a:stretch>
            <a:fillRect/>
          </a:stretch>
        </p:blipFill>
        <p:spPr>
          <a:xfrm>
            <a:off x="985837" y="2806451"/>
            <a:ext cx="257175" cy="228600"/>
          </a:xfrm>
          <a:prstGeom prst="rect">
            <a:avLst/>
          </a:prstGeom>
        </p:spPr>
      </p:pic>
      <p:pic>
        <p:nvPicPr>
          <p:cNvPr id="16" name="Picture 15" descr="image.png"/>
          <p:cNvPicPr>
            <a:picLocks noChangeAspect="1"/>
          </p:cNvPicPr>
          <p:nvPr/>
        </p:nvPicPr>
        <p:blipFill>
          <a:blip r:embed="rId10"/>
          <a:stretch>
            <a:fillRect/>
          </a:stretch>
        </p:blipFill>
        <p:spPr>
          <a:xfrm>
            <a:off x="4772025" y="2806451"/>
            <a:ext cx="228600" cy="228600"/>
          </a:xfrm>
          <a:prstGeom prst="rect">
            <a:avLst/>
          </a:prstGeom>
        </p:spPr>
      </p:pic>
      <p:pic>
        <p:nvPicPr>
          <p:cNvPr id="17" name="Picture 16" descr="image.png"/>
          <p:cNvPicPr>
            <a:picLocks noChangeAspect="1"/>
          </p:cNvPicPr>
          <p:nvPr/>
        </p:nvPicPr>
        <p:blipFill>
          <a:blip r:embed="rId11"/>
          <a:stretch>
            <a:fillRect/>
          </a:stretch>
        </p:blipFill>
        <p:spPr>
          <a:xfrm>
            <a:off x="8543925" y="2806451"/>
            <a:ext cx="228600" cy="228600"/>
          </a:xfrm>
          <a:prstGeom prst="rect">
            <a:avLst/>
          </a:prstGeom>
        </p:spPr>
      </p:pic>
      <p:sp>
        <p:nvSpPr>
          <p:cNvPr id="18" name="TextBox 17"/>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Kỹ Thuật Đọc 3 Lần (Three-Pass Approach)</a:t>
            </a:r>
          </a:p>
        </p:txBody>
      </p:sp>
      <p:sp>
        <p:nvSpPr>
          <p:cNvPr id="19" name="Rectangle 18"/>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ate Placeholder 19">
            <a:extLst>
              <a:ext uri="{FF2B5EF4-FFF2-40B4-BE49-F238E27FC236}">
                <a16:creationId xmlns:a16="http://schemas.microsoft.com/office/drawing/2014/main" id="{306F0DD4-2F12-2A95-2A1E-029CC2AD4BC7}"/>
              </a:ext>
            </a:extLst>
          </p:cNvPr>
          <p:cNvSpPr>
            <a:spLocks noGrp="1"/>
          </p:cNvSpPr>
          <p:nvPr>
            <p:ph type="dt" sz="half" idx="10"/>
          </p:nvPr>
        </p:nvSpPr>
        <p:spPr/>
        <p:txBody>
          <a:bodyPr/>
          <a:lstStyle/>
          <a:p>
            <a:r>
              <a:rPr lang="en-US"/>
              <a:t>7/23/2026</a:t>
            </a:r>
          </a:p>
        </p:txBody>
      </p:sp>
      <p:sp>
        <p:nvSpPr>
          <p:cNvPr id="21" name="Footer Placeholder 20">
            <a:extLst>
              <a:ext uri="{FF2B5EF4-FFF2-40B4-BE49-F238E27FC236}">
                <a16:creationId xmlns:a16="http://schemas.microsoft.com/office/drawing/2014/main" id="{9582938D-649F-BC3B-50BF-CDC37CFFB564}"/>
              </a:ext>
            </a:extLst>
          </p:cNvPr>
          <p:cNvSpPr>
            <a:spLocks noGrp="1"/>
          </p:cNvSpPr>
          <p:nvPr>
            <p:ph type="ftr" sz="quarter" idx="11"/>
          </p:nvPr>
        </p:nvSpPr>
        <p:spPr/>
        <p:txBody>
          <a:bodyPr/>
          <a:lstStyle/>
          <a:p>
            <a:r>
              <a:rPr lang="en-US"/>
              <a:t>Summer School for Researchers, 2026</a:t>
            </a:r>
          </a:p>
        </p:txBody>
      </p:sp>
      <p:sp>
        <p:nvSpPr>
          <p:cNvPr id="22" name="Slide Number Placeholder 21">
            <a:extLst>
              <a:ext uri="{FF2B5EF4-FFF2-40B4-BE49-F238E27FC236}">
                <a16:creationId xmlns:a16="http://schemas.microsoft.com/office/drawing/2014/main" id="{1F243BC1-CCCE-1CE0-F3C6-ABC4B5C44249}"/>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2009775"/>
            <a:ext cx="5334000" cy="3619500"/>
          </a:xfrm>
          <a:prstGeom prst="rect">
            <a:avLst/>
          </a:prstGeom>
        </p:spPr>
      </p:pic>
      <p:sp>
        <p:nvSpPr>
          <p:cNvPr id="4" name="TextBox 3"/>
          <p:cNvSpPr txBox="1"/>
          <p:nvPr/>
        </p:nvSpPr>
        <p:spPr>
          <a:xfrm>
            <a:off x="676275" y="2011441"/>
            <a:ext cx="85725" cy="247650"/>
          </a:xfrm>
          <a:prstGeom prst="rect">
            <a:avLst/>
          </a:prstGeom>
          <a:noFill/>
        </p:spPr>
        <p:txBody>
          <a:bodyPr wrap="square" lIns="0" tIns="0" rIns="0" bIns="0" anchor="t">
            <a:spAutoFit/>
          </a:bodyPr>
          <a:lstStyle/>
          <a:p>
            <a:pPr algn="l"/>
            <a:r>
              <a:rPr sz="1275" b="0" i="0" u="none">
                <a:solidFill>
                  <a:srgbClr val="475569"/>
                </a:solidFill>
                <a:latin typeface="Plus Jakarta Sans"/>
              </a:rPr>
              <a:t>•</a:t>
            </a:r>
          </a:p>
        </p:txBody>
      </p:sp>
      <p:sp>
        <p:nvSpPr>
          <p:cNvPr id="5" name="TextBox 4"/>
          <p:cNvSpPr txBox="1"/>
          <p:nvPr/>
        </p:nvSpPr>
        <p:spPr>
          <a:xfrm>
            <a:off x="762000" y="2009775"/>
            <a:ext cx="5143500" cy="752772"/>
          </a:xfrm>
          <a:prstGeom prst="rect">
            <a:avLst/>
          </a:prstGeom>
          <a:noFill/>
        </p:spPr>
        <p:txBody>
          <a:bodyPr wrap="square" lIns="85725" tIns="0" rIns="0" bIns="0" anchor="t">
            <a:spAutoFit/>
          </a:bodyPr>
          <a:lstStyle/>
          <a:p>
            <a:pPr algn="l">
              <a:lnSpc>
                <a:spcPts val="1976"/>
              </a:lnSpc>
            </a:pPr>
            <a:r>
              <a:rPr sz="1275" b="1" i="0" u="none">
                <a:solidFill>
                  <a:srgbClr val="475569"/>
                </a:solidFill>
                <a:latin typeface="Plus Jakarta Sans"/>
              </a:rPr>
              <a:t>Đặt câu hỏi phản biện:</a:t>
            </a:r>
            <a:r>
              <a:rPr sz="1275" b="0" i="0" u="none">
                <a:solidFill>
                  <a:srgbClr val="475569"/>
                </a:solidFill>
                <a:latin typeface="Plus Jakarta Sans"/>
              </a:rPr>
              <a:t> Bài báo giải quyết câu hỏi gì? Giới hạn của nghiên cứu nằm ở đâu? Kết luận có dựa vững chắc trên dữ liệu không?</a:t>
            </a:r>
          </a:p>
        </p:txBody>
      </p:sp>
      <p:sp>
        <p:nvSpPr>
          <p:cNvPr id="6" name="TextBox 5"/>
          <p:cNvSpPr txBox="1"/>
          <p:nvPr/>
        </p:nvSpPr>
        <p:spPr>
          <a:xfrm>
            <a:off x="676275" y="2878514"/>
            <a:ext cx="85725" cy="247650"/>
          </a:xfrm>
          <a:prstGeom prst="rect">
            <a:avLst/>
          </a:prstGeom>
          <a:noFill/>
        </p:spPr>
        <p:txBody>
          <a:bodyPr wrap="square" lIns="0" tIns="0" rIns="0" bIns="0" anchor="t">
            <a:spAutoFit/>
          </a:bodyPr>
          <a:lstStyle/>
          <a:p>
            <a:pPr algn="l"/>
            <a:r>
              <a:rPr sz="1275" b="0" i="0" u="none">
                <a:solidFill>
                  <a:srgbClr val="475569"/>
                </a:solidFill>
                <a:latin typeface="Plus Jakarta Sans"/>
              </a:rPr>
              <a:t>•</a:t>
            </a:r>
          </a:p>
        </p:txBody>
      </p:sp>
      <p:sp>
        <p:nvSpPr>
          <p:cNvPr id="7" name="TextBox 6"/>
          <p:cNvSpPr txBox="1"/>
          <p:nvPr/>
        </p:nvSpPr>
        <p:spPr>
          <a:xfrm>
            <a:off x="762000" y="2876847"/>
            <a:ext cx="5143500" cy="501848"/>
          </a:xfrm>
          <a:prstGeom prst="rect">
            <a:avLst/>
          </a:prstGeom>
          <a:noFill/>
        </p:spPr>
        <p:txBody>
          <a:bodyPr wrap="square" lIns="85725" tIns="0" rIns="0" bIns="0" anchor="t">
            <a:spAutoFit/>
          </a:bodyPr>
          <a:lstStyle/>
          <a:p>
            <a:pPr algn="l">
              <a:lnSpc>
                <a:spcPts val="1976"/>
              </a:lnSpc>
            </a:pPr>
            <a:r>
              <a:rPr sz="1275" b="1" i="0" u="none">
                <a:solidFill>
                  <a:srgbClr val="475569"/>
                </a:solidFill>
                <a:latin typeface="Plus Jakarta Sans"/>
              </a:rPr>
              <a:t>Phân loại tài liệu:</a:t>
            </a:r>
            <a:r>
              <a:rPr sz="1275" b="0" i="0" u="none">
                <a:solidFill>
                  <a:srgbClr val="475569"/>
                </a:solidFill>
                <a:latin typeface="Plus Jakarta Sans"/>
              </a:rPr>
              <a:t> Chia bài báo thành các nhóm (Seminal/Pioneer, Core Methodology, Supporting Studies).</a:t>
            </a:r>
          </a:p>
        </p:txBody>
      </p:sp>
      <p:sp>
        <p:nvSpPr>
          <p:cNvPr id="8" name="TextBox 7"/>
          <p:cNvSpPr txBox="1"/>
          <p:nvPr/>
        </p:nvSpPr>
        <p:spPr>
          <a:xfrm>
            <a:off x="676275" y="3494662"/>
            <a:ext cx="85725" cy="247650"/>
          </a:xfrm>
          <a:prstGeom prst="rect">
            <a:avLst/>
          </a:prstGeom>
          <a:noFill/>
        </p:spPr>
        <p:txBody>
          <a:bodyPr wrap="square" lIns="0" tIns="0" rIns="0" bIns="0" anchor="t">
            <a:spAutoFit/>
          </a:bodyPr>
          <a:lstStyle/>
          <a:p>
            <a:pPr algn="l"/>
            <a:r>
              <a:rPr sz="1275" b="0" i="0" u="none">
                <a:solidFill>
                  <a:srgbClr val="475569"/>
                </a:solidFill>
                <a:latin typeface="Plus Jakarta Sans"/>
              </a:rPr>
              <a:t>•</a:t>
            </a:r>
          </a:p>
        </p:txBody>
      </p:sp>
      <p:sp>
        <p:nvSpPr>
          <p:cNvPr id="9" name="TextBox 8"/>
          <p:cNvSpPr txBox="1"/>
          <p:nvPr/>
        </p:nvSpPr>
        <p:spPr>
          <a:xfrm>
            <a:off x="762000" y="3492996"/>
            <a:ext cx="5143500" cy="501848"/>
          </a:xfrm>
          <a:prstGeom prst="rect">
            <a:avLst/>
          </a:prstGeom>
          <a:noFill/>
        </p:spPr>
        <p:txBody>
          <a:bodyPr wrap="square" lIns="85725" tIns="0" rIns="0" bIns="0" anchor="t">
            <a:spAutoFit/>
          </a:bodyPr>
          <a:lstStyle/>
          <a:p>
            <a:pPr algn="l">
              <a:lnSpc>
                <a:spcPts val="1976"/>
              </a:lnSpc>
            </a:pPr>
            <a:r>
              <a:rPr sz="1275" b="1" i="0" u="none">
                <a:solidFill>
                  <a:srgbClr val="475569"/>
                </a:solidFill>
                <a:latin typeface="Plus Jakarta Sans"/>
              </a:rPr>
              <a:t>Sử dụng phần mềm quản lý:</a:t>
            </a:r>
            <a:r>
              <a:rPr sz="1275" b="0" i="0" u="none">
                <a:solidFill>
                  <a:srgbClr val="475569"/>
                </a:solidFill>
                <a:latin typeface="Plus Jakarta Sans"/>
              </a:rPr>
              <a:t> Dùng Zotero hoặc Mendeley để lưu trữ trích dẫn, ghi chú (annotations) và tạo thư mục tự động.</a:t>
            </a:r>
          </a:p>
        </p:txBody>
      </p:sp>
      <p:sp>
        <p:nvSpPr>
          <p:cNvPr id="10" name="TextBox 9"/>
          <p:cNvSpPr txBox="1"/>
          <p:nvPr/>
        </p:nvSpPr>
        <p:spPr>
          <a:xfrm>
            <a:off x="676275" y="4110811"/>
            <a:ext cx="85725" cy="247650"/>
          </a:xfrm>
          <a:prstGeom prst="rect">
            <a:avLst/>
          </a:prstGeom>
          <a:noFill/>
        </p:spPr>
        <p:txBody>
          <a:bodyPr wrap="square" lIns="0" tIns="0" rIns="0" bIns="0" anchor="t">
            <a:spAutoFit/>
          </a:bodyPr>
          <a:lstStyle/>
          <a:p>
            <a:pPr algn="l"/>
            <a:r>
              <a:rPr sz="1275" b="0" i="0" u="none">
                <a:solidFill>
                  <a:srgbClr val="475569"/>
                </a:solidFill>
                <a:latin typeface="Plus Jakarta Sans"/>
              </a:rPr>
              <a:t>•</a:t>
            </a:r>
          </a:p>
        </p:txBody>
      </p:sp>
      <p:sp>
        <p:nvSpPr>
          <p:cNvPr id="11" name="TextBox 10"/>
          <p:cNvSpPr txBox="1"/>
          <p:nvPr/>
        </p:nvSpPr>
        <p:spPr>
          <a:xfrm>
            <a:off x="762000" y="4109144"/>
            <a:ext cx="5143500" cy="501848"/>
          </a:xfrm>
          <a:prstGeom prst="rect">
            <a:avLst/>
          </a:prstGeom>
          <a:noFill/>
        </p:spPr>
        <p:txBody>
          <a:bodyPr wrap="square" lIns="85725" tIns="0" rIns="0" bIns="0" anchor="t">
            <a:spAutoFit/>
          </a:bodyPr>
          <a:lstStyle/>
          <a:p>
            <a:pPr algn="l">
              <a:lnSpc>
                <a:spcPts val="1976"/>
              </a:lnSpc>
            </a:pPr>
            <a:r>
              <a:rPr sz="1275" b="1" i="0" u="none">
                <a:solidFill>
                  <a:srgbClr val="475569"/>
                </a:solidFill>
                <a:latin typeface="Plus Jakarta Sans"/>
              </a:rPr>
              <a:t>Xây dựng Matrix Review:</a:t>
            </a:r>
            <a:r>
              <a:rPr sz="1275" b="0" i="0" u="none">
                <a:solidFill>
                  <a:srgbClr val="475569"/>
                </a:solidFill>
                <a:latin typeface="Plus Jakarta Sans"/>
              </a:rPr>
              <a:t> Tổng hợp các bài báo vào bảng theo cột: Tác giả, Mục tiêu, Phương pháp, Phát hiện chính, Giới hạn.</a:t>
            </a:r>
          </a:p>
        </p:txBody>
      </p:sp>
      <p:pic>
        <p:nvPicPr>
          <p:cNvPr id="12" name="Picture 11" descr="image.png"/>
          <p:cNvPicPr>
            <a:picLocks noChangeAspect="1"/>
          </p:cNvPicPr>
          <p:nvPr/>
        </p:nvPicPr>
        <p:blipFill>
          <a:blip r:embed="rId4"/>
          <a:stretch>
            <a:fillRect/>
          </a:stretch>
        </p:blipFill>
        <p:spPr>
          <a:xfrm>
            <a:off x="6296025" y="2019300"/>
            <a:ext cx="2162175" cy="200025"/>
          </a:xfrm>
          <a:prstGeom prst="rect">
            <a:avLst/>
          </a:prstGeom>
        </p:spPr>
      </p:pic>
      <p:sp>
        <p:nvSpPr>
          <p:cNvPr id="13" name="TextBox 12"/>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Đọc Phản Biện &amp; Quản Lý Tài Liệu</a:t>
            </a:r>
          </a:p>
        </p:txBody>
      </p:sp>
      <p:sp>
        <p:nvSpPr>
          <p:cNvPr id="14" name="Rectangle 13"/>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ate Placeholder 14">
            <a:extLst>
              <a:ext uri="{FF2B5EF4-FFF2-40B4-BE49-F238E27FC236}">
                <a16:creationId xmlns:a16="http://schemas.microsoft.com/office/drawing/2014/main" id="{AA3FB027-6FB2-1203-7F53-F782B1C2D7D2}"/>
              </a:ext>
            </a:extLst>
          </p:cNvPr>
          <p:cNvSpPr>
            <a:spLocks noGrp="1"/>
          </p:cNvSpPr>
          <p:nvPr>
            <p:ph type="dt" sz="half" idx="10"/>
          </p:nvPr>
        </p:nvSpPr>
        <p:spPr/>
        <p:txBody>
          <a:bodyPr/>
          <a:lstStyle/>
          <a:p>
            <a:r>
              <a:rPr lang="en-US"/>
              <a:t>7/23/2026</a:t>
            </a:r>
          </a:p>
        </p:txBody>
      </p:sp>
      <p:sp>
        <p:nvSpPr>
          <p:cNvPr id="16" name="Footer Placeholder 15">
            <a:extLst>
              <a:ext uri="{FF2B5EF4-FFF2-40B4-BE49-F238E27FC236}">
                <a16:creationId xmlns:a16="http://schemas.microsoft.com/office/drawing/2014/main" id="{11B1E993-DD73-CBF6-0CF4-D2EDD9FC8401}"/>
              </a:ext>
            </a:extLst>
          </p:cNvPr>
          <p:cNvSpPr>
            <a:spLocks noGrp="1"/>
          </p:cNvSpPr>
          <p:nvPr>
            <p:ph type="ftr" sz="quarter" idx="11"/>
          </p:nvPr>
        </p:nvSpPr>
        <p:spPr/>
        <p:txBody>
          <a:bodyPr/>
          <a:lstStyle/>
          <a:p>
            <a:r>
              <a:rPr lang="en-US"/>
              <a:t>Summer School for Researchers, 2026</a:t>
            </a:r>
          </a:p>
        </p:txBody>
      </p:sp>
      <p:sp>
        <p:nvSpPr>
          <p:cNvPr id="17" name="Slide Number Placeholder 16">
            <a:extLst>
              <a:ext uri="{FF2B5EF4-FFF2-40B4-BE49-F238E27FC236}">
                <a16:creationId xmlns:a16="http://schemas.microsoft.com/office/drawing/2014/main" id="{17A251D0-2AAE-1C86-52AA-3ED72842340E}"/>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52402"/>
            <a:ext cx="5334000" cy="2534245"/>
          </a:xfrm>
          <a:prstGeom prst="rect">
            <a:avLst/>
          </a:prstGeom>
        </p:spPr>
      </p:pic>
      <p:pic>
        <p:nvPicPr>
          <p:cNvPr id="4" name="Picture 3" descr="image.png"/>
          <p:cNvPicPr>
            <a:picLocks noChangeAspect="1"/>
          </p:cNvPicPr>
          <p:nvPr/>
        </p:nvPicPr>
        <p:blipFill>
          <a:blip r:embed="rId4"/>
          <a:stretch>
            <a:fillRect/>
          </a:stretch>
        </p:blipFill>
        <p:spPr>
          <a:xfrm>
            <a:off x="6286500" y="2552402"/>
            <a:ext cx="5334000" cy="2534245"/>
          </a:xfrm>
          <a:prstGeom prst="rect">
            <a:avLst/>
          </a:prstGeom>
        </p:spPr>
      </p:pic>
      <p:sp>
        <p:nvSpPr>
          <p:cNvPr id="5" name="TextBox 4"/>
          <p:cNvSpPr txBox="1"/>
          <p:nvPr/>
        </p:nvSpPr>
        <p:spPr>
          <a:xfrm>
            <a:off x="885825" y="2866727"/>
            <a:ext cx="4940617" cy="266700"/>
          </a:xfrm>
          <a:prstGeom prst="rect">
            <a:avLst/>
          </a:prstGeom>
          <a:noFill/>
        </p:spPr>
        <p:txBody>
          <a:bodyPr wrap="square" lIns="0" tIns="0" rIns="0" bIns="0" anchor="t">
            <a:spAutoFit/>
          </a:bodyPr>
          <a:lstStyle/>
          <a:p>
            <a:pPr algn="l"/>
            <a:r>
              <a:rPr sz="1650" b="1" i="0" u="none">
                <a:solidFill>
                  <a:srgbClr val="0284C7"/>
                </a:solidFill>
                <a:latin typeface="Plus Jakarta Sans"/>
              </a:rPr>
              <a:t>Các Dạng Khoảng Trống Phổ Biến</a:t>
            </a:r>
          </a:p>
        </p:txBody>
      </p:sp>
      <p:sp>
        <p:nvSpPr>
          <p:cNvPr id="6" name="TextBox 5"/>
          <p:cNvSpPr txBox="1"/>
          <p:nvPr/>
        </p:nvSpPr>
        <p:spPr>
          <a:xfrm>
            <a:off x="885825" y="3266777"/>
            <a:ext cx="4705350" cy="1505545"/>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 </a:t>
            </a:r>
            <a:r>
              <a:rPr sz="1275" b="1" i="0" u="none">
                <a:solidFill>
                  <a:srgbClr val="475569"/>
                </a:solidFill>
                <a:latin typeface="Plus Jakarta Sans"/>
              </a:rPr>
              <a:t>Khoảng trống tri thức (Knowledge Gap):</a:t>
            </a:r>
            <a:r>
              <a:rPr sz="1275" b="0" i="0" u="none">
                <a:solidFill>
                  <a:srgbClr val="475569"/>
                </a:solidFill>
                <a:latin typeface="Plus Jakarta Sans"/>
              </a:rPr>
              <a:t> Chưa có nghiên cứu nào về khía cạnh này.</a:t>
            </a:r>
            <a:r>
              <a:t>
</a:t>
            </a:r>
            <a:r>
              <a:rPr sz="1275" b="0" i="0" u="none">
                <a:solidFill>
                  <a:srgbClr val="475569"/>
                </a:solidFill>
                <a:latin typeface="Plus Jakarta Sans"/>
              </a:rPr>
              <a:t> • </a:t>
            </a:r>
            <a:r>
              <a:rPr sz="1275" b="1" i="0" u="none">
                <a:solidFill>
                  <a:srgbClr val="475569"/>
                </a:solidFill>
                <a:latin typeface="Plus Jakarta Sans"/>
              </a:rPr>
              <a:t>Khoảng trống phương pháp (Methodological Gap):</a:t>
            </a:r>
            <a:r>
              <a:rPr sz="1275" b="0" i="0" u="none">
                <a:solidFill>
                  <a:srgbClr val="475569"/>
                </a:solidFill>
                <a:latin typeface="Plus Jakarta Sans"/>
              </a:rPr>
              <a:t> Phương pháp cũ chưa tối ưu, cần phương pháp mới.</a:t>
            </a:r>
            <a:r>
              <a:t>
</a:t>
            </a:r>
            <a:r>
              <a:rPr sz="1275" b="0" i="0" u="none">
                <a:solidFill>
                  <a:srgbClr val="475569"/>
                </a:solidFill>
                <a:latin typeface="Plus Jakarta Sans"/>
              </a:rPr>
              <a:t> • </a:t>
            </a:r>
            <a:r>
              <a:rPr sz="1275" b="1" i="0" u="none">
                <a:solidFill>
                  <a:srgbClr val="475569"/>
                </a:solidFill>
                <a:latin typeface="Plus Jakarta Sans"/>
              </a:rPr>
              <a:t>Khoảng trống mâu thuẫn (Contradiction Gap):</a:t>
            </a:r>
            <a:r>
              <a:rPr sz="1275" b="0" i="0" u="none">
                <a:solidFill>
                  <a:srgbClr val="475569"/>
                </a:solidFill>
                <a:latin typeface="Plus Jakarta Sans"/>
              </a:rPr>
              <a:t> Các kết quả nghiên cứu trước đưa ra kết luận trái ngược nhau.</a:t>
            </a:r>
          </a:p>
        </p:txBody>
      </p:sp>
      <p:sp>
        <p:nvSpPr>
          <p:cNvPr id="7" name="TextBox 6"/>
          <p:cNvSpPr txBox="1"/>
          <p:nvPr/>
        </p:nvSpPr>
        <p:spPr>
          <a:xfrm>
            <a:off x="6600825" y="2866727"/>
            <a:ext cx="4940617" cy="266700"/>
          </a:xfrm>
          <a:prstGeom prst="rect">
            <a:avLst/>
          </a:prstGeom>
          <a:noFill/>
        </p:spPr>
        <p:txBody>
          <a:bodyPr wrap="square" lIns="0" tIns="0" rIns="0" bIns="0" anchor="t">
            <a:spAutoFit/>
          </a:bodyPr>
          <a:lstStyle/>
          <a:p>
            <a:pPr algn="l"/>
            <a:r>
              <a:rPr sz="1650" b="1" i="0" u="none">
                <a:solidFill>
                  <a:srgbClr val="0284C7"/>
                </a:solidFill>
                <a:latin typeface="Plus Jakarta Sans"/>
              </a:rPr>
              <a:t>Nguồn Tìm Kiếm Research Gap</a:t>
            </a:r>
          </a:p>
        </p:txBody>
      </p:sp>
      <p:sp>
        <p:nvSpPr>
          <p:cNvPr id="8" name="TextBox 7"/>
          <p:cNvSpPr txBox="1"/>
          <p:nvPr/>
        </p:nvSpPr>
        <p:spPr>
          <a:xfrm>
            <a:off x="6600825" y="3266777"/>
            <a:ext cx="4705350" cy="1254621"/>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 </a:t>
            </a:r>
            <a:r>
              <a:rPr sz="1275" b="1" i="0" u="none">
                <a:solidFill>
                  <a:srgbClr val="475569"/>
                </a:solidFill>
                <a:latin typeface="Plus Jakarta Sans"/>
              </a:rPr>
              <a:t>Phần "Future Works / Limitations":</a:t>
            </a:r>
            <a:r>
              <a:rPr sz="1275" b="0" i="0" u="none">
                <a:solidFill>
                  <a:srgbClr val="475569"/>
                </a:solidFill>
                <a:latin typeface="Plus Jakarta Sans"/>
              </a:rPr>
              <a:t> Đọc kỹ đoạn cuối phần Discussion của các bài báo ISI/Scopus mới xuất bản.</a:t>
            </a:r>
            <a:r>
              <a:t>
</a:t>
            </a:r>
            <a:r>
              <a:rPr sz="1275" b="0" i="0" u="none">
                <a:solidFill>
                  <a:srgbClr val="475569"/>
                </a:solidFill>
                <a:latin typeface="Plus Jakarta Sans"/>
              </a:rPr>
              <a:t> • </a:t>
            </a:r>
            <a:r>
              <a:rPr sz="1275" b="1" i="0" u="none">
                <a:solidFill>
                  <a:srgbClr val="475569"/>
                </a:solidFill>
                <a:latin typeface="Plus Jakarta Sans"/>
              </a:rPr>
              <a:t>Systematic Review Papers:</a:t>
            </a:r>
            <a:r>
              <a:rPr sz="1275" b="0" i="0" u="none">
                <a:solidFill>
                  <a:srgbClr val="475569"/>
                </a:solidFill>
                <a:latin typeface="Plus Jakarta Sans"/>
              </a:rPr>
              <a:t> Đọc các bài tổng quan hệ thống để nắm toàn cảnh bức tranh nghiên cứu và xu hướng phát triển tiếp theo.</a:t>
            </a:r>
          </a:p>
        </p:txBody>
      </p:sp>
      <p:sp>
        <p:nvSpPr>
          <p:cNvPr id="9" name="TextBox 8"/>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Xác Định Khoảng Trống (Research Gap)</a:t>
            </a:r>
          </a:p>
        </p:txBody>
      </p:sp>
      <p:sp>
        <p:nvSpPr>
          <p:cNvPr id="10" name="Rectangle 9"/>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ate Placeholder 10">
            <a:extLst>
              <a:ext uri="{FF2B5EF4-FFF2-40B4-BE49-F238E27FC236}">
                <a16:creationId xmlns:a16="http://schemas.microsoft.com/office/drawing/2014/main" id="{5A9C0D64-343E-7D39-A306-7C0634003C31}"/>
              </a:ext>
            </a:extLst>
          </p:cNvPr>
          <p:cNvSpPr>
            <a:spLocks noGrp="1"/>
          </p:cNvSpPr>
          <p:nvPr>
            <p:ph type="dt" sz="half" idx="10"/>
          </p:nvPr>
        </p:nvSpPr>
        <p:spPr/>
        <p:txBody>
          <a:bodyPr/>
          <a:lstStyle/>
          <a:p>
            <a:r>
              <a:rPr lang="en-US"/>
              <a:t>7/23/2026</a:t>
            </a:r>
          </a:p>
        </p:txBody>
      </p:sp>
      <p:sp>
        <p:nvSpPr>
          <p:cNvPr id="12" name="Footer Placeholder 11">
            <a:extLst>
              <a:ext uri="{FF2B5EF4-FFF2-40B4-BE49-F238E27FC236}">
                <a16:creationId xmlns:a16="http://schemas.microsoft.com/office/drawing/2014/main" id="{5CEB0DA4-7B3E-DBE4-53AB-500FCB988BFE}"/>
              </a:ext>
            </a:extLst>
          </p:cNvPr>
          <p:cNvSpPr>
            <a:spLocks noGrp="1"/>
          </p:cNvSpPr>
          <p:nvPr>
            <p:ph type="ftr" sz="quarter" idx="11"/>
          </p:nvPr>
        </p:nvSpPr>
        <p:spPr/>
        <p:txBody>
          <a:bodyPr/>
          <a:lstStyle/>
          <a:p>
            <a:r>
              <a:rPr lang="en-US"/>
              <a:t>Summer School for Researchers, 2026</a:t>
            </a:r>
          </a:p>
        </p:txBody>
      </p:sp>
      <p:sp>
        <p:nvSpPr>
          <p:cNvPr id="13" name="Slide Number Placeholder 12">
            <a:extLst>
              <a:ext uri="{FF2B5EF4-FFF2-40B4-BE49-F238E27FC236}">
                <a16:creationId xmlns:a16="http://schemas.microsoft.com/office/drawing/2014/main" id="{499B1356-3B89-8132-AB40-D3672317A0F1}"/>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5734050" y="2509837"/>
            <a:ext cx="723900" cy="200025"/>
          </a:xfrm>
          <a:prstGeom prst="rect">
            <a:avLst/>
          </a:prstGeom>
          <a:noFill/>
        </p:spPr>
        <p:txBody>
          <a:bodyPr wrap="square" lIns="0" tIns="0" rIns="0" bIns="0" anchor="t">
            <a:spAutoFit/>
          </a:bodyPr>
          <a:lstStyle/>
          <a:p>
            <a:pPr algn="ctr"/>
            <a:r>
              <a:rPr sz="1200" b="1" i="0" u="none">
                <a:solidFill>
                  <a:srgbClr val="38BDF8"/>
                </a:solidFill>
                <a:latin typeface="Plus Jakarta Sans"/>
              </a:rPr>
              <a:t>PHẦN 2</a:t>
            </a:r>
          </a:p>
        </p:txBody>
      </p:sp>
      <p:sp>
        <p:nvSpPr>
          <p:cNvPr id="5" name="TextBox 4"/>
          <p:cNvSpPr txBox="1"/>
          <p:nvPr/>
        </p:nvSpPr>
        <p:spPr>
          <a:xfrm>
            <a:off x="2335530" y="2824162"/>
            <a:ext cx="7520940" cy="581025"/>
          </a:xfrm>
          <a:prstGeom prst="rect">
            <a:avLst/>
          </a:prstGeom>
          <a:noFill/>
        </p:spPr>
        <p:txBody>
          <a:bodyPr wrap="square" lIns="0" tIns="0" rIns="0" bIns="0" anchor="t">
            <a:spAutoFit/>
          </a:bodyPr>
          <a:lstStyle/>
          <a:p>
            <a:pPr algn="ctr"/>
            <a:r>
              <a:rPr sz="3600" b="0" i="0" u="none">
                <a:solidFill>
                  <a:srgbClr val="FFFFFF"/>
                </a:solidFill>
                <a:latin typeface="Plus Jakarta Sans ExtraBold"/>
              </a:rPr>
              <a:t>Cấu Trúc &amp; Kỹ Thuật Viết Bài Báo</a:t>
            </a:r>
          </a:p>
        </p:txBody>
      </p:sp>
      <p:sp>
        <p:nvSpPr>
          <p:cNvPr id="6" name="TextBox 5"/>
          <p:cNvSpPr txBox="1"/>
          <p:nvPr/>
        </p:nvSpPr>
        <p:spPr>
          <a:xfrm>
            <a:off x="3038475" y="4052887"/>
            <a:ext cx="6115050" cy="295275"/>
          </a:xfrm>
          <a:prstGeom prst="rect">
            <a:avLst/>
          </a:prstGeom>
          <a:noFill/>
        </p:spPr>
        <p:txBody>
          <a:bodyPr wrap="square" lIns="0" tIns="0" rIns="0" bIns="0" anchor="t">
            <a:spAutoFit/>
          </a:bodyPr>
          <a:lstStyle/>
          <a:p>
            <a:pPr algn="ctr">
              <a:lnSpc>
                <a:spcPts val="2325"/>
              </a:lnSpc>
            </a:pPr>
            <a:r>
              <a:rPr sz="1500" b="0" i="0" u="none">
                <a:solidFill>
                  <a:srgbClr val="94A3B8"/>
                </a:solidFill>
                <a:latin typeface="Plus Jakarta Sans"/>
              </a:rPr>
              <a:t>Luyện tập tư duy viết khoa học chuẩn mực theo mô hình IMRaD quốc tế</a:t>
            </a:r>
          </a:p>
        </p:txBody>
      </p:sp>
      <p:sp>
        <p:nvSpPr>
          <p:cNvPr id="7" name="Date Placeholder 6">
            <a:extLst>
              <a:ext uri="{FF2B5EF4-FFF2-40B4-BE49-F238E27FC236}">
                <a16:creationId xmlns:a16="http://schemas.microsoft.com/office/drawing/2014/main" id="{ADD060F2-9DBC-5AC9-DC85-AC8B6316836C}"/>
              </a:ext>
            </a:extLst>
          </p:cNvPr>
          <p:cNvSpPr>
            <a:spLocks noGrp="1"/>
          </p:cNvSpPr>
          <p:nvPr>
            <p:ph type="dt" sz="half" idx="10"/>
          </p:nvPr>
        </p:nvSpPr>
        <p:spPr/>
        <p:txBody>
          <a:bodyPr/>
          <a:lstStyle/>
          <a:p>
            <a:r>
              <a:rPr lang="en-US"/>
              <a:t>7/23/2026</a:t>
            </a:r>
          </a:p>
        </p:txBody>
      </p:sp>
      <p:sp>
        <p:nvSpPr>
          <p:cNvPr id="8" name="Footer Placeholder 7">
            <a:extLst>
              <a:ext uri="{FF2B5EF4-FFF2-40B4-BE49-F238E27FC236}">
                <a16:creationId xmlns:a16="http://schemas.microsoft.com/office/drawing/2014/main" id="{FA4FA6B4-F91F-F29E-7425-0E2414CAD0E5}"/>
              </a:ext>
            </a:extLst>
          </p:cNvPr>
          <p:cNvSpPr>
            <a:spLocks noGrp="1"/>
          </p:cNvSpPr>
          <p:nvPr>
            <p:ph type="ftr" sz="quarter" idx="11"/>
          </p:nvPr>
        </p:nvSpPr>
        <p:spPr/>
        <p:txBody>
          <a:bodyPr/>
          <a:lstStyle/>
          <a:p>
            <a:r>
              <a:rPr lang="en-US"/>
              <a:t>Summer School for Researchers, 2026</a:t>
            </a:r>
          </a:p>
        </p:txBody>
      </p:sp>
      <p:sp>
        <p:nvSpPr>
          <p:cNvPr id="9" name="Slide Number Placeholder 8">
            <a:extLst>
              <a:ext uri="{FF2B5EF4-FFF2-40B4-BE49-F238E27FC236}">
                <a16:creationId xmlns:a16="http://schemas.microsoft.com/office/drawing/2014/main" id="{88F07E6C-A0C6-15AE-28A3-F0A128A4DB88}"/>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733675"/>
            <a:ext cx="5334000" cy="2171700"/>
          </a:xfrm>
          <a:prstGeom prst="rect">
            <a:avLst/>
          </a:prstGeom>
        </p:spPr>
      </p:pic>
      <p:sp>
        <p:nvSpPr>
          <p:cNvPr id="4" name="TextBox 3"/>
          <p:cNvSpPr txBox="1"/>
          <p:nvPr/>
        </p:nvSpPr>
        <p:spPr>
          <a:xfrm>
            <a:off x="952500" y="3114675"/>
            <a:ext cx="4572000" cy="1047750"/>
          </a:xfrm>
          <a:prstGeom prst="rect">
            <a:avLst/>
          </a:prstGeom>
          <a:noFill/>
        </p:spPr>
        <p:txBody>
          <a:bodyPr wrap="square" lIns="0" tIns="0" rIns="0" bIns="0" anchor="t">
            <a:spAutoFit/>
          </a:bodyPr>
          <a:lstStyle/>
          <a:p>
            <a:pPr algn="ctr">
              <a:lnSpc>
                <a:spcPts val="8250"/>
              </a:lnSpc>
            </a:pPr>
            <a:r>
              <a:rPr sz="8250" b="0" i="0" u="none">
                <a:solidFill>
                  <a:srgbClr val="38BDF8"/>
                </a:solidFill>
                <a:latin typeface="Plus Jakarta Sans ExtraBold"/>
              </a:rPr>
              <a:t>4</a:t>
            </a:r>
          </a:p>
        </p:txBody>
      </p:sp>
      <p:sp>
        <p:nvSpPr>
          <p:cNvPr id="5" name="TextBox 4"/>
          <p:cNvSpPr txBox="1"/>
          <p:nvPr/>
        </p:nvSpPr>
        <p:spPr>
          <a:xfrm>
            <a:off x="952500" y="4257675"/>
            <a:ext cx="4572000" cy="266700"/>
          </a:xfrm>
          <a:prstGeom prst="rect">
            <a:avLst/>
          </a:prstGeom>
          <a:noFill/>
        </p:spPr>
        <p:txBody>
          <a:bodyPr wrap="square" lIns="0" tIns="0" rIns="0" bIns="0" anchor="t">
            <a:spAutoFit/>
          </a:bodyPr>
          <a:lstStyle/>
          <a:p>
            <a:pPr algn="ctr"/>
            <a:r>
              <a:rPr sz="1650" b="1" i="0" u="none">
                <a:solidFill>
                  <a:srgbClr val="F8FAFC"/>
                </a:solidFill>
                <a:latin typeface="Plus Jakarta Sans"/>
              </a:rPr>
              <a:t>Trụ Cột Cốt Lõi</a:t>
            </a:r>
          </a:p>
        </p:txBody>
      </p:sp>
      <p:sp>
        <p:nvSpPr>
          <p:cNvPr id="6" name="TextBox 5"/>
          <p:cNvSpPr txBox="1"/>
          <p:nvPr/>
        </p:nvSpPr>
        <p:spPr>
          <a:xfrm>
            <a:off x="6286500" y="2707927"/>
            <a:ext cx="5600700" cy="314325"/>
          </a:xfrm>
          <a:prstGeom prst="rect">
            <a:avLst/>
          </a:prstGeom>
          <a:noFill/>
        </p:spPr>
        <p:txBody>
          <a:bodyPr wrap="square" lIns="0" tIns="0" rIns="0" bIns="0" anchor="t">
            <a:spAutoFit/>
          </a:bodyPr>
          <a:lstStyle/>
          <a:p>
            <a:pPr algn="l"/>
            <a:r>
              <a:rPr sz="1950" b="1" i="0" u="none">
                <a:solidFill>
                  <a:srgbClr val="0F172A"/>
                </a:solidFill>
                <a:latin typeface="Plus Jakarta Sans"/>
              </a:rPr>
              <a:t>Khung Khổ IMRaD Căn Bản</a:t>
            </a:r>
          </a:p>
        </p:txBody>
      </p:sp>
      <p:sp>
        <p:nvSpPr>
          <p:cNvPr id="7" name="TextBox 6"/>
          <p:cNvSpPr txBox="1"/>
          <p:nvPr/>
        </p:nvSpPr>
        <p:spPr>
          <a:xfrm>
            <a:off x="6286500" y="3174652"/>
            <a:ext cx="5334000" cy="1756469"/>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 </a:t>
            </a:r>
            <a:r>
              <a:rPr sz="1275" b="1" i="0" u="none">
                <a:solidFill>
                  <a:srgbClr val="475569"/>
                </a:solidFill>
                <a:latin typeface="Plus Jakarta Sans"/>
              </a:rPr>
              <a:t>I - Introduction:</a:t>
            </a:r>
            <a:r>
              <a:rPr sz="1275" b="0" i="0" u="none">
                <a:solidFill>
                  <a:srgbClr val="475569"/>
                </a:solidFill>
                <a:latin typeface="Plus Jakarta Sans"/>
              </a:rPr>
              <a:t> Tại sao bạn thực hiện nghiên cứu này? (Đặt vấn đề &amp; Mục tiêu)</a:t>
            </a:r>
            <a:r>
              <a:t>
</a:t>
            </a:r>
            <a:r>
              <a:rPr sz="1275" b="0" i="0" u="none">
                <a:solidFill>
                  <a:srgbClr val="475569"/>
                </a:solidFill>
                <a:latin typeface="Plus Jakarta Sans"/>
              </a:rPr>
              <a:t> • </a:t>
            </a:r>
            <a:r>
              <a:rPr sz="1275" b="1" i="0" u="none">
                <a:solidFill>
                  <a:srgbClr val="475569"/>
                </a:solidFill>
                <a:latin typeface="Plus Jakarta Sans"/>
              </a:rPr>
              <a:t>M - Methods:</a:t>
            </a:r>
            <a:r>
              <a:rPr sz="1275" b="0" i="0" u="none">
                <a:solidFill>
                  <a:srgbClr val="475569"/>
                </a:solidFill>
                <a:latin typeface="Plus Jakarta Sans"/>
              </a:rPr>
              <a:t> Bạn đã làm nghiên cứu như thế nào? (Phương pháp &amp; Dữ liệu)</a:t>
            </a:r>
            <a:r>
              <a:t>
</a:t>
            </a:r>
            <a:r>
              <a:rPr sz="1275" b="0" i="0" u="none">
                <a:solidFill>
                  <a:srgbClr val="475569"/>
                </a:solidFill>
                <a:latin typeface="Plus Jakarta Sans"/>
              </a:rPr>
              <a:t> • </a:t>
            </a:r>
            <a:r>
              <a:rPr sz="1275" b="1" i="0" u="none">
                <a:solidFill>
                  <a:srgbClr val="475569"/>
                </a:solidFill>
                <a:latin typeface="Plus Jakarta Sans"/>
              </a:rPr>
              <a:t>R - Results:</a:t>
            </a:r>
            <a:r>
              <a:rPr sz="1275" b="0" i="0" u="none">
                <a:solidFill>
                  <a:srgbClr val="475569"/>
                </a:solidFill>
                <a:latin typeface="Plus Jakarta Sans"/>
              </a:rPr>
              <a:t> Bạn đã tìm thấy những kết quả gì? (Phát hiện chính)</a:t>
            </a:r>
            <a:r>
              <a:t>
</a:t>
            </a:r>
            <a:r>
              <a:rPr sz="1275" b="0" i="0" u="none">
                <a:solidFill>
                  <a:srgbClr val="475569"/>
                </a:solidFill>
                <a:latin typeface="Plus Jakarta Sans"/>
              </a:rPr>
              <a:t> • </a:t>
            </a:r>
            <a:r>
              <a:rPr sz="1275" b="1" i="0" u="none">
                <a:solidFill>
                  <a:srgbClr val="475569"/>
                </a:solidFill>
                <a:latin typeface="Plus Jakarta Sans"/>
              </a:rPr>
              <a:t>D - Discussion:</a:t>
            </a:r>
            <a:r>
              <a:rPr sz="1275" b="0" i="0" u="none">
                <a:solidFill>
                  <a:srgbClr val="475569"/>
                </a:solidFill>
                <a:latin typeface="Plus Jakarta Sans"/>
              </a:rPr>
              <a:t> Kết quả đó có ý nghĩa gì đối với chuyên ngành? (Bàn luận &amp; Hàm ý)</a:t>
            </a:r>
          </a:p>
        </p:txBody>
      </p:sp>
      <p:sp>
        <p:nvSpPr>
          <p:cNvPr id="8" name="TextBox 7"/>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Cấu Trúc Chuẩn Quốc Tế: IMRaD</a:t>
            </a:r>
          </a:p>
        </p:txBody>
      </p:sp>
      <p:sp>
        <p:nvSpPr>
          <p:cNvPr id="9" name="Rectangle 8"/>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ate Placeholder 9">
            <a:extLst>
              <a:ext uri="{FF2B5EF4-FFF2-40B4-BE49-F238E27FC236}">
                <a16:creationId xmlns:a16="http://schemas.microsoft.com/office/drawing/2014/main" id="{91BEEB25-D6DB-FAD4-6BB8-BF6F1D8AE0BF}"/>
              </a:ext>
            </a:extLst>
          </p:cNvPr>
          <p:cNvSpPr>
            <a:spLocks noGrp="1"/>
          </p:cNvSpPr>
          <p:nvPr>
            <p:ph type="dt" sz="half" idx="10"/>
          </p:nvPr>
        </p:nvSpPr>
        <p:spPr/>
        <p:txBody>
          <a:bodyPr/>
          <a:lstStyle/>
          <a:p>
            <a:r>
              <a:rPr lang="en-US"/>
              <a:t>7/23/2026</a:t>
            </a:r>
          </a:p>
        </p:txBody>
      </p:sp>
      <p:sp>
        <p:nvSpPr>
          <p:cNvPr id="11" name="Footer Placeholder 10">
            <a:extLst>
              <a:ext uri="{FF2B5EF4-FFF2-40B4-BE49-F238E27FC236}">
                <a16:creationId xmlns:a16="http://schemas.microsoft.com/office/drawing/2014/main" id="{8C383C68-E7F3-F179-FED6-CA5CDEDC7D36}"/>
              </a:ext>
            </a:extLst>
          </p:cNvPr>
          <p:cNvSpPr>
            <a:spLocks noGrp="1"/>
          </p:cNvSpPr>
          <p:nvPr>
            <p:ph type="ftr" sz="quarter" idx="11"/>
          </p:nvPr>
        </p:nvSpPr>
        <p:spPr/>
        <p:txBody>
          <a:bodyPr/>
          <a:lstStyle/>
          <a:p>
            <a:r>
              <a:rPr lang="en-US"/>
              <a:t>Summer School for Researchers, 2026</a:t>
            </a:r>
          </a:p>
        </p:txBody>
      </p:sp>
      <p:sp>
        <p:nvSpPr>
          <p:cNvPr id="12" name="Slide Number Placeholder 11">
            <a:extLst>
              <a:ext uri="{FF2B5EF4-FFF2-40B4-BE49-F238E27FC236}">
                <a16:creationId xmlns:a16="http://schemas.microsoft.com/office/drawing/2014/main" id="{7FCDF318-B72F-142F-B671-96CD93F22534}"/>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28700" y="2752725"/>
            <a:ext cx="10591800" cy="548580"/>
          </a:xfrm>
          <a:prstGeom prst="rect">
            <a:avLst/>
          </a:prstGeom>
          <a:noFill/>
        </p:spPr>
        <p:txBody>
          <a:bodyPr wrap="square" lIns="0" tIns="0" rIns="0" bIns="0" anchor="t">
            <a:spAutoFit/>
          </a:bodyPr>
          <a:lstStyle/>
          <a:p>
            <a:pPr algn="l">
              <a:lnSpc>
                <a:spcPts val="2160"/>
              </a:lnSpc>
            </a:pPr>
            <a:r>
              <a:rPr sz="1350" b="1" i="0" u="none">
                <a:solidFill>
                  <a:srgbClr val="475569"/>
                </a:solidFill>
                <a:latin typeface="Plus Jakarta Sans"/>
              </a:rPr>
              <a:t>Cấu trúc mô hình Phễu (Inverted Pyramid):</a:t>
            </a:r>
            <a:r>
              <a:rPr sz="1350" b="0" i="0" u="none">
                <a:solidFill>
                  <a:srgbClr val="475569"/>
                </a:solidFill>
                <a:latin typeface="Plus Jakarta Sans"/>
              </a:rPr>
              <a:t> Đi từ bối cảnh rộng lớn -&gt; Nghiên cứu cụ thể -&gt; Khoảng trống khoa học -&gt; Câu hỏi nghiên cứu của bạn.</a:t>
            </a:r>
          </a:p>
        </p:txBody>
      </p:sp>
      <p:sp>
        <p:nvSpPr>
          <p:cNvPr id="4" name="TextBox 3"/>
          <p:cNvSpPr txBox="1"/>
          <p:nvPr/>
        </p:nvSpPr>
        <p:spPr>
          <a:xfrm>
            <a:off x="1028700" y="3491805"/>
            <a:ext cx="10591800" cy="274290"/>
          </a:xfrm>
          <a:prstGeom prst="rect">
            <a:avLst/>
          </a:prstGeom>
          <a:noFill/>
        </p:spPr>
        <p:txBody>
          <a:bodyPr wrap="square" lIns="0" tIns="0" rIns="0" bIns="0" anchor="t">
            <a:spAutoFit/>
          </a:bodyPr>
          <a:lstStyle/>
          <a:p>
            <a:pPr algn="l">
              <a:lnSpc>
                <a:spcPts val="2160"/>
              </a:lnSpc>
            </a:pPr>
            <a:r>
              <a:rPr sz="1350" b="1" i="0" u="none">
                <a:solidFill>
                  <a:srgbClr val="475569"/>
                </a:solidFill>
                <a:latin typeface="Plus Jakarta Sans"/>
              </a:rPr>
              <a:t>Nêu bật tầm quan trọng:</a:t>
            </a:r>
            <a:r>
              <a:rPr sz="1350" b="0" i="0" u="none">
                <a:solidFill>
                  <a:srgbClr val="475569"/>
                </a:solidFill>
                <a:latin typeface="Plus Jakarta Sans"/>
              </a:rPr>
              <a:t> Giải thích rõ tại sao vấn đề này cấp thiết và tại sao độc giả / giới khoa học phải quan tâm.</a:t>
            </a:r>
          </a:p>
        </p:txBody>
      </p:sp>
      <p:sp>
        <p:nvSpPr>
          <p:cNvPr id="5" name="TextBox 4"/>
          <p:cNvSpPr txBox="1"/>
          <p:nvPr/>
        </p:nvSpPr>
        <p:spPr>
          <a:xfrm>
            <a:off x="1028700" y="3956595"/>
            <a:ext cx="10591800" cy="274290"/>
          </a:xfrm>
          <a:prstGeom prst="rect">
            <a:avLst/>
          </a:prstGeom>
          <a:noFill/>
        </p:spPr>
        <p:txBody>
          <a:bodyPr wrap="square" lIns="0" tIns="0" rIns="0" bIns="0" anchor="t">
            <a:spAutoFit/>
          </a:bodyPr>
          <a:lstStyle/>
          <a:p>
            <a:pPr algn="l">
              <a:lnSpc>
                <a:spcPts val="2160"/>
              </a:lnSpc>
            </a:pPr>
            <a:r>
              <a:rPr sz="1350" b="1" i="0" u="none">
                <a:solidFill>
                  <a:srgbClr val="475569"/>
                </a:solidFill>
                <a:latin typeface="Plus Jakarta Sans"/>
              </a:rPr>
              <a:t>Chỉ rõ Research Gap:</a:t>
            </a:r>
            <a:r>
              <a:rPr sz="1350" b="0" i="0" u="none">
                <a:solidFill>
                  <a:srgbClr val="475569"/>
                </a:solidFill>
                <a:latin typeface="Plus Jakarta Sans"/>
              </a:rPr>
              <a:t> Sử dụng các từ nối chuyển ý mạnh mẽ (e.g., </a:t>
            </a:r>
            <a:r>
              <a:rPr sz="1350" b="0" i="1" u="none">
                <a:solidFill>
                  <a:srgbClr val="475569"/>
                </a:solidFill>
                <a:latin typeface="Plus Jakarta Sans"/>
              </a:rPr>
              <a:t>However, despite these advances, little is known about...</a:t>
            </a:r>
            <a:r>
              <a:rPr sz="1350" b="0" i="0" u="none">
                <a:solidFill>
                  <a:srgbClr val="475569"/>
                </a:solidFill>
                <a:latin typeface="Plus Jakarta Sans"/>
              </a:rPr>
              <a:t>).</a:t>
            </a:r>
          </a:p>
        </p:txBody>
      </p:sp>
      <p:sp>
        <p:nvSpPr>
          <p:cNvPr id="6" name="TextBox 5"/>
          <p:cNvSpPr txBox="1"/>
          <p:nvPr/>
        </p:nvSpPr>
        <p:spPr>
          <a:xfrm>
            <a:off x="1028700" y="4421385"/>
            <a:ext cx="10591800" cy="274290"/>
          </a:xfrm>
          <a:prstGeom prst="rect">
            <a:avLst/>
          </a:prstGeom>
          <a:noFill/>
        </p:spPr>
        <p:txBody>
          <a:bodyPr wrap="square" lIns="0" tIns="0" rIns="0" bIns="0" anchor="t">
            <a:spAutoFit/>
          </a:bodyPr>
          <a:lstStyle/>
          <a:p>
            <a:pPr algn="l">
              <a:lnSpc>
                <a:spcPts val="2160"/>
              </a:lnSpc>
            </a:pPr>
            <a:r>
              <a:rPr sz="1350" b="1" i="0" u="none">
                <a:solidFill>
                  <a:srgbClr val="475569"/>
                </a:solidFill>
                <a:latin typeface="Plus Jakarta Sans"/>
              </a:rPr>
              <a:t>Tuyên bố đóng góp (Novelty):</a:t>
            </a:r>
            <a:r>
              <a:rPr sz="1350" b="0" i="0" u="none">
                <a:solidFill>
                  <a:srgbClr val="475569"/>
                </a:solidFill>
                <a:latin typeface="Plus Jakarta Sans"/>
              </a:rPr>
              <a:t> Liệt kê rõ ràng 2-3 đóng góp mới chính (contributions) của bài báo ở cuối phần Đặt vấn đề.</a:t>
            </a:r>
          </a:p>
        </p:txBody>
      </p:sp>
      <p:pic>
        <p:nvPicPr>
          <p:cNvPr id="7" name="Picture 6" descr="image.png"/>
          <p:cNvPicPr>
            <a:picLocks noChangeAspect="1"/>
          </p:cNvPicPr>
          <p:nvPr/>
        </p:nvPicPr>
        <p:blipFill>
          <a:blip r:embed="rId3"/>
          <a:stretch>
            <a:fillRect/>
          </a:stretch>
        </p:blipFill>
        <p:spPr>
          <a:xfrm>
            <a:off x="571500" y="2771775"/>
            <a:ext cx="152400" cy="152400"/>
          </a:xfrm>
          <a:prstGeom prst="rect">
            <a:avLst/>
          </a:prstGeom>
        </p:spPr>
      </p:pic>
      <p:pic>
        <p:nvPicPr>
          <p:cNvPr id="8" name="Picture 7" descr="image.png"/>
          <p:cNvPicPr>
            <a:picLocks noChangeAspect="1"/>
          </p:cNvPicPr>
          <p:nvPr/>
        </p:nvPicPr>
        <p:blipFill>
          <a:blip r:embed="rId4"/>
          <a:stretch>
            <a:fillRect/>
          </a:stretch>
        </p:blipFill>
        <p:spPr>
          <a:xfrm>
            <a:off x="571500" y="3510855"/>
            <a:ext cx="152400" cy="152400"/>
          </a:xfrm>
          <a:prstGeom prst="rect">
            <a:avLst/>
          </a:prstGeom>
        </p:spPr>
      </p:pic>
      <p:pic>
        <p:nvPicPr>
          <p:cNvPr id="9" name="Picture 8" descr="image.png"/>
          <p:cNvPicPr>
            <a:picLocks noChangeAspect="1"/>
          </p:cNvPicPr>
          <p:nvPr/>
        </p:nvPicPr>
        <p:blipFill>
          <a:blip r:embed="rId5"/>
          <a:stretch>
            <a:fillRect/>
          </a:stretch>
        </p:blipFill>
        <p:spPr>
          <a:xfrm>
            <a:off x="571500" y="3975645"/>
            <a:ext cx="152400" cy="152400"/>
          </a:xfrm>
          <a:prstGeom prst="rect">
            <a:avLst/>
          </a:prstGeom>
        </p:spPr>
      </p:pic>
      <p:pic>
        <p:nvPicPr>
          <p:cNvPr id="10" name="Picture 9" descr="image.png"/>
          <p:cNvPicPr>
            <a:picLocks noChangeAspect="1"/>
          </p:cNvPicPr>
          <p:nvPr/>
        </p:nvPicPr>
        <p:blipFill>
          <a:blip r:embed="rId6"/>
          <a:stretch>
            <a:fillRect/>
          </a:stretch>
        </p:blipFill>
        <p:spPr>
          <a:xfrm>
            <a:off x="571500" y="4440435"/>
            <a:ext cx="133350" cy="152400"/>
          </a:xfrm>
          <a:prstGeom prst="rect">
            <a:avLst/>
          </a:prstGeom>
        </p:spPr>
      </p:pic>
      <p:sp>
        <p:nvSpPr>
          <p:cNvPr id="11" name="TextBox 10"/>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Viết Phần Đặt Vấn Đề (Introduction)</a:t>
            </a:r>
          </a:p>
        </p:txBody>
      </p:sp>
      <p:sp>
        <p:nvSpPr>
          <p:cNvPr id="12" name="Rectangle 11"/>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ate Placeholder 12">
            <a:extLst>
              <a:ext uri="{FF2B5EF4-FFF2-40B4-BE49-F238E27FC236}">
                <a16:creationId xmlns:a16="http://schemas.microsoft.com/office/drawing/2014/main" id="{E3DED32B-3F06-8E12-34FC-317B8C1335F0}"/>
              </a:ext>
            </a:extLst>
          </p:cNvPr>
          <p:cNvSpPr>
            <a:spLocks noGrp="1"/>
          </p:cNvSpPr>
          <p:nvPr>
            <p:ph type="dt" sz="half" idx="10"/>
          </p:nvPr>
        </p:nvSpPr>
        <p:spPr/>
        <p:txBody>
          <a:bodyPr/>
          <a:lstStyle/>
          <a:p>
            <a:r>
              <a:rPr lang="en-US"/>
              <a:t>7/23/2026</a:t>
            </a:r>
          </a:p>
        </p:txBody>
      </p:sp>
      <p:sp>
        <p:nvSpPr>
          <p:cNvPr id="14" name="Footer Placeholder 13">
            <a:extLst>
              <a:ext uri="{FF2B5EF4-FFF2-40B4-BE49-F238E27FC236}">
                <a16:creationId xmlns:a16="http://schemas.microsoft.com/office/drawing/2014/main" id="{D0F19030-D420-AF57-B1FD-F0DC3A430D87}"/>
              </a:ext>
            </a:extLst>
          </p:cNvPr>
          <p:cNvSpPr>
            <a:spLocks noGrp="1"/>
          </p:cNvSpPr>
          <p:nvPr>
            <p:ph type="ftr" sz="quarter" idx="11"/>
          </p:nvPr>
        </p:nvSpPr>
        <p:spPr/>
        <p:txBody>
          <a:bodyPr/>
          <a:lstStyle/>
          <a:p>
            <a:r>
              <a:rPr lang="en-US"/>
              <a:t>Summer School for Researchers, 2026</a:t>
            </a:r>
          </a:p>
        </p:txBody>
      </p:sp>
      <p:sp>
        <p:nvSpPr>
          <p:cNvPr id="15" name="Slide Number Placeholder 14">
            <a:extLst>
              <a:ext uri="{FF2B5EF4-FFF2-40B4-BE49-F238E27FC236}">
                <a16:creationId xmlns:a16="http://schemas.microsoft.com/office/drawing/2014/main" id="{349A3E0F-E85E-43EC-15E2-9EBE67BD3868}"/>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52402"/>
            <a:ext cx="5334000" cy="2534245"/>
          </a:xfrm>
          <a:prstGeom prst="rect">
            <a:avLst/>
          </a:prstGeom>
        </p:spPr>
      </p:pic>
      <p:pic>
        <p:nvPicPr>
          <p:cNvPr id="4" name="Picture 3" descr="image.png"/>
          <p:cNvPicPr>
            <a:picLocks noChangeAspect="1"/>
          </p:cNvPicPr>
          <p:nvPr/>
        </p:nvPicPr>
        <p:blipFill>
          <a:blip r:embed="rId4"/>
          <a:stretch>
            <a:fillRect/>
          </a:stretch>
        </p:blipFill>
        <p:spPr>
          <a:xfrm>
            <a:off x="6286500" y="2552402"/>
            <a:ext cx="5334000" cy="2534245"/>
          </a:xfrm>
          <a:prstGeom prst="rect">
            <a:avLst/>
          </a:prstGeom>
        </p:spPr>
      </p:pic>
      <p:sp>
        <p:nvSpPr>
          <p:cNvPr id="5" name="TextBox 4"/>
          <p:cNvSpPr txBox="1"/>
          <p:nvPr/>
        </p:nvSpPr>
        <p:spPr>
          <a:xfrm>
            <a:off x="885825" y="2866727"/>
            <a:ext cx="4940617" cy="266700"/>
          </a:xfrm>
          <a:prstGeom prst="rect">
            <a:avLst/>
          </a:prstGeom>
          <a:noFill/>
        </p:spPr>
        <p:txBody>
          <a:bodyPr wrap="square" lIns="0" tIns="0" rIns="0" bIns="0" anchor="t">
            <a:spAutoFit/>
          </a:bodyPr>
          <a:lstStyle/>
          <a:p>
            <a:pPr algn="l"/>
            <a:r>
              <a:rPr sz="1650" b="1" i="0" u="none">
                <a:solidFill>
                  <a:srgbClr val="0284C7"/>
                </a:solidFill>
                <a:latin typeface="Plus Jakarta Sans"/>
              </a:rPr>
              <a:t>Phần Phương Pháp (Methods)</a:t>
            </a:r>
          </a:p>
        </p:txBody>
      </p:sp>
      <p:sp>
        <p:nvSpPr>
          <p:cNvPr id="6" name="TextBox 5"/>
          <p:cNvSpPr txBox="1"/>
          <p:nvPr/>
        </p:nvSpPr>
        <p:spPr>
          <a:xfrm>
            <a:off x="885825" y="3266777"/>
            <a:ext cx="4705350" cy="1505545"/>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 </a:t>
            </a:r>
            <a:r>
              <a:rPr sz="1275" b="1" i="0" u="none">
                <a:solidFill>
                  <a:srgbClr val="475569"/>
                </a:solidFill>
                <a:latin typeface="Plus Jakarta Sans"/>
              </a:rPr>
              <a:t>Tính tái lập (Replicability):</a:t>
            </a:r>
            <a:r>
              <a:rPr sz="1275" b="0" i="0" u="none">
                <a:solidFill>
                  <a:srgbClr val="475569"/>
                </a:solidFill>
                <a:latin typeface="Plus Jakarta Sans"/>
              </a:rPr>
              <a:t> Trình bày chi tiết để các nhà nghiên cứu khác có thể lặp lại chính xác thí nghiệm.</a:t>
            </a:r>
            <a:r>
              <a:t>
</a:t>
            </a:r>
            <a:r>
              <a:rPr sz="1275" b="0" i="0" u="none">
                <a:solidFill>
                  <a:srgbClr val="475569"/>
                </a:solidFill>
                <a:latin typeface="Plus Jakarta Sans"/>
              </a:rPr>
              <a:t> • </a:t>
            </a:r>
            <a:r>
              <a:rPr sz="1275" b="1" i="0" u="none">
                <a:solidFill>
                  <a:srgbClr val="475569"/>
                </a:solidFill>
                <a:latin typeface="Plus Jakarta Sans"/>
              </a:rPr>
              <a:t>Mô tả mạch lạc:</a:t>
            </a:r>
            <a:r>
              <a:rPr sz="1275" b="0" i="0" u="none">
                <a:solidFill>
                  <a:srgbClr val="475569"/>
                </a:solidFill>
                <a:latin typeface="Plus Jakarta Sans"/>
              </a:rPr>
              <a:t> Sử dụng sơ đồ dòng chảy (Flowchart/Pipeline) để minh họa quy trình.</a:t>
            </a:r>
            <a:r>
              <a:t>
</a:t>
            </a:r>
            <a:r>
              <a:rPr sz="1275" b="0" i="0" u="none">
                <a:solidFill>
                  <a:srgbClr val="475569"/>
                </a:solidFill>
                <a:latin typeface="Plus Jakarta Sans"/>
              </a:rPr>
              <a:t> • </a:t>
            </a:r>
            <a:r>
              <a:rPr sz="1275" b="1" i="0" u="none">
                <a:solidFill>
                  <a:srgbClr val="475569"/>
                </a:solidFill>
                <a:latin typeface="Plus Jakarta Sans"/>
              </a:rPr>
              <a:t>Chuẩn mực:</a:t>
            </a:r>
            <a:r>
              <a:rPr sz="1275" b="0" i="0" u="none">
                <a:solidFill>
                  <a:srgbClr val="475569"/>
                </a:solidFill>
                <a:latin typeface="Plus Jakarta Sans"/>
              </a:rPr>
              <a:t> Trích dẫn chính xác các công cụ, phần mềm, bộ dữ liệu và quy trình đạo đức đã dùng.</a:t>
            </a:r>
          </a:p>
        </p:txBody>
      </p:sp>
      <p:sp>
        <p:nvSpPr>
          <p:cNvPr id="7" name="TextBox 6"/>
          <p:cNvSpPr txBox="1"/>
          <p:nvPr/>
        </p:nvSpPr>
        <p:spPr>
          <a:xfrm>
            <a:off x="6600825" y="2866727"/>
            <a:ext cx="4940617" cy="266700"/>
          </a:xfrm>
          <a:prstGeom prst="rect">
            <a:avLst/>
          </a:prstGeom>
          <a:noFill/>
        </p:spPr>
        <p:txBody>
          <a:bodyPr wrap="square" lIns="0" tIns="0" rIns="0" bIns="0" anchor="t">
            <a:spAutoFit/>
          </a:bodyPr>
          <a:lstStyle/>
          <a:p>
            <a:pPr algn="l"/>
            <a:r>
              <a:rPr sz="1650" b="1" i="0" u="none">
                <a:solidFill>
                  <a:srgbClr val="0284C7"/>
                </a:solidFill>
                <a:latin typeface="Plus Jakarta Sans"/>
              </a:rPr>
              <a:t>Phần Kết Quả (Results)</a:t>
            </a:r>
          </a:p>
        </p:txBody>
      </p:sp>
      <p:sp>
        <p:nvSpPr>
          <p:cNvPr id="8" name="TextBox 7"/>
          <p:cNvSpPr txBox="1"/>
          <p:nvPr/>
        </p:nvSpPr>
        <p:spPr>
          <a:xfrm>
            <a:off x="6600825" y="3266777"/>
            <a:ext cx="4705350" cy="1505545"/>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 </a:t>
            </a:r>
            <a:r>
              <a:rPr sz="1275" b="1" i="0" u="none">
                <a:solidFill>
                  <a:srgbClr val="475569"/>
                </a:solidFill>
                <a:latin typeface="Plus Jakarta Sans"/>
              </a:rPr>
              <a:t>Trực quan hóa dữ liệu:</a:t>
            </a:r>
            <a:r>
              <a:rPr sz="1275" b="0" i="0" u="none">
                <a:solidFill>
                  <a:srgbClr val="475569"/>
                </a:solidFill>
                <a:latin typeface="Plus Jakarta Sans"/>
              </a:rPr>
              <a:t> Dùng biểu đồ, hình ảnh chất lượng cao (300 DPI+). Tránh dùng biểu đồ 3D rườm rà.</a:t>
            </a:r>
            <a:r>
              <a:t>
</a:t>
            </a:r>
            <a:r>
              <a:rPr sz="1275" b="0" i="0" u="none">
                <a:solidFill>
                  <a:srgbClr val="475569"/>
                </a:solidFill>
                <a:latin typeface="Plus Jakarta Sans"/>
              </a:rPr>
              <a:t> • </a:t>
            </a:r>
            <a:r>
              <a:rPr sz="1275" b="1" i="0" u="none">
                <a:solidFill>
                  <a:srgbClr val="475569"/>
                </a:solidFill>
                <a:latin typeface="Plus Jakarta Sans"/>
              </a:rPr>
              <a:t>Trình bày khách quan:</a:t>
            </a:r>
            <a:r>
              <a:rPr sz="1275" b="0" i="0" u="none">
                <a:solidFill>
                  <a:srgbClr val="475569"/>
                </a:solidFill>
                <a:latin typeface="Plus Jakarta Sans"/>
              </a:rPr>
              <a:t> Chỉ báo cáo sự thật và dữ liệu tìm thấy, không đưa ý kiến cá nhân vào đây.</a:t>
            </a:r>
            <a:r>
              <a:t>
</a:t>
            </a:r>
            <a:r>
              <a:rPr sz="1275" b="0" i="0" u="none">
                <a:solidFill>
                  <a:srgbClr val="475569"/>
                </a:solidFill>
                <a:latin typeface="Plus Jakarta Sans"/>
              </a:rPr>
              <a:t> • </a:t>
            </a:r>
            <a:r>
              <a:rPr sz="1275" b="1" i="0" u="none">
                <a:solidFill>
                  <a:srgbClr val="475569"/>
                </a:solidFill>
                <a:latin typeface="Plus Jakarta Sans"/>
              </a:rPr>
              <a:t>Logic diễn đạt:</a:t>
            </a:r>
            <a:r>
              <a:rPr sz="1275" b="0" i="0" u="none">
                <a:solidFill>
                  <a:srgbClr val="475569"/>
                </a:solidFill>
                <a:latin typeface="Plus Jakarta Sans"/>
              </a:rPr>
              <a:t> Sắp xếp kết quả theo thứ tự ưu tiên từ quan trọng nhất đến phụ thuộc.</a:t>
            </a:r>
          </a:p>
        </p:txBody>
      </p:sp>
      <p:sp>
        <p:nvSpPr>
          <p:cNvPr id="9" name="TextBox 8"/>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Viết Phương Pháp (M) &amp; Kết Quả (R)</a:t>
            </a:r>
          </a:p>
        </p:txBody>
      </p:sp>
      <p:sp>
        <p:nvSpPr>
          <p:cNvPr id="10" name="Rectangle 9"/>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ate Placeholder 10">
            <a:extLst>
              <a:ext uri="{FF2B5EF4-FFF2-40B4-BE49-F238E27FC236}">
                <a16:creationId xmlns:a16="http://schemas.microsoft.com/office/drawing/2014/main" id="{B8809106-2514-2389-B0E9-9032769A6DC2}"/>
              </a:ext>
            </a:extLst>
          </p:cNvPr>
          <p:cNvSpPr>
            <a:spLocks noGrp="1"/>
          </p:cNvSpPr>
          <p:nvPr>
            <p:ph type="dt" sz="half" idx="10"/>
          </p:nvPr>
        </p:nvSpPr>
        <p:spPr/>
        <p:txBody>
          <a:bodyPr/>
          <a:lstStyle/>
          <a:p>
            <a:r>
              <a:rPr lang="en-US"/>
              <a:t>7/23/2026</a:t>
            </a:r>
          </a:p>
        </p:txBody>
      </p:sp>
      <p:sp>
        <p:nvSpPr>
          <p:cNvPr id="12" name="Footer Placeholder 11">
            <a:extLst>
              <a:ext uri="{FF2B5EF4-FFF2-40B4-BE49-F238E27FC236}">
                <a16:creationId xmlns:a16="http://schemas.microsoft.com/office/drawing/2014/main" id="{89379801-5500-A4FE-F482-95F36EBB8CE6}"/>
              </a:ext>
            </a:extLst>
          </p:cNvPr>
          <p:cNvSpPr>
            <a:spLocks noGrp="1"/>
          </p:cNvSpPr>
          <p:nvPr>
            <p:ph type="ftr" sz="quarter" idx="11"/>
          </p:nvPr>
        </p:nvSpPr>
        <p:spPr/>
        <p:txBody>
          <a:bodyPr/>
          <a:lstStyle/>
          <a:p>
            <a:r>
              <a:rPr lang="en-US"/>
              <a:t>Summer School for Researchers, 2026</a:t>
            </a:r>
          </a:p>
        </p:txBody>
      </p:sp>
      <p:sp>
        <p:nvSpPr>
          <p:cNvPr id="13" name="Slide Number Placeholder 12">
            <a:extLst>
              <a:ext uri="{FF2B5EF4-FFF2-40B4-BE49-F238E27FC236}">
                <a16:creationId xmlns:a16="http://schemas.microsoft.com/office/drawing/2014/main" id="{018C3460-770E-88EB-3023-C2B510B340CA}"/>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476250"/>
            <a:ext cx="560070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Viết Bàn Luận (Discussion)</a:t>
            </a:r>
          </a:p>
        </p:txBody>
      </p:sp>
      <p:sp>
        <p:nvSpPr>
          <p:cNvPr id="4" name="Rectangle 3"/>
          <p:cNvSpPr/>
          <p:nvPr/>
        </p:nvSpPr>
        <p:spPr>
          <a:xfrm>
            <a:off x="571500" y="1000125"/>
            <a:ext cx="5334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6286500" y="0"/>
            <a:ext cx="5905500" cy="6858000"/>
          </a:xfrm>
          <a:prstGeom prst="rect">
            <a:avLst/>
          </a:prstGeom>
        </p:spPr>
      </p:pic>
      <p:sp>
        <p:nvSpPr>
          <p:cNvPr id="6" name="TextBox 5"/>
          <p:cNvSpPr txBox="1"/>
          <p:nvPr/>
        </p:nvSpPr>
        <p:spPr>
          <a:xfrm>
            <a:off x="571500" y="2614017"/>
            <a:ext cx="5600700" cy="285750"/>
          </a:xfrm>
          <a:prstGeom prst="rect">
            <a:avLst/>
          </a:prstGeom>
          <a:noFill/>
        </p:spPr>
        <p:txBody>
          <a:bodyPr wrap="square" lIns="0" tIns="0" rIns="0" bIns="0" anchor="t">
            <a:spAutoFit/>
          </a:bodyPr>
          <a:lstStyle/>
          <a:p>
            <a:pPr algn="l"/>
            <a:r>
              <a:rPr sz="1800" b="1" i="0" u="none">
                <a:solidFill>
                  <a:srgbClr val="0284C7"/>
                </a:solidFill>
                <a:latin typeface="Plus Jakarta Sans"/>
              </a:rPr>
              <a:t>Trả Lời Câu Hỏi "So What?"</a:t>
            </a:r>
          </a:p>
        </p:txBody>
      </p:sp>
      <p:sp>
        <p:nvSpPr>
          <p:cNvPr id="7" name="TextBox 6"/>
          <p:cNvSpPr txBox="1"/>
          <p:nvPr/>
        </p:nvSpPr>
        <p:spPr>
          <a:xfrm>
            <a:off x="571500" y="3014067"/>
            <a:ext cx="5334000" cy="517921"/>
          </a:xfrm>
          <a:prstGeom prst="rect">
            <a:avLst/>
          </a:prstGeom>
          <a:noFill/>
        </p:spPr>
        <p:txBody>
          <a:bodyPr wrap="square" lIns="0" tIns="0" rIns="0" bIns="0" anchor="t">
            <a:spAutoFit/>
          </a:bodyPr>
          <a:lstStyle/>
          <a:p>
            <a:pPr algn="l">
              <a:lnSpc>
                <a:spcPts val="2039"/>
              </a:lnSpc>
            </a:pPr>
            <a:r>
              <a:rPr sz="1275" b="0" i="0" u="none">
                <a:solidFill>
                  <a:srgbClr val="334155"/>
                </a:solidFill>
                <a:latin typeface="Plus Jakarta Sans"/>
              </a:rPr>
              <a:t>Phần Discussion là nơi thể hiện tầm vóc tư duy của tác giả. Không chỉ nhắc lại số liệu, bạn phải diễn giải ý nghĩa sâu xa của kết quả thu được.</a:t>
            </a:r>
          </a:p>
        </p:txBody>
      </p:sp>
      <p:sp>
        <p:nvSpPr>
          <p:cNvPr id="8" name="TextBox 7"/>
          <p:cNvSpPr txBox="1"/>
          <p:nvPr/>
        </p:nvSpPr>
        <p:spPr>
          <a:xfrm>
            <a:off x="571500" y="3684389"/>
            <a:ext cx="5334000" cy="517921"/>
          </a:xfrm>
          <a:prstGeom prst="rect">
            <a:avLst/>
          </a:prstGeom>
          <a:noFill/>
        </p:spPr>
        <p:txBody>
          <a:bodyPr wrap="square" lIns="0" tIns="0" rIns="0" bIns="0" anchor="t">
            <a:spAutoFit/>
          </a:bodyPr>
          <a:lstStyle/>
          <a:p>
            <a:pPr algn="l">
              <a:lnSpc>
                <a:spcPts val="2039"/>
              </a:lnSpc>
            </a:pPr>
            <a:r>
              <a:rPr sz="1275" b="0" i="0" u="none">
                <a:solidFill>
                  <a:srgbClr val="334155"/>
                </a:solidFill>
                <a:latin typeface="Plus Jakarta Sans"/>
              </a:rPr>
              <a:t>So sánh phát hiện của bạn với các nghiên cứu trước đây (Tương đồng hay mâu thuẫn? Tại sao?). Đột phá nằm ở đâu?</a:t>
            </a:r>
          </a:p>
        </p:txBody>
      </p:sp>
      <p:sp>
        <p:nvSpPr>
          <p:cNvPr id="9" name="TextBox 8"/>
          <p:cNvSpPr txBox="1"/>
          <p:nvPr/>
        </p:nvSpPr>
        <p:spPr>
          <a:xfrm>
            <a:off x="571500" y="4354710"/>
            <a:ext cx="5334000" cy="517921"/>
          </a:xfrm>
          <a:prstGeom prst="rect">
            <a:avLst/>
          </a:prstGeom>
          <a:noFill/>
        </p:spPr>
        <p:txBody>
          <a:bodyPr wrap="square" lIns="0" tIns="0" rIns="0" bIns="0" anchor="t">
            <a:spAutoFit/>
          </a:bodyPr>
          <a:lstStyle/>
          <a:p>
            <a:pPr algn="l">
              <a:lnSpc>
                <a:spcPts val="2039"/>
              </a:lnSpc>
            </a:pPr>
            <a:r>
              <a:rPr sz="1275" b="0" i="0" u="none">
                <a:solidFill>
                  <a:srgbClr val="334155"/>
                </a:solidFill>
                <a:latin typeface="Plus Jakarta Sans"/>
              </a:rPr>
              <a:t>Thành thực nêu rõ các hạn chế (Limitations) và đề xuất hướng mở rộng cho tương lai.</a:t>
            </a:r>
          </a:p>
        </p:txBody>
      </p:sp>
      <p:sp>
        <p:nvSpPr>
          <p:cNvPr id="10" name="Date Placeholder 9">
            <a:extLst>
              <a:ext uri="{FF2B5EF4-FFF2-40B4-BE49-F238E27FC236}">
                <a16:creationId xmlns:a16="http://schemas.microsoft.com/office/drawing/2014/main" id="{219FE78D-7F66-8283-5E11-B355D775754B}"/>
              </a:ext>
            </a:extLst>
          </p:cNvPr>
          <p:cNvSpPr>
            <a:spLocks noGrp="1"/>
          </p:cNvSpPr>
          <p:nvPr>
            <p:ph type="dt" sz="half" idx="10"/>
          </p:nvPr>
        </p:nvSpPr>
        <p:spPr/>
        <p:txBody>
          <a:bodyPr/>
          <a:lstStyle/>
          <a:p>
            <a:r>
              <a:rPr lang="en-US"/>
              <a:t>7/23/2026</a:t>
            </a:r>
          </a:p>
        </p:txBody>
      </p:sp>
      <p:sp>
        <p:nvSpPr>
          <p:cNvPr id="11" name="Footer Placeholder 10">
            <a:extLst>
              <a:ext uri="{FF2B5EF4-FFF2-40B4-BE49-F238E27FC236}">
                <a16:creationId xmlns:a16="http://schemas.microsoft.com/office/drawing/2014/main" id="{D440DD22-EFCE-FE77-A7D1-3197BC0C4226}"/>
              </a:ext>
            </a:extLst>
          </p:cNvPr>
          <p:cNvSpPr>
            <a:spLocks noGrp="1"/>
          </p:cNvSpPr>
          <p:nvPr>
            <p:ph type="ftr" sz="quarter" idx="11"/>
          </p:nvPr>
        </p:nvSpPr>
        <p:spPr/>
        <p:txBody>
          <a:bodyPr/>
          <a:lstStyle/>
          <a:p>
            <a:r>
              <a:rPr lang="en-US"/>
              <a:t>Summer School for Researchers, 2026</a:t>
            </a:r>
          </a:p>
        </p:txBody>
      </p:sp>
      <p:sp>
        <p:nvSpPr>
          <p:cNvPr id="12" name="Slide Number Placeholder 11">
            <a:extLst>
              <a:ext uri="{FF2B5EF4-FFF2-40B4-BE49-F238E27FC236}">
                <a16:creationId xmlns:a16="http://schemas.microsoft.com/office/drawing/2014/main" id="{A894DB9D-430B-C57C-81B1-F4215950AC25}"/>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257300"/>
            <a:ext cx="11049000" cy="5124450"/>
          </a:xfrm>
          <a:prstGeom prst="rect">
            <a:avLst/>
          </a:prstGeom>
        </p:spPr>
      </p:pic>
      <p:sp>
        <p:nvSpPr>
          <p:cNvPr id="4" name="TextBox 3"/>
          <p:cNvSpPr txBox="1"/>
          <p:nvPr/>
        </p:nvSpPr>
        <p:spPr>
          <a:xfrm>
            <a:off x="933450" y="4865637"/>
            <a:ext cx="10325100" cy="250924"/>
          </a:xfrm>
          <a:prstGeom prst="rect">
            <a:avLst/>
          </a:prstGeom>
          <a:noFill/>
        </p:spPr>
        <p:txBody>
          <a:bodyPr wrap="square" lIns="0" tIns="0" rIns="0" bIns="0" anchor="t">
            <a:spAutoFit/>
          </a:bodyPr>
          <a:lstStyle/>
          <a:p>
            <a:pPr algn="ctr">
              <a:lnSpc>
                <a:spcPts val="1976"/>
              </a:lnSpc>
            </a:pPr>
            <a:r>
              <a:rPr sz="1275" b="0" i="1" u="none">
                <a:solidFill>
                  <a:srgbClr val="64748B"/>
                </a:solidFill>
                <a:latin typeface="Plus Jakarta Sans"/>
              </a:rPr>
              <a:t>Mức độ ảnh hưởng của các yếu tố cấu thành bản thảo tới khả năng bài báo được tìm thấy, đọc và trích dẫn trên Google Scholar &amp; Scopus.</a:t>
            </a:r>
          </a:p>
        </p:txBody>
      </p:sp>
      <p:sp>
        <p:nvSpPr>
          <p:cNvPr id="5" name="TextBox 4"/>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Tối Ưu Tiêu Đề, Tóm Tắt &amp; Từ Khóa</a:t>
            </a:r>
          </a:p>
        </p:txBody>
      </p:sp>
      <p:sp>
        <p:nvSpPr>
          <p:cNvPr id="6" name="Rectangle 5"/>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ate Placeholder 6">
            <a:extLst>
              <a:ext uri="{FF2B5EF4-FFF2-40B4-BE49-F238E27FC236}">
                <a16:creationId xmlns:a16="http://schemas.microsoft.com/office/drawing/2014/main" id="{EF9CC718-45DA-47A3-D0F1-41F4F39E219F}"/>
              </a:ext>
            </a:extLst>
          </p:cNvPr>
          <p:cNvSpPr>
            <a:spLocks noGrp="1"/>
          </p:cNvSpPr>
          <p:nvPr>
            <p:ph type="dt" sz="half" idx="10"/>
          </p:nvPr>
        </p:nvSpPr>
        <p:spPr/>
        <p:txBody>
          <a:bodyPr/>
          <a:lstStyle/>
          <a:p>
            <a:r>
              <a:rPr lang="en-US"/>
              <a:t>7/23/2026</a:t>
            </a:r>
          </a:p>
        </p:txBody>
      </p:sp>
      <p:sp>
        <p:nvSpPr>
          <p:cNvPr id="8" name="Footer Placeholder 7">
            <a:extLst>
              <a:ext uri="{FF2B5EF4-FFF2-40B4-BE49-F238E27FC236}">
                <a16:creationId xmlns:a16="http://schemas.microsoft.com/office/drawing/2014/main" id="{56B823DF-A47B-C448-46C1-4891627D9978}"/>
              </a:ext>
            </a:extLst>
          </p:cNvPr>
          <p:cNvSpPr>
            <a:spLocks noGrp="1"/>
          </p:cNvSpPr>
          <p:nvPr>
            <p:ph type="ftr" sz="quarter" idx="11"/>
          </p:nvPr>
        </p:nvSpPr>
        <p:spPr/>
        <p:txBody>
          <a:bodyPr/>
          <a:lstStyle/>
          <a:p>
            <a:r>
              <a:rPr lang="en-US"/>
              <a:t>Summer School for Researchers, 2026</a:t>
            </a:r>
          </a:p>
        </p:txBody>
      </p:sp>
      <p:sp>
        <p:nvSpPr>
          <p:cNvPr id="9" name="Slide Number Placeholder 8">
            <a:extLst>
              <a:ext uri="{FF2B5EF4-FFF2-40B4-BE49-F238E27FC236}">
                <a16:creationId xmlns:a16="http://schemas.microsoft.com/office/drawing/2014/main" id="{4C9CE599-6EFD-0CBC-4EB6-450E3B60A018}"/>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03289"/>
            <a:ext cx="3505200" cy="2632471"/>
          </a:xfrm>
          <a:prstGeom prst="rect">
            <a:avLst/>
          </a:prstGeom>
        </p:spPr>
      </p:pic>
      <p:pic>
        <p:nvPicPr>
          <p:cNvPr id="4" name="Picture 3" descr="image.png"/>
          <p:cNvPicPr>
            <a:picLocks noChangeAspect="1"/>
          </p:cNvPicPr>
          <p:nvPr/>
        </p:nvPicPr>
        <p:blipFill>
          <a:blip r:embed="rId4"/>
          <a:stretch>
            <a:fillRect/>
          </a:stretch>
        </p:blipFill>
        <p:spPr>
          <a:xfrm>
            <a:off x="4343400" y="2503289"/>
            <a:ext cx="3505200" cy="2632471"/>
          </a:xfrm>
          <a:prstGeom prst="rect">
            <a:avLst/>
          </a:prstGeom>
        </p:spPr>
      </p:pic>
      <p:pic>
        <p:nvPicPr>
          <p:cNvPr id="5" name="Picture 4" descr="image.png"/>
          <p:cNvPicPr>
            <a:picLocks noChangeAspect="1"/>
          </p:cNvPicPr>
          <p:nvPr/>
        </p:nvPicPr>
        <p:blipFill>
          <a:blip r:embed="rId5"/>
          <a:stretch>
            <a:fillRect/>
          </a:stretch>
        </p:blipFill>
        <p:spPr>
          <a:xfrm>
            <a:off x="8115300" y="2503289"/>
            <a:ext cx="3505200" cy="2632471"/>
          </a:xfrm>
          <a:prstGeom prst="rect">
            <a:avLst/>
          </a:prstGeom>
        </p:spPr>
      </p:pic>
      <p:pic>
        <p:nvPicPr>
          <p:cNvPr id="6" name="Picture 5" descr="image.png"/>
          <p:cNvPicPr>
            <a:picLocks noChangeAspect="1"/>
          </p:cNvPicPr>
          <p:nvPr/>
        </p:nvPicPr>
        <p:blipFill>
          <a:blip r:embed="rId6"/>
          <a:stretch>
            <a:fillRect/>
          </a:stretch>
        </p:blipFill>
        <p:spPr>
          <a:xfrm>
            <a:off x="847725" y="2779514"/>
            <a:ext cx="533400" cy="533400"/>
          </a:xfrm>
          <a:prstGeom prst="rect">
            <a:avLst/>
          </a:prstGeom>
        </p:spPr>
      </p:pic>
      <p:sp>
        <p:nvSpPr>
          <p:cNvPr id="7" name="TextBox 6"/>
          <p:cNvSpPr txBox="1"/>
          <p:nvPr/>
        </p:nvSpPr>
        <p:spPr>
          <a:xfrm>
            <a:off x="847725" y="3503414"/>
            <a:ext cx="1940242" cy="238125"/>
          </a:xfrm>
          <a:prstGeom prst="rect">
            <a:avLst/>
          </a:prstGeom>
          <a:noFill/>
        </p:spPr>
        <p:txBody>
          <a:bodyPr wrap="square" lIns="0" tIns="0" rIns="0" bIns="0" anchor="t">
            <a:spAutoFit/>
          </a:bodyPr>
          <a:lstStyle/>
          <a:p>
            <a:pPr algn="l"/>
            <a:r>
              <a:rPr sz="1500" b="1" i="0" u="none">
                <a:solidFill>
                  <a:srgbClr val="0F172A"/>
                </a:solidFill>
                <a:latin typeface="Plus Jakarta Sans"/>
              </a:rPr>
              <a:t>Hiệu Đính Ngôn Ngữ</a:t>
            </a:r>
          </a:p>
        </p:txBody>
      </p:sp>
      <p:sp>
        <p:nvSpPr>
          <p:cNvPr id="8" name="TextBox 7"/>
          <p:cNvSpPr txBox="1"/>
          <p:nvPr/>
        </p:nvSpPr>
        <p:spPr>
          <a:xfrm>
            <a:off x="847725" y="3855839"/>
            <a:ext cx="2952750" cy="1003696"/>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Sử dụng Grammarly, Paperpal hoặc Writefull để sửa lỗi ngữ pháp, cải thiện văn phong học thuật chuyên nghiệp và tăng độ mượt mà cho câu từ.</a:t>
            </a:r>
          </a:p>
        </p:txBody>
      </p:sp>
      <p:pic>
        <p:nvPicPr>
          <p:cNvPr id="9" name="Picture 8" descr="image.png"/>
          <p:cNvPicPr>
            <a:picLocks noChangeAspect="1"/>
          </p:cNvPicPr>
          <p:nvPr/>
        </p:nvPicPr>
        <p:blipFill>
          <a:blip r:embed="rId7"/>
          <a:stretch>
            <a:fillRect/>
          </a:stretch>
        </p:blipFill>
        <p:spPr>
          <a:xfrm>
            <a:off x="4619625" y="2779514"/>
            <a:ext cx="533400" cy="533400"/>
          </a:xfrm>
          <a:prstGeom prst="rect">
            <a:avLst/>
          </a:prstGeom>
        </p:spPr>
      </p:pic>
      <p:sp>
        <p:nvSpPr>
          <p:cNvPr id="10" name="TextBox 9"/>
          <p:cNvSpPr txBox="1"/>
          <p:nvPr/>
        </p:nvSpPr>
        <p:spPr>
          <a:xfrm>
            <a:off x="4619625" y="3503414"/>
            <a:ext cx="2010251" cy="238125"/>
          </a:xfrm>
          <a:prstGeom prst="rect">
            <a:avLst/>
          </a:prstGeom>
          <a:noFill/>
        </p:spPr>
        <p:txBody>
          <a:bodyPr wrap="square" lIns="0" tIns="0" rIns="0" bIns="0" anchor="t">
            <a:spAutoFit/>
          </a:bodyPr>
          <a:lstStyle/>
          <a:p>
            <a:pPr algn="l"/>
            <a:r>
              <a:rPr sz="1500" b="1" i="0" u="none">
                <a:solidFill>
                  <a:srgbClr val="0F172A"/>
                </a:solidFill>
                <a:latin typeface="Plus Jakarta Sans"/>
              </a:rPr>
              <a:t>Đồng Đội Tư Duy (AI)</a:t>
            </a:r>
          </a:p>
        </p:txBody>
      </p:sp>
      <p:sp>
        <p:nvSpPr>
          <p:cNvPr id="11" name="TextBox 10"/>
          <p:cNvSpPr txBox="1"/>
          <p:nvPr/>
        </p:nvSpPr>
        <p:spPr>
          <a:xfrm>
            <a:off x="4619625" y="3855839"/>
            <a:ext cx="2952750" cy="1003696"/>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Dùng ChatGPT / Claude làm "đối tác thảo luận" để tóm tắt tài liệu, gợi ý cách diễn đạt lại (paraphrase) hoặc kiểm tra tính logic của lập luận.</a:t>
            </a:r>
          </a:p>
        </p:txBody>
      </p:sp>
      <p:pic>
        <p:nvPicPr>
          <p:cNvPr id="12" name="Picture 11" descr="image.png"/>
          <p:cNvPicPr>
            <a:picLocks noChangeAspect="1"/>
          </p:cNvPicPr>
          <p:nvPr/>
        </p:nvPicPr>
        <p:blipFill>
          <a:blip r:embed="rId8"/>
          <a:stretch>
            <a:fillRect/>
          </a:stretch>
        </p:blipFill>
        <p:spPr>
          <a:xfrm>
            <a:off x="8391525" y="2779514"/>
            <a:ext cx="533400" cy="533400"/>
          </a:xfrm>
          <a:prstGeom prst="rect">
            <a:avLst/>
          </a:prstGeom>
        </p:spPr>
      </p:pic>
      <p:sp>
        <p:nvSpPr>
          <p:cNvPr id="13" name="TextBox 12"/>
          <p:cNvSpPr txBox="1"/>
          <p:nvPr/>
        </p:nvSpPr>
        <p:spPr>
          <a:xfrm>
            <a:off x="8391525" y="3503414"/>
            <a:ext cx="2310288" cy="238125"/>
          </a:xfrm>
          <a:prstGeom prst="rect">
            <a:avLst/>
          </a:prstGeom>
          <a:noFill/>
        </p:spPr>
        <p:txBody>
          <a:bodyPr wrap="square" lIns="0" tIns="0" rIns="0" bIns="0" anchor="t">
            <a:spAutoFit/>
          </a:bodyPr>
          <a:lstStyle/>
          <a:p>
            <a:pPr algn="l"/>
            <a:r>
              <a:rPr sz="1500" b="1" i="0" u="none">
                <a:solidFill>
                  <a:srgbClr val="0F172A"/>
                </a:solidFill>
                <a:latin typeface="Plus Jakarta Sans"/>
              </a:rPr>
              <a:t>Soạn Thảo Chuẩn LaTeX</a:t>
            </a:r>
          </a:p>
        </p:txBody>
      </p:sp>
      <p:sp>
        <p:nvSpPr>
          <p:cNvPr id="14" name="TextBox 13"/>
          <p:cNvSpPr txBox="1"/>
          <p:nvPr/>
        </p:nvSpPr>
        <p:spPr>
          <a:xfrm>
            <a:off x="8391525" y="3855839"/>
            <a:ext cx="2952750" cy="1003696"/>
          </a:xfrm>
          <a:prstGeom prst="rect">
            <a:avLst/>
          </a:prstGeom>
          <a:noFill/>
        </p:spPr>
        <p:txBody>
          <a:bodyPr wrap="square" lIns="0" tIns="0" rIns="0" bIns="0" anchor="t">
            <a:spAutoFit/>
          </a:bodyPr>
          <a:lstStyle/>
          <a:p>
            <a:pPr algn="l">
              <a:lnSpc>
                <a:spcPts val="1976"/>
              </a:lnSpc>
            </a:pPr>
            <a:r>
              <a:rPr sz="1275" b="0" i="0" u="none">
                <a:solidFill>
                  <a:srgbClr val="475569"/>
                </a:solidFill>
                <a:latin typeface="Plus Jakarta Sans"/>
              </a:rPr>
              <a:t>Sử dụng Overleaf với mẫu (templates) sẵn có của Elsevier, IEEE, Springer giúp tự động hóa định dạng bảng biểu, hình ảnh và danh mục trích dẫn.</a:t>
            </a:r>
          </a:p>
        </p:txBody>
      </p:sp>
      <p:pic>
        <p:nvPicPr>
          <p:cNvPr id="15" name="Picture 14" descr="image.png"/>
          <p:cNvPicPr>
            <a:picLocks noChangeAspect="1"/>
          </p:cNvPicPr>
          <p:nvPr/>
        </p:nvPicPr>
        <p:blipFill>
          <a:blip r:embed="rId9"/>
          <a:stretch>
            <a:fillRect/>
          </a:stretch>
        </p:blipFill>
        <p:spPr>
          <a:xfrm>
            <a:off x="985837" y="2931914"/>
            <a:ext cx="257175" cy="228600"/>
          </a:xfrm>
          <a:prstGeom prst="rect">
            <a:avLst/>
          </a:prstGeom>
        </p:spPr>
      </p:pic>
      <p:pic>
        <p:nvPicPr>
          <p:cNvPr id="16" name="Picture 15" descr="image.png"/>
          <p:cNvPicPr>
            <a:picLocks noChangeAspect="1"/>
          </p:cNvPicPr>
          <p:nvPr/>
        </p:nvPicPr>
        <p:blipFill>
          <a:blip r:embed="rId10"/>
          <a:stretch>
            <a:fillRect/>
          </a:stretch>
        </p:blipFill>
        <p:spPr>
          <a:xfrm>
            <a:off x="4743450" y="2931914"/>
            <a:ext cx="285750" cy="228600"/>
          </a:xfrm>
          <a:prstGeom prst="rect">
            <a:avLst/>
          </a:prstGeom>
        </p:spPr>
      </p:pic>
      <p:pic>
        <p:nvPicPr>
          <p:cNvPr id="17" name="Picture 16" descr="image.png"/>
          <p:cNvPicPr>
            <a:picLocks noChangeAspect="1"/>
          </p:cNvPicPr>
          <p:nvPr/>
        </p:nvPicPr>
        <p:blipFill>
          <a:blip r:embed="rId11"/>
          <a:stretch>
            <a:fillRect/>
          </a:stretch>
        </p:blipFill>
        <p:spPr>
          <a:xfrm>
            <a:off x="8515350" y="2931914"/>
            <a:ext cx="285750" cy="228600"/>
          </a:xfrm>
          <a:prstGeom prst="rect">
            <a:avLst/>
          </a:prstGeom>
        </p:spPr>
      </p:pic>
      <p:sp>
        <p:nvSpPr>
          <p:cNvPr id="18" name="TextBox 17"/>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Ứng Dụng Công Cụ AI Hỗ Trợ Viết</a:t>
            </a:r>
          </a:p>
        </p:txBody>
      </p:sp>
      <p:sp>
        <p:nvSpPr>
          <p:cNvPr id="19" name="Rectangle 18"/>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ate Placeholder 19">
            <a:extLst>
              <a:ext uri="{FF2B5EF4-FFF2-40B4-BE49-F238E27FC236}">
                <a16:creationId xmlns:a16="http://schemas.microsoft.com/office/drawing/2014/main" id="{CF057BDC-D053-AF13-C43F-8A4B1907F07E}"/>
              </a:ext>
            </a:extLst>
          </p:cNvPr>
          <p:cNvSpPr>
            <a:spLocks noGrp="1"/>
          </p:cNvSpPr>
          <p:nvPr>
            <p:ph type="dt" sz="half" idx="10"/>
          </p:nvPr>
        </p:nvSpPr>
        <p:spPr/>
        <p:txBody>
          <a:bodyPr/>
          <a:lstStyle/>
          <a:p>
            <a:r>
              <a:rPr lang="en-US"/>
              <a:t>7/23/2026</a:t>
            </a:r>
          </a:p>
        </p:txBody>
      </p:sp>
      <p:sp>
        <p:nvSpPr>
          <p:cNvPr id="21" name="Footer Placeholder 20">
            <a:extLst>
              <a:ext uri="{FF2B5EF4-FFF2-40B4-BE49-F238E27FC236}">
                <a16:creationId xmlns:a16="http://schemas.microsoft.com/office/drawing/2014/main" id="{F2A7146C-D371-2E95-919D-C84B8500BC8E}"/>
              </a:ext>
            </a:extLst>
          </p:cNvPr>
          <p:cNvSpPr>
            <a:spLocks noGrp="1"/>
          </p:cNvSpPr>
          <p:nvPr>
            <p:ph type="ftr" sz="quarter" idx="11"/>
          </p:nvPr>
        </p:nvSpPr>
        <p:spPr/>
        <p:txBody>
          <a:bodyPr/>
          <a:lstStyle/>
          <a:p>
            <a:r>
              <a:rPr lang="en-US"/>
              <a:t>Summer School for Researchers, 2026</a:t>
            </a:r>
          </a:p>
        </p:txBody>
      </p:sp>
      <p:sp>
        <p:nvSpPr>
          <p:cNvPr id="22" name="Slide Number Placeholder 21">
            <a:extLst>
              <a:ext uri="{FF2B5EF4-FFF2-40B4-BE49-F238E27FC236}">
                <a16:creationId xmlns:a16="http://schemas.microsoft.com/office/drawing/2014/main" id="{A11414B0-C79B-D02F-EA5A-E66E0B802364}"/>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5734050" y="2509837"/>
            <a:ext cx="723900" cy="200025"/>
          </a:xfrm>
          <a:prstGeom prst="rect">
            <a:avLst/>
          </a:prstGeom>
          <a:noFill/>
        </p:spPr>
        <p:txBody>
          <a:bodyPr wrap="square" lIns="0" tIns="0" rIns="0" bIns="0" anchor="t">
            <a:spAutoFit/>
          </a:bodyPr>
          <a:lstStyle/>
          <a:p>
            <a:pPr algn="ctr"/>
            <a:r>
              <a:rPr sz="1200" b="1" i="0" u="none">
                <a:solidFill>
                  <a:srgbClr val="38BDF8"/>
                </a:solidFill>
                <a:latin typeface="Plus Jakarta Sans"/>
              </a:rPr>
              <a:t>PHẦN 3</a:t>
            </a:r>
          </a:p>
        </p:txBody>
      </p:sp>
      <p:sp>
        <p:nvSpPr>
          <p:cNvPr id="5" name="TextBox 4"/>
          <p:cNvSpPr txBox="1"/>
          <p:nvPr/>
        </p:nvSpPr>
        <p:spPr>
          <a:xfrm>
            <a:off x="2810589" y="2824162"/>
            <a:ext cx="6570821" cy="581025"/>
          </a:xfrm>
          <a:prstGeom prst="rect">
            <a:avLst/>
          </a:prstGeom>
          <a:noFill/>
        </p:spPr>
        <p:txBody>
          <a:bodyPr wrap="square" lIns="0" tIns="0" rIns="0" bIns="0" anchor="t">
            <a:spAutoFit/>
          </a:bodyPr>
          <a:lstStyle/>
          <a:p>
            <a:pPr algn="ctr"/>
            <a:r>
              <a:rPr sz="3600" b="0" i="0" u="none">
                <a:solidFill>
                  <a:srgbClr val="FFFFFF"/>
                </a:solidFill>
                <a:latin typeface="Plus Jakarta Sans ExtraBold"/>
              </a:rPr>
              <a:t>Chiến Lược Công Bố Bài Báo</a:t>
            </a:r>
          </a:p>
        </p:txBody>
      </p:sp>
      <p:sp>
        <p:nvSpPr>
          <p:cNvPr id="6" name="TextBox 5"/>
          <p:cNvSpPr txBox="1"/>
          <p:nvPr/>
        </p:nvSpPr>
        <p:spPr>
          <a:xfrm>
            <a:off x="2995612" y="4052887"/>
            <a:ext cx="6200775" cy="295275"/>
          </a:xfrm>
          <a:prstGeom prst="rect">
            <a:avLst/>
          </a:prstGeom>
          <a:noFill/>
        </p:spPr>
        <p:txBody>
          <a:bodyPr wrap="square" lIns="0" tIns="0" rIns="0" bIns="0" anchor="t">
            <a:spAutoFit/>
          </a:bodyPr>
          <a:lstStyle/>
          <a:p>
            <a:pPr algn="ctr">
              <a:lnSpc>
                <a:spcPts val="2325"/>
              </a:lnSpc>
            </a:pPr>
            <a:r>
              <a:rPr sz="1500" b="0" i="0" u="none">
                <a:solidFill>
                  <a:srgbClr val="94A3B8"/>
                </a:solidFill>
                <a:latin typeface="Plus Jakarta Sans"/>
              </a:rPr>
              <a:t>Lựa chọn tạp chí, làm việc với phản biện và quy trình xuất bản thành công</a:t>
            </a:r>
          </a:p>
        </p:txBody>
      </p:sp>
      <p:sp>
        <p:nvSpPr>
          <p:cNvPr id="7" name="Date Placeholder 6">
            <a:extLst>
              <a:ext uri="{FF2B5EF4-FFF2-40B4-BE49-F238E27FC236}">
                <a16:creationId xmlns:a16="http://schemas.microsoft.com/office/drawing/2014/main" id="{9A023304-1793-BCEA-8ECE-C9CFEF0E0549}"/>
              </a:ext>
            </a:extLst>
          </p:cNvPr>
          <p:cNvSpPr>
            <a:spLocks noGrp="1"/>
          </p:cNvSpPr>
          <p:nvPr>
            <p:ph type="dt" sz="half" idx="10"/>
          </p:nvPr>
        </p:nvSpPr>
        <p:spPr/>
        <p:txBody>
          <a:bodyPr/>
          <a:lstStyle/>
          <a:p>
            <a:r>
              <a:rPr lang="en-US"/>
              <a:t>7/23/2026</a:t>
            </a:r>
          </a:p>
        </p:txBody>
      </p:sp>
      <p:sp>
        <p:nvSpPr>
          <p:cNvPr id="8" name="Footer Placeholder 7">
            <a:extLst>
              <a:ext uri="{FF2B5EF4-FFF2-40B4-BE49-F238E27FC236}">
                <a16:creationId xmlns:a16="http://schemas.microsoft.com/office/drawing/2014/main" id="{5BDE032D-F1D6-00B0-5DC7-F7E0BF293E9B}"/>
              </a:ext>
            </a:extLst>
          </p:cNvPr>
          <p:cNvSpPr>
            <a:spLocks noGrp="1"/>
          </p:cNvSpPr>
          <p:nvPr>
            <p:ph type="ftr" sz="quarter" idx="11"/>
          </p:nvPr>
        </p:nvSpPr>
        <p:spPr/>
        <p:txBody>
          <a:bodyPr/>
          <a:lstStyle/>
          <a:p>
            <a:r>
              <a:rPr lang="en-US"/>
              <a:t>Summer School for Researchers, 2026</a:t>
            </a:r>
          </a:p>
        </p:txBody>
      </p:sp>
      <p:sp>
        <p:nvSpPr>
          <p:cNvPr id="9" name="Slide Number Placeholder 8">
            <a:extLst>
              <a:ext uri="{FF2B5EF4-FFF2-40B4-BE49-F238E27FC236}">
                <a16:creationId xmlns:a16="http://schemas.microsoft.com/office/drawing/2014/main" id="{B16A7320-275E-DF58-C329-DF310015028B}"/>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571500" y="2467867"/>
            <a:ext cx="11049000" cy="270316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71500" y="2467867"/>
          <a:ext cx="11039473" cy="2703165"/>
        </p:xfrm>
        <a:graphic>
          <a:graphicData uri="http://schemas.openxmlformats.org/drawingml/2006/table">
            <a:tbl>
              <a:tblPr firstRow="1" bandRow="1">
                <a:tableStyleId>{5C22544A-7EE6-4342-B048-85BDC9FD1C3A}</a:tableStyleId>
              </a:tblPr>
              <a:tblGrid>
                <a:gridCol w="1732805">
                  <a:extLst>
                    <a:ext uri="{9D8B030D-6E8A-4147-A177-3AD203B41FA5}">
                      <a16:colId xmlns:a16="http://schemas.microsoft.com/office/drawing/2014/main" val="20000"/>
                    </a:ext>
                  </a:extLst>
                </a:gridCol>
                <a:gridCol w="3191619">
                  <a:extLst>
                    <a:ext uri="{9D8B030D-6E8A-4147-A177-3AD203B41FA5}">
                      <a16:colId xmlns:a16="http://schemas.microsoft.com/office/drawing/2014/main" val="20001"/>
                    </a:ext>
                  </a:extLst>
                </a:gridCol>
                <a:gridCol w="2938908">
                  <a:extLst>
                    <a:ext uri="{9D8B030D-6E8A-4147-A177-3AD203B41FA5}">
                      <a16:colId xmlns:a16="http://schemas.microsoft.com/office/drawing/2014/main" val="20002"/>
                    </a:ext>
                  </a:extLst>
                </a:gridCol>
                <a:gridCol w="3176141">
                  <a:extLst>
                    <a:ext uri="{9D8B030D-6E8A-4147-A177-3AD203B41FA5}">
                      <a16:colId xmlns:a16="http://schemas.microsoft.com/office/drawing/2014/main" val="20003"/>
                    </a:ext>
                  </a:extLst>
                </a:gridCol>
              </a:tblGrid>
              <a:tr h="540633">
                <a:tc>
                  <a:txBody>
                    <a:bodyPr/>
                    <a:lstStyle/>
                    <a:p>
                      <a:pPr algn="l"/>
                      <a:r>
                        <a:rPr sz="1200" b="1" i="0" u="none">
                          <a:solidFill>
                            <a:srgbClr val="FFFFFF"/>
                          </a:solidFill>
                          <a:latin typeface="Plus Jakarta Sans"/>
                        </a:rPr>
                        <a:t>Tiêu Chí</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Plus Jakarta Sans"/>
                        </a:rPr>
                        <a:t>Tạp Chí Hàng Đầu (Q1/Top Tier)</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Plus Jakarta Sans"/>
                        </a:rPr>
                        <a:t>Tạp Chí Khá (Q2/Q3)</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Plus Jakarta Sans"/>
                        </a:rPr>
                        <a:t>Cảnh Báo (Predatory)</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540633">
                <a:tc>
                  <a:txBody>
                    <a:bodyPr/>
                    <a:lstStyle/>
                    <a:p>
                      <a:pPr algn="l"/>
                      <a:r>
                        <a:rPr sz="1125" b="1" i="0" u="none">
                          <a:solidFill>
                            <a:srgbClr val="475569"/>
                          </a:solidFill>
                          <a:latin typeface="Plus Jakarta Sans"/>
                        </a:rPr>
                        <a:t>Phạm Vi (Scope)</a:t>
                      </a:r>
                    </a:p>
                  </a:txBody>
                  <a:tcPr marL="63500" marR="63500" marT="25400" marB="25400" anchor="ctr">
                    <a:lnL>
                      <a:noFill/>
                    </a:lnL>
                    <a:lnR>
                      <a:noFill/>
                    </a:lnR>
                    <a:lnT>
                      <a:noFill/>
                    </a:lnT>
                    <a:lnB>
                      <a:noFill/>
                    </a:lnB>
                    <a:noFill/>
                  </a:tcPr>
                </a:tc>
                <a:tc>
                  <a:txBody>
                    <a:bodyPr/>
                    <a:lstStyle/>
                    <a:p>
                      <a:pPr algn="l"/>
                      <a:r>
                        <a:rPr sz="1125" b="0" i="0" u="none">
                          <a:solidFill>
                            <a:srgbClr val="475569"/>
                          </a:solidFill>
                          <a:latin typeface="Plus Jakarta Sans"/>
                        </a:rPr>
                        <a:t>Rất rộng, tầm ảnh hưởng toàn cầu</a:t>
                      </a:r>
                    </a:p>
                  </a:txBody>
                  <a:tcPr marL="63500" marR="63500" marT="25400" marB="25400" anchor="ctr">
                    <a:lnL>
                      <a:noFill/>
                    </a:lnL>
                    <a:lnR>
                      <a:noFill/>
                    </a:lnR>
                    <a:lnT>
                      <a:noFill/>
                    </a:lnT>
                    <a:lnB>
                      <a:noFill/>
                    </a:lnB>
                    <a:noFill/>
                  </a:tcPr>
                </a:tc>
                <a:tc>
                  <a:txBody>
                    <a:bodyPr/>
                    <a:lstStyle/>
                    <a:p>
                      <a:pPr algn="l"/>
                      <a:r>
                        <a:rPr sz="1125" b="0" i="0" u="none">
                          <a:solidFill>
                            <a:srgbClr val="475569"/>
                          </a:solidFill>
                          <a:latin typeface="Plus Jakarta Sans"/>
                        </a:rPr>
                        <a:t>Chuyên sâu vào nhóm tiểu ngành</a:t>
                      </a:r>
                    </a:p>
                  </a:txBody>
                  <a:tcPr marL="63500" marR="63500" marT="25400" marB="25400" anchor="ctr">
                    <a:lnL>
                      <a:noFill/>
                    </a:lnL>
                    <a:lnR>
                      <a:noFill/>
                    </a:lnR>
                    <a:lnT>
                      <a:noFill/>
                    </a:lnT>
                    <a:lnB>
                      <a:noFill/>
                    </a:lnB>
                    <a:noFill/>
                  </a:tcPr>
                </a:tc>
                <a:tc>
                  <a:txBody>
                    <a:bodyPr/>
                    <a:lstStyle/>
                    <a:p>
                      <a:pPr algn="l"/>
                      <a:r>
                        <a:rPr sz="1125" b="0" i="0" u="none">
                          <a:solidFill>
                            <a:srgbClr val="475569"/>
                          </a:solidFill>
                          <a:latin typeface="Plus Jakarta Sans"/>
                        </a:rPr>
                        <a:t>Không rõ ràng, đa ngành vô lý</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40633">
                <a:tc>
                  <a:txBody>
                    <a:bodyPr/>
                    <a:lstStyle/>
                    <a:p>
                      <a:pPr algn="l"/>
                      <a:r>
                        <a:rPr sz="1125" b="1" i="0" u="none">
                          <a:solidFill>
                            <a:srgbClr val="475569"/>
                          </a:solidFill>
                          <a:latin typeface="Plus Jakarta Sans"/>
                        </a:rPr>
                        <a:t>Thời Gian Review</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475569"/>
                          </a:solidFill>
                          <a:latin typeface="Plus Jakarta Sans"/>
                        </a:rPr>
                        <a:t>3 - 6 tháng (Kèm phản biện khắt khe)</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475569"/>
                          </a:solidFill>
                          <a:latin typeface="Plus Jakarta Sans"/>
                        </a:rPr>
                        <a:t>2 - 4 tháng (Quy chuẩn rõ ràng)</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475569"/>
                          </a:solidFill>
                          <a:latin typeface="Plus Jakarta Sans"/>
                        </a:rPr>
                        <a:t>Vài ngày đến 1 tuần (Hứa hẹn hời hợt)</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540633">
                <a:tc>
                  <a:txBody>
                    <a:bodyPr/>
                    <a:lstStyle/>
                    <a:p>
                      <a:pPr algn="l"/>
                      <a:r>
                        <a:rPr sz="1125" b="1" i="0" u="none">
                          <a:solidFill>
                            <a:srgbClr val="475569"/>
                          </a:solidFill>
                          <a:latin typeface="Plus Jakarta Sans"/>
                        </a:rPr>
                        <a:t>Chỉ Số Tác Động</a:t>
                      </a:r>
                    </a:p>
                  </a:txBody>
                  <a:tcPr marL="63500" marR="63500" marT="25400" marB="25400" anchor="ctr">
                    <a:lnL>
                      <a:noFill/>
                    </a:lnL>
                    <a:lnR>
                      <a:noFill/>
                    </a:lnR>
                    <a:lnT>
                      <a:noFill/>
                    </a:lnT>
                    <a:lnB>
                      <a:noFill/>
                    </a:lnB>
                    <a:noFill/>
                  </a:tcPr>
                </a:tc>
                <a:tc>
                  <a:txBody>
                    <a:bodyPr/>
                    <a:lstStyle/>
                    <a:p>
                      <a:pPr algn="l"/>
                      <a:r>
                        <a:rPr sz="1125" b="0" i="0" u="none">
                          <a:solidFill>
                            <a:srgbClr val="475569"/>
                          </a:solidFill>
                          <a:latin typeface="Plus Jakarta Sans"/>
                        </a:rPr>
                        <a:t>Impact Factor (IF) cao, CiteScore lớn</a:t>
                      </a:r>
                    </a:p>
                  </a:txBody>
                  <a:tcPr marL="63500" marR="63500" marT="25400" marB="25400" anchor="ctr">
                    <a:lnL>
                      <a:noFill/>
                    </a:lnL>
                    <a:lnR>
                      <a:noFill/>
                    </a:lnR>
                    <a:lnT>
                      <a:noFill/>
                    </a:lnT>
                    <a:lnB>
                      <a:noFill/>
                    </a:lnB>
                    <a:noFill/>
                  </a:tcPr>
                </a:tc>
                <a:tc>
                  <a:txBody>
                    <a:bodyPr/>
                    <a:lstStyle/>
                    <a:p>
                      <a:pPr algn="l"/>
                      <a:r>
                        <a:rPr sz="1125" b="0" i="0" u="none">
                          <a:solidFill>
                            <a:srgbClr val="475569"/>
                          </a:solidFill>
                          <a:latin typeface="Plus Jakarta Sans"/>
                        </a:rPr>
                        <a:t>Chỉ số vừa phải, uy tín vững vàng</a:t>
                      </a:r>
                    </a:p>
                  </a:txBody>
                  <a:tcPr marL="63500" marR="63500" marT="25400" marB="25400" anchor="ctr">
                    <a:lnL>
                      <a:noFill/>
                    </a:lnL>
                    <a:lnR>
                      <a:noFill/>
                    </a:lnR>
                    <a:lnT>
                      <a:noFill/>
                    </a:lnT>
                    <a:lnB>
                      <a:noFill/>
                    </a:lnB>
                    <a:noFill/>
                  </a:tcPr>
                </a:tc>
                <a:tc>
                  <a:txBody>
                    <a:bodyPr/>
                    <a:lstStyle/>
                    <a:p>
                      <a:pPr algn="l"/>
                      <a:r>
                        <a:rPr sz="1125" b="0" i="0" u="none">
                          <a:solidFill>
                            <a:srgbClr val="475569"/>
                          </a:solidFill>
                          <a:latin typeface="Plus Jakarta Sans"/>
                        </a:rPr>
                        <a:t>Không có trong Scopus/WoS (IF giả)</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40633">
                <a:tc>
                  <a:txBody>
                    <a:bodyPr/>
                    <a:lstStyle/>
                    <a:p>
                      <a:pPr algn="l"/>
                      <a:r>
                        <a:rPr sz="1125" b="1" i="0" u="none">
                          <a:solidFill>
                            <a:srgbClr val="475569"/>
                          </a:solidFill>
                          <a:latin typeface="Plus Jakarta Sans"/>
                        </a:rPr>
                        <a:t>Tỷ Lệ Chấp Nhận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475569"/>
                          </a:solidFill>
                          <a:latin typeface="Plus Jakarta Sans"/>
                        </a:rPr>
                        <a:t>Thường &lt; 15% - 20%</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475569"/>
                          </a:solidFill>
                          <a:latin typeface="Plus Jakarta Sans"/>
                        </a:rPr>
                        <a:t>Khoảng 30% - 50%</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475569"/>
                          </a:solidFill>
                          <a:latin typeface="Plus Jakarta Sans"/>
                        </a:rPr>
                        <a:t>Gần như 100% (Chỉ cần đóng phí)</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576262" y="3013620"/>
            <a:ext cx="17328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309068" y="3013620"/>
            <a:ext cx="31916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500687" y="3013620"/>
            <a:ext cx="29389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39596" y="3013620"/>
            <a:ext cx="3176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262" y="3549401"/>
            <a:ext cx="17328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309068" y="3549401"/>
            <a:ext cx="31916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00687" y="3549401"/>
            <a:ext cx="29389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39596" y="3549401"/>
            <a:ext cx="3176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6262" y="4085183"/>
            <a:ext cx="17328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09068" y="4085183"/>
            <a:ext cx="31916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500687" y="4085183"/>
            <a:ext cx="29389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39596" y="4085183"/>
            <a:ext cx="3176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262" y="4620964"/>
            <a:ext cx="17328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309068" y="4620964"/>
            <a:ext cx="31916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500687" y="4620964"/>
            <a:ext cx="29389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439596" y="4620964"/>
            <a:ext cx="3176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76262" y="5156745"/>
            <a:ext cx="17328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309068" y="5156745"/>
            <a:ext cx="319161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500687" y="5156745"/>
            <a:ext cx="29389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439596" y="5156745"/>
            <a:ext cx="3176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Chiến Lược Chọn Tạp Chí Mục Tiêu</a:t>
            </a:r>
          </a:p>
        </p:txBody>
      </p:sp>
      <p:sp>
        <p:nvSpPr>
          <p:cNvPr id="26" name="Rectangle 25"/>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ate Placeholder 26">
            <a:extLst>
              <a:ext uri="{FF2B5EF4-FFF2-40B4-BE49-F238E27FC236}">
                <a16:creationId xmlns:a16="http://schemas.microsoft.com/office/drawing/2014/main" id="{B7DA91E8-C240-20D7-AF33-9F1A03F40DE4}"/>
              </a:ext>
            </a:extLst>
          </p:cNvPr>
          <p:cNvSpPr>
            <a:spLocks noGrp="1"/>
          </p:cNvSpPr>
          <p:nvPr>
            <p:ph type="dt" sz="half" idx="10"/>
          </p:nvPr>
        </p:nvSpPr>
        <p:spPr/>
        <p:txBody>
          <a:bodyPr/>
          <a:lstStyle/>
          <a:p>
            <a:r>
              <a:rPr lang="en-US"/>
              <a:t>7/23/2026</a:t>
            </a:r>
          </a:p>
        </p:txBody>
      </p:sp>
      <p:sp>
        <p:nvSpPr>
          <p:cNvPr id="28" name="Footer Placeholder 27">
            <a:extLst>
              <a:ext uri="{FF2B5EF4-FFF2-40B4-BE49-F238E27FC236}">
                <a16:creationId xmlns:a16="http://schemas.microsoft.com/office/drawing/2014/main" id="{4D02DCDC-91AE-8D66-C021-E5781D72775E}"/>
              </a:ext>
            </a:extLst>
          </p:cNvPr>
          <p:cNvSpPr>
            <a:spLocks noGrp="1"/>
          </p:cNvSpPr>
          <p:nvPr>
            <p:ph type="ftr" sz="quarter" idx="11"/>
          </p:nvPr>
        </p:nvSpPr>
        <p:spPr/>
        <p:txBody>
          <a:bodyPr/>
          <a:lstStyle/>
          <a:p>
            <a:r>
              <a:rPr lang="en-US"/>
              <a:t>Summer School for Researchers, 2026</a:t>
            </a:r>
          </a:p>
        </p:txBody>
      </p:sp>
      <p:sp>
        <p:nvSpPr>
          <p:cNvPr id="29" name="Slide Number Placeholder 28">
            <a:extLst>
              <a:ext uri="{FF2B5EF4-FFF2-40B4-BE49-F238E27FC236}">
                <a16:creationId xmlns:a16="http://schemas.microsoft.com/office/drawing/2014/main" id="{1CBA9DA9-18CF-4821-0EBF-3D4D202F9F02}"/>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990975"/>
            <a:ext cx="11049000" cy="38100"/>
          </a:xfrm>
          <a:prstGeom prst="rect">
            <a:avLst/>
          </a:prstGeom>
        </p:spPr>
      </p:pic>
      <p:pic>
        <p:nvPicPr>
          <p:cNvPr id="4" name="Picture 3" descr="image.png"/>
          <p:cNvPicPr>
            <a:picLocks noChangeAspect="1"/>
          </p:cNvPicPr>
          <p:nvPr/>
        </p:nvPicPr>
        <p:blipFill>
          <a:blip r:embed="rId4"/>
          <a:stretch>
            <a:fillRect/>
          </a:stretch>
        </p:blipFill>
        <p:spPr>
          <a:xfrm>
            <a:off x="571500" y="4238625"/>
            <a:ext cx="2430660" cy="1159966"/>
          </a:xfrm>
          <a:prstGeom prst="rect">
            <a:avLst/>
          </a:prstGeom>
        </p:spPr>
      </p:pic>
      <p:pic>
        <p:nvPicPr>
          <p:cNvPr id="5" name="Picture 4" descr="image.png"/>
          <p:cNvPicPr>
            <a:picLocks noChangeAspect="1"/>
          </p:cNvPicPr>
          <p:nvPr/>
        </p:nvPicPr>
        <p:blipFill>
          <a:blip r:embed="rId5"/>
          <a:stretch>
            <a:fillRect/>
          </a:stretch>
        </p:blipFill>
        <p:spPr>
          <a:xfrm>
            <a:off x="3444180" y="2621458"/>
            <a:ext cx="2430660" cy="1159966"/>
          </a:xfrm>
          <a:prstGeom prst="rect">
            <a:avLst/>
          </a:prstGeom>
        </p:spPr>
      </p:pic>
      <p:pic>
        <p:nvPicPr>
          <p:cNvPr id="6" name="Picture 5" descr="image.png"/>
          <p:cNvPicPr>
            <a:picLocks noChangeAspect="1"/>
          </p:cNvPicPr>
          <p:nvPr/>
        </p:nvPicPr>
        <p:blipFill>
          <a:blip r:embed="rId6"/>
          <a:stretch>
            <a:fillRect/>
          </a:stretch>
        </p:blipFill>
        <p:spPr>
          <a:xfrm>
            <a:off x="6316860" y="4238625"/>
            <a:ext cx="2430660" cy="1159966"/>
          </a:xfrm>
          <a:prstGeom prst="rect">
            <a:avLst/>
          </a:prstGeom>
        </p:spPr>
      </p:pic>
      <p:pic>
        <p:nvPicPr>
          <p:cNvPr id="7" name="Picture 6" descr="image.png"/>
          <p:cNvPicPr>
            <a:picLocks noChangeAspect="1"/>
          </p:cNvPicPr>
          <p:nvPr/>
        </p:nvPicPr>
        <p:blipFill>
          <a:blip r:embed="rId5"/>
          <a:stretch>
            <a:fillRect/>
          </a:stretch>
        </p:blipFill>
        <p:spPr>
          <a:xfrm>
            <a:off x="9189541" y="2621458"/>
            <a:ext cx="2430660" cy="1159966"/>
          </a:xfrm>
          <a:prstGeom prst="rect">
            <a:avLst/>
          </a:prstGeom>
        </p:spPr>
      </p:pic>
      <p:sp>
        <p:nvSpPr>
          <p:cNvPr id="8" name="TextBox 7"/>
          <p:cNvSpPr txBox="1"/>
          <p:nvPr/>
        </p:nvSpPr>
        <p:spPr>
          <a:xfrm>
            <a:off x="680754" y="4400550"/>
            <a:ext cx="2212151" cy="219075"/>
          </a:xfrm>
          <a:prstGeom prst="rect">
            <a:avLst/>
          </a:prstGeom>
          <a:noFill/>
        </p:spPr>
        <p:txBody>
          <a:bodyPr wrap="square" lIns="0" tIns="0" rIns="0" bIns="0" anchor="t">
            <a:spAutoFit/>
          </a:bodyPr>
          <a:lstStyle/>
          <a:p>
            <a:pPr algn="ctr"/>
            <a:r>
              <a:rPr sz="1350" b="1" i="0" u="none">
                <a:solidFill>
                  <a:srgbClr val="0284C7"/>
                </a:solidFill>
                <a:latin typeface="Plus Jakarta Sans"/>
              </a:rPr>
              <a:t>1. Nộp Bài (Submission)</a:t>
            </a:r>
          </a:p>
        </p:txBody>
      </p:sp>
      <p:sp>
        <p:nvSpPr>
          <p:cNvPr id="9" name="TextBox 8"/>
          <p:cNvSpPr txBox="1"/>
          <p:nvPr/>
        </p:nvSpPr>
        <p:spPr>
          <a:xfrm>
            <a:off x="733425" y="4676775"/>
            <a:ext cx="2106810" cy="559891"/>
          </a:xfrm>
          <a:prstGeom prst="rect">
            <a:avLst/>
          </a:prstGeom>
          <a:noFill/>
        </p:spPr>
        <p:txBody>
          <a:bodyPr wrap="square" lIns="0" tIns="0" rIns="0" bIns="0" anchor="t">
            <a:spAutoFit/>
          </a:bodyPr>
          <a:lstStyle/>
          <a:p>
            <a:pPr algn="ctr">
              <a:lnSpc>
                <a:spcPts val="1470"/>
              </a:lnSpc>
            </a:pPr>
            <a:r>
              <a:rPr sz="1050" b="0" i="0" u="none">
                <a:solidFill>
                  <a:srgbClr val="475569"/>
                </a:solidFill>
                <a:latin typeface="Plus Jakarta Sans"/>
              </a:rPr>
              <a:t>Chuẩn bị Cover Letter, Manuscript, Figures và gửi qua hệ thống của Tạp chí.</a:t>
            </a:r>
          </a:p>
        </p:txBody>
      </p:sp>
      <p:sp>
        <p:nvSpPr>
          <p:cNvPr id="10" name="TextBox 9"/>
          <p:cNvSpPr txBox="1"/>
          <p:nvPr/>
        </p:nvSpPr>
        <p:spPr>
          <a:xfrm>
            <a:off x="3553435" y="2783383"/>
            <a:ext cx="2212151" cy="219075"/>
          </a:xfrm>
          <a:prstGeom prst="rect">
            <a:avLst/>
          </a:prstGeom>
          <a:noFill/>
        </p:spPr>
        <p:txBody>
          <a:bodyPr wrap="square" lIns="0" tIns="0" rIns="0" bIns="0" anchor="t">
            <a:spAutoFit/>
          </a:bodyPr>
          <a:lstStyle/>
          <a:p>
            <a:pPr algn="ctr"/>
            <a:r>
              <a:rPr sz="1350" b="1" i="0" u="none">
                <a:solidFill>
                  <a:srgbClr val="0284C7"/>
                </a:solidFill>
                <a:latin typeface="Plus Jakarta Sans"/>
              </a:rPr>
              <a:t>2. Sơ Duyệt (Desk Check)</a:t>
            </a:r>
          </a:p>
        </p:txBody>
      </p:sp>
      <p:sp>
        <p:nvSpPr>
          <p:cNvPr id="11" name="TextBox 10"/>
          <p:cNvSpPr txBox="1"/>
          <p:nvPr/>
        </p:nvSpPr>
        <p:spPr>
          <a:xfrm>
            <a:off x="3606105" y="3059608"/>
            <a:ext cx="2106810" cy="559891"/>
          </a:xfrm>
          <a:prstGeom prst="rect">
            <a:avLst/>
          </a:prstGeom>
          <a:noFill/>
        </p:spPr>
        <p:txBody>
          <a:bodyPr wrap="square" lIns="0" tIns="0" rIns="0" bIns="0" anchor="t">
            <a:spAutoFit/>
          </a:bodyPr>
          <a:lstStyle/>
          <a:p>
            <a:pPr algn="ctr">
              <a:lnSpc>
                <a:spcPts val="1470"/>
              </a:lnSpc>
            </a:pPr>
            <a:r>
              <a:rPr sz="1050" b="0" i="0" u="none">
                <a:solidFill>
                  <a:srgbClr val="475569"/>
                </a:solidFill>
                <a:latin typeface="Plus Jakarta Sans"/>
              </a:rPr>
              <a:t>Tổng biên tập (Editor) kiểm tra Scope, định dạng và kiểm tra đạo văn (Turnitin).</a:t>
            </a:r>
          </a:p>
        </p:txBody>
      </p:sp>
      <p:sp>
        <p:nvSpPr>
          <p:cNvPr id="12" name="TextBox 11"/>
          <p:cNvSpPr txBox="1"/>
          <p:nvPr/>
        </p:nvSpPr>
        <p:spPr>
          <a:xfrm>
            <a:off x="6426115" y="4400550"/>
            <a:ext cx="2212151" cy="219075"/>
          </a:xfrm>
          <a:prstGeom prst="rect">
            <a:avLst/>
          </a:prstGeom>
          <a:noFill/>
        </p:spPr>
        <p:txBody>
          <a:bodyPr wrap="square" lIns="0" tIns="0" rIns="0" bIns="0" anchor="t">
            <a:spAutoFit/>
          </a:bodyPr>
          <a:lstStyle/>
          <a:p>
            <a:pPr algn="ctr"/>
            <a:r>
              <a:rPr sz="1350" b="1" i="0" u="none">
                <a:solidFill>
                  <a:srgbClr val="0284C7"/>
                </a:solidFill>
                <a:latin typeface="Plus Jakarta Sans"/>
              </a:rPr>
              <a:t>3. Phản Biện (Review)</a:t>
            </a:r>
          </a:p>
        </p:txBody>
      </p:sp>
      <p:sp>
        <p:nvSpPr>
          <p:cNvPr id="13" name="TextBox 12"/>
          <p:cNvSpPr txBox="1"/>
          <p:nvPr/>
        </p:nvSpPr>
        <p:spPr>
          <a:xfrm>
            <a:off x="6478785" y="4676775"/>
            <a:ext cx="2106810" cy="559891"/>
          </a:xfrm>
          <a:prstGeom prst="rect">
            <a:avLst/>
          </a:prstGeom>
          <a:noFill/>
        </p:spPr>
        <p:txBody>
          <a:bodyPr wrap="square" lIns="0" tIns="0" rIns="0" bIns="0" anchor="t">
            <a:spAutoFit/>
          </a:bodyPr>
          <a:lstStyle/>
          <a:p>
            <a:pPr algn="ctr">
              <a:lnSpc>
                <a:spcPts val="1470"/>
              </a:lnSpc>
            </a:pPr>
            <a:r>
              <a:rPr sz="1050" b="0" i="0" u="none">
                <a:solidFill>
                  <a:srgbClr val="475569"/>
                </a:solidFill>
                <a:latin typeface="Plus Jakarta Sans"/>
              </a:rPr>
              <a:t>2-4 Referees độc lập đánh giá chi tiết về phương pháp, tính mới và kết quả.</a:t>
            </a:r>
          </a:p>
        </p:txBody>
      </p:sp>
      <p:sp>
        <p:nvSpPr>
          <p:cNvPr id="14" name="TextBox 13"/>
          <p:cNvSpPr txBox="1"/>
          <p:nvPr/>
        </p:nvSpPr>
        <p:spPr>
          <a:xfrm>
            <a:off x="9298796" y="2783383"/>
            <a:ext cx="2212151" cy="219075"/>
          </a:xfrm>
          <a:prstGeom prst="rect">
            <a:avLst/>
          </a:prstGeom>
          <a:noFill/>
        </p:spPr>
        <p:txBody>
          <a:bodyPr wrap="square" lIns="0" tIns="0" rIns="0" bIns="0" anchor="t">
            <a:spAutoFit/>
          </a:bodyPr>
          <a:lstStyle/>
          <a:p>
            <a:pPr algn="ctr"/>
            <a:r>
              <a:rPr sz="1350" b="1" i="0" u="none">
                <a:solidFill>
                  <a:srgbClr val="0284C7"/>
                </a:solidFill>
                <a:latin typeface="Plus Jakarta Sans"/>
              </a:rPr>
              <a:t>4. Quyết Định (Decision)</a:t>
            </a:r>
          </a:p>
        </p:txBody>
      </p:sp>
      <p:sp>
        <p:nvSpPr>
          <p:cNvPr id="15" name="TextBox 14"/>
          <p:cNvSpPr txBox="1"/>
          <p:nvPr/>
        </p:nvSpPr>
        <p:spPr>
          <a:xfrm>
            <a:off x="9351466" y="3059608"/>
            <a:ext cx="2106810" cy="559891"/>
          </a:xfrm>
          <a:prstGeom prst="rect">
            <a:avLst/>
          </a:prstGeom>
          <a:noFill/>
        </p:spPr>
        <p:txBody>
          <a:bodyPr wrap="square" lIns="0" tIns="0" rIns="0" bIns="0" anchor="t">
            <a:spAutoFit/>
          </a:bodyPr>
          <a:lstStyle/>
          <a:p>
            <a:pPr algn="ctr">
              <a:lnSpc>
                <a:spcPts val="1470"/>
              </a:lnSpc>
            </a:pPr>
            <a:r>
              <a:rPr sz="1050" b="0" i="0" u="none">
                <a:solidFill>
                  <a:srgbClr val="475569"/>
                </a:solidFill>
                <a:latin typeface="Plus Jakarta Sans"/>
              </a:rPr>
              <a:t>Accept, Major/Minor Revision, hoặc Reject. Sửa bài và viết Response Letter.</a:t>
            </a:r>
          </a:p>
        </p:txBody>
      </p:sp>
      <p:sp>
        <p:nvSpPr>
          <p:cNvPr id="16" name="TextBox 15"/>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Tiến Trình Phản Biện (Peer Review)</a:t>
            </a:r>
          </a:p>
        </p:txBody>
      </p:sp>
      <p:sp>
        <p:nvSpPr>
          <p:cNvPr id="17" name="Rectangle 16"/>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682055" y="3905250"/>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54735" y="3905250"/>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427416" y="3905250"/>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300096" y="3905250"/>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ate Placeholder 21">
            <a:extLst>
              <a:ext uri="{FF2B5EF4-FFF2-40B4-BE49-F238E27FC236}">
                <a16:creationId xmlns:a16="http://schemas.microsoft.com/office/drawing/2014/main" id="{2F7D2432-4032-D80A-8ACD-969814D347CF}"/>
              </a:ext>
            </a:extLst>
          </p:cNvPr>
          <p:cNvSpPr>
            <a:spLocks noGrp="1"/>
          </p:cNvSpPr>
          <p:nvPr>
            <p:ph type="dt" sz="half" idx="10"/>
          </p:nvPr>
        </p:nvSpPr>
        <p:spPr/>
        <p:txBody>
          <a:bodyPr/>
          <a:lstStyle/>
          <a:p>
            <a:r>
              <a:rPr lang="en-US"/>
              <a:t>7/23/2026</a:t>
            </a:r>
          </a:p>
        </p:txBody>
      </p:sp>
      <p:sp>
        <p:nvSpPr>
          <p:cNvPr id="23" name="Footer Placeholder 22">
            <a:extLst>
              <a:ext uri="{FF2B5EF4-FFF2-40B4-BE49-F238E27FC236}">
                <a16:creationId xmlns:a16="http://schemas.microsoft.com/office/drawing/2014/main" id="{94546960-61FA-C258-FD79-8A8DA853562A}"/>
              </a:ext>
            </a:extLst>
          </p:cNvPr>
          <p:cNvSpPr>
            <a:spLocks noGrp="1"/>
          </p:cNvSpPr>
          <p:nvPr>
            <p:ph type="ftr" sz="quarter" idx="11"/>
          </p:nvPr>
        </p:nvSpPr>
        <p:spPr/>
        <p:txBody>
          <a:bodyPr/>
          <a:lstStyle/>
          <a:p>
            <a:r>
              <a:rPr lang="en-US"/>
              <a:t>Summer School for Researchers, 2026</a:t>
            </a:r>
          </a:p>
        </p:txBody>
      </p:sp>
      <p:sp>
        <p:nvSpPr>
          <p:cNvPr id="24" name="Slide Number Placeholder 23">
            <a:extLst>
              <a:ext uri="{FF2B5EF4-FFF2-40B4-BE49-F238E27FC236}">
                <a16:creationId xmlns:a16="http://schemas.microsoft.com/office/drawing/2014/main" id="{67883A80-E31A-A5DF-1145-F56A9A5D9E37}"/>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095500"/>
            <a:ext cx="3505200" cy="2190750"/>
          </a:xfrm>
          <a:prstGeom prst="rect">
            <a:avLst/>
          </a:prstGeom>
        </p:spPr>
      </p:pic>
      <p:pic>
        <p:nvPicPr>
          <p:cNvPr id="4" name="Picture 3" descr="image.png"/>
          <p:cNvPicPr>
            <a:picLocks noChangeAspect="1"/>
          </p:cNvPicPr>
          <p:nvPr/>
        </p:nvPicPr>
        <p:blipFill>
          <a:blip r:embed="rId4"/>
          <a:stretch>
            <a:fillRect/>
          </a:stretch>
        </p:blipFill>
        <p:spPr>
          <a:xfrm>
            <a:off x="4343400" y="2095500"/>
            <a:ext cx="3505200" cy="2190750"/>
          </a:xfrm>
          <a:prstGeom prst="rect">
            <a:avLst/>
          </a:prstGeom>
        </p:spPr>
      </p:pic>
      <p:pic>
        <p:nvPicPr>
          <p:cNvPr id="5" name="Picture 4" descr="image.png"/>
          <p:cNvPicPr>
            <a:picLocks noChangeAspect="1"/>
          </p:cNvPicPr>
          <p:nvPr/>
        </p:nvPicPr>
        <p:blipFill>
          <a:blip r:embed="rId5"/>
          <a:stretch>
            <a:fillRect/>
          </a:stretch>
        </p:blipFill>
        <p:spPr>
          <a:xfrm>
            <a:off x="8115300" y="2095500"/>
            <a:ext cx="3505200" cy="2190750"/>
          </a:xfrm>
          <a:prstGeom prst="rect">
            <a:avLst/>
          </a:prstGeom>
        </p:spPr>
      </p:pic>
      <p:sp>
        <p:nvSpPr>
          <p:cNvPr id="6" name="TextBox 5"/>
          <p:cNvSpPr txBox="1"/>
          <p:nvPr/>
        </p:nvSpPr>
        <p:spPr>
          <a:xfrm>
            <a:off x="571500" y="4438650"/>
            <a:ext cx="3680460" cy="219075"/>
          </a:xfrm>
          <a:prstGeom prst="rect">
            <a:avLst/>
          </a:prstGeom>
          <a:noFill/>
        </p:spPr>
        <p:txBody>
          <a:bodyPr wrap="square" lIns="0" tIns="0" rIns="0" bIns="0" anchor="t">
            <a:spAutoFit/>
          </a:bodyPr>
          <a:lstStyle/>
          <a:p>
            <a:pPr algn="l"/>
            <a:r>
              <a:rPr sz="1350" b="1" i="0" u="none">
                <a:solidFill>
                  <a:srgbClr val="0F172A"/>
                </a:solidFill>
                <a:latin typeface="Plus Jakarta Sans"/>
              </a:rPr>
              <a:t>Thái Độ Chuyên Nghiệp</a:t>
            </a:r>
          </a:p>
        </p:txBody>
      </p:sp>
      <p:sp>
        <p:nvSpPr>
          <p:cNvPr id="7" name="TextBox 6"/>
          <p:cNvSpPr txBox="1"/>
          <p:nvPr/>
        </p:nvSpPr>
        <p:spPr>
          <a:xfrm>
            <a:off x="571500" y="4714875"/>
            <a:ext cx="3505200" cy="621506"/>
          </a:xfrm>
          <a:prstGeom prst="rect">
            <a:avLst/>
          </a:prstGeom>
          <a:noFill/>
        </p:spPr>
        <p:txBody>
          <a:bodyPr wrap="square" lIns="0" tIns="0" rIns="0" bIns="0" anchor="t">
            <a:spAutoFit/>
          </a:bodyPr>
          <a:lstStyle/>
          <a:p>
            <a:pPr algn="l">
              <a:lnSpc>
                <a:spcPts val="1631"/>
              </a:lnSpc>
            </a:pPr>
            <a:r>
              <a:rPr sz="1125" b="0" i="0" u="none">
                <a:solidFill>
                  <a:srgbClr val="475569"/>
                </a:solidFill>
                <a:latin typeface="Plus Jakarta Sans"/>
              </a:rPr>
              <a:t>Xem nhận xét của Referees là cơ hội để nâng cao chất lượng bài báo. Luôn giữ thái độ tôn trọng, lịch sự trong thư phản hồi (Response Letter).</a:t>
            </a:r>
          </a:p>
        </p:txBody>
      </p:sp>
      <p:sp>
        <p:nvSpPr>
          <p:cNvPr id="8" name="TextBox 7"/>
          <p:cNvSpPr txBox="1"/>
          <p:nvPr/>
        </p:nvSpPr>
        <p:spPr>
          <a:xfrm>
            <a:off x="4343400" y="4438650"/>
            <a:ext cx="3680460" cy="219075"/>
          </a:xfrm>
          <a:prstGeom prst="rect">
            <a:avLst/>
          </a:prstGeom>
          <a:noFill/>
        </p:spPr>
        <p:txBody>
          <a:bodyPr wrap="square" lIns="0" tIns="0" rIns="0" bIns="0" anchor="t">
            <a:spAutoFit/>
          </a:bodyPr>
          <a:lstStyle/>
          <a:p>
            <a:pPr algn="l"/>
            <a:r>
              <a:rPr sz="1350" b="1" i="0" u="none">
                <a:solidFill>
                  <a:srgbClr val="0F172A"/>
                </a:solidFill>
                <a:latin typeface="Plus Jakarta Sans"/>
              </a:rPr>
              <a:t>Trả Lời Điểm-Qua-Điểm</a:t>
            </a:r>
          </a:p>
        </p:txBody>
      </p:sp>
      <p:sp>
        <p:nvSpPr>
          <p:cNvPr id="9" name="TextBox 8"/>
          <p:cNvSpPr txBox="1"/>
          <p:nvPr/>
        </p:nvSpPr>
        <p:spPr>
          <a:xfrm>
            <a:off x="4343400" y="4714875"/>
            <a:ext cx="3505200" cy="828675"/>
          </a:xfrm>
          <a:prstGeom prst="rect">
            <a:avLst/>
          </a:prstGeom>
          <a:noFill/>
        </p:spPr>
        <p:txBody>
          <a:bodyPr wrap="square" lIns="0" tIns="0" rIns="0" bIns="0" anchor="t">
            <a:spAutoFit/>
          </a:bodyPr>
          <a:lstStyle/>
          <a:p>
            <a:pPr algn="l">
              <a:lnSpc>
                <a:spcPts val="1631"/>
              </a:lnSpc>
            </a:pPr>
            <a:r>
              <a:rPr sz="1125" b="0" i="0" u="none">
                <a:solidFill>
                  <a:srgbClr val="475569"/>
                </a:solidFill>
                <a:latin typeface="Plus Jakarta Sans"/>
              </a:rPr>
              <a:t>Tạo bảng "Point-by-Point Response". Trích dẫn từng câu hỏi của phản biện và viết rõ câu trả lời cùng vị trí sửa đổi trong bản thảo (trang, dòng, màu chữ).</a:t>
            </a:r>
          </a:p>
        </p:txBody>
      </p:sp>
      <p:sp>
        <p:nvSpPr>
          <p:cNvPr id="10" name="TextBox 9"/>
          <p:cNvSpPr txBox="1"/>
          <p:nvPr/>
        </p:nvSpPr>
        <p:spPr>
          <a:xfrm>
            <a:off x="8115300" y="4438650"/>
            <a:ext cx="3680460" cy="219075"/>
          </a:xfrm>
          <a:prstGeom prst="rect">
            <a:avLst/>
          </a:prstGeom>
          <a:noFill/>
        </p:spPr>
        <p:txBody>
          <a:bodyPr wrap="square" lIns="0" tIns="0" rIns="0" bIns="0" anchor="t">
            <a:spAutoFit/>
          </a:bodyPr>
          <a:lstStyle/>
          <a:p>
            <a:pPr algn="l"/>
            <a:r>
              <a:rPr sz="1350" b="1" i="0" u="none">
                <a:solidFill>
                  <a:srgbClr val="0F172A"/>
                </a:solidFill>
                <a:latin typeface="Plus Jakarta Sans"/>
              </a:rPr>
              <a:t>Ứng Xử Khi Bị Từ Chối</a:t>
            </a:r>
          </a:p>
        </p:txBody>
      </p:sp>
      <p:sp>
        <p:nvSpPr>
          <p:cNvPr id="11" name="TextBox 10"/>
          <p:cNvSpPr txBox="1"/>
          <p:nvPr/>
        </p:nvSpPr>
        <p:spPr>
          <a:xfrm>
            <a:off x="8115300" y="4714875"/>
            <a:ext cx="3505200" cy="828675"/>
          </a:xfrm>
          <a:prstGeom prst="rect">
            <a:avLst/>
          </a:prstGeom>
          <a:noFill/>
        </p:spPr>
        <p:txBody>
          <a:bodyPr wrap="square" lIns="0" tIns="0" rIns="0" bIns="0" anchor="t">
            <a:spAutoFit/>
          </a:bodyPr>
          <a:lstStyle/>
          <a:p>
            <a:pPr algn="l">
              <a:lnSpc>
                <a:spcPts val="1631"/>
              </a:lnSpc>
            </a:pPr>
            <a:r>
              <a:rPr sz="1125" b="0" i="0" u="none">
                <a:solidFill>
                  <a:srgbClr val="475569"/>
                </a:solidFill>
                <a:latin typeface="Plus Jakarta Sans"/>
              </a:rPr>
              <a:t>Bị Reject là chuyện bình thường trong nghiên cứu. Phân tích kỹ lý do từ chối, bổ sung thêm thí nghiệm/dữ liệu và chuyển nộp cho tạp chí phù hợp khác.</a:t>
            </a:r>
          </a:p>
        </p:txBody>
      </p:sp>
      <p:pic>
        <p:nvPicPr>
          <p:cNvPr id="12" name="Picture 11" descr="image.png"/>
          <p:cNvPicPr>
            <a:picLocks noChangeAspect="1"/>
          </p:cNvPicPr>
          <p:nvPr/>
        </p:nvPicPr>
        <p:blipFill>
          <a:blip r:embed="rId6"/>
          <a:stretch>
            <a:fillRect/>
          </a:stretch>
        </p:blipFill>
        <p:spPr>
          <a:xfrm>
            <a:off x="581025" y="2105025"/>
            <a:ext cx="3486150" cy="2171700"/>
          </a:xfrm>
          <a:prstGeom prst="rect">
            <a:avLst/>
          </a:prstGeom>
        </p:spPr>
      </p:pic>
      <p:pic>
        <p:nvPicPr>
          <p:cNvPr id="13" name="Picture 12" descr="image.png"/>
          <p:cNvPicPr>
            <a:picLocks noChangeAspect="1"/>
          </p:cNvPicPr>
          <p:nvPr/>
        </p:nvPicPr>
        <p:blipFill>
          <a:blip r:embed="rId7"/>
          <a:stretch>
            <a:fillRect/>
          </a:stretch>
        </p:blipFill>
        <p:spPr>
          <a:xfrm>
            <a:off x="4352925" y="2105025"/>
            <a:ext cx="3486150" cy="2171700"/>
          </a:xfrm>
          <a:prstGeom prst="rect">
            <a:avLst/>
          </a:prstGeom>
        </p:spPr>
      </p:pic>
      <p:pic>
        <p:nvPicPr>
          <p:cNvPr id="14" name="Picture 13" descr="image.png"/>
          <p:cNvPicPr>
            <a:picLocks noChangeAspect="1"/>
          </p:cNvPicPr>
          <p:nvPr/>
        </p:nvPicPr>
        <p:blipFill>
          <a:blip r:embed="rId8"/>
          <a:stretch>
            <a:fillRect/>
          </a:stretch>
        </p:blipFill>
        <p:spPr>
          <a:xfrm>
            <a:off x="8124825" y="2105025"/>
            <a:ext cx="3486150" cy="2171700"/>
          </a:xfrm>
          <a:prstGeom prst="rect">
            <a:avLst/>
          </a:prstGeom>
        </p:spPr>
      </p:pic>
      <p:sp>
        <p:nvSpPr>
          <p:cNvPr id="15" name="TextBox 14"/>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Xử Lý Nhận Xét Của Phản Biện</a:t>
            </a:r>
          </a:p>
        </p:txBody>
      </p:sp>
      <p:sp>
        <p:nvSpPr>
          <p:cNvPr id="16" name="Rectangle 15"/>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ate Placeholder 16">
            <a:extLst>
              <a:ext uri="{FF2B5EF4-FFF2-40B4-BE49-F238E27FC236}">
                <a16:creationId xmlns:a16="http://schemas.microsoft.com/office/drawing/2014/main" id="{AFEC1008-9380-D668-5120-8CDCB4D4DF1D}"/>
              </a:ext>
            </a:extLst>
          </p:cNvPr>
          <p:cNvSpPr>
            <a:spLocks noGrp="1"/>
          </p:cNvSpPr>
          <p:nvPr>
            <p:ph type="dt" sz="half" idx="10"/>
          </p:nvPr>
        </p:nvSpPr>
        <p:spPr/>
        <p:txBody>
          <a:bodyPr/>
          <a:lstStyle/>
          <a:p>
            <a:r>
              <a:rPr lang="en-US"/>
              <a:t>7/23/2026</a:t>
            </a:r>
          </a:p>
        </p:txBody>
      </p:sp>
      <p:sp>
        <p:nvSpPr>
          <p:cNvPr id="18" name="Footer Placeholder 17">
            <a:extLst>
              <a:ext uri="{FF2B5EF4-FFF2-40B4-BE49-F238E27FC236}">
                <a16:creationId xmlns:a16="http://schemas.microsoft.com/office/drawing/2014/main" id="{5625D65E-DFD5-932D-045E-3CA348D866B2}"/>
              </a:ext>
            </a:extLst>
          </p:cNvPr>
          <p:cNvSpPr>
            <a:spLocks noGrp="1"/>
          </p:cNvSpPr>
          <p:nvPr>
            <p:ph type="ftr" sz="quarter" idx="11"/>
          </p:nvPr>
        </p:nvSpPr>
        <p:spPr/>
        <p:txBody>
          <a:bodyPr/>
          <a:lstStyle/>
          <a:p>
            <a:r>
              <a:rPr lang="en-US"/>
              <a:t>Summer School for Researchers, 2026</a:t>
            </a:r>
          </a:p>
        </p:txBody>
      </p:sp>
      <p:sp>
        <p:nvSpPr>
          <p:cNvPr id="19" name="Slide Number Placeholder 18">
            <a:extLst>
              <a:ext uri="{FF2B5EF4-FFF2-40B4-BE49-F238E27FC236}">
                <a16:creationId xmlns:a16="http://schemas.microsoft.com/office/drawing/2014/main" id="{2C2620D2-ADF8-2FED-30AD-000C49AFEF53}"/>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781175" y="2871787"/>
            <a:ext cx="8629650" cy="1371600"/>
          </a:xfrm>
          <a:prstGeom prst="rect">
            <a:avLst/>
          </a:prstGeom>
          <a:noFill/>
        </p:spPr>
        <p:txBody>
          <a:bodyPr wrap="square" lIns="0" tIns="0" rIns="0" bIns="0" anchor="t">
            <a:spAutoFit/>
          </a:bodyPr>
          <a:lstStyle/>
          <a:p>
            <a:pPr algn="ctr">
              <a:lnSpc>
                <a:spcPts val="3600"/>
              </a:lnSpc>
            </a:pPr>
            <a:r>
              <a:rPr sz="2400" b="0" i="0" u="none">
                <a:solidFill>
                  <a:srgbClr val="0F172A"/>
                </a:solidFill>
                <a:latin typeface="Lora Medium"/>
              </a:rPr>
              <a:t>"Trong nghiên cứu khoa học, sự trung thực và liêm chính là tài sản vô giá nhất. Một bài báo kém chất lượng có thể sửa, nhưng sự mất uy tín khoa học thì không thể khôi phục."</a:t>
            </a:r>
          </a:p>
        </p:txBody>
      </p:sp>
      <p:sp>
        <p:nvSpPr>
          <p:cNvPr id="4" name="TextBox 3"/>
          <p:cNvSpPr txBox="1"/>
          <p:nvPr/>
        </p:nvSpPr>
        <p:spPr>
          <a:xfrm>
            <a:off x="3462337" y="4529137"/>
            <a:ext cx="5267325" cy="238125"/>
          </a:xfrm>
          <a:prstGeom prst="rect">
            <a:avLst/>
          </a:prstGeom>
          <a:noFill/>
        </p:spPr>
        <p:txBody>
          <a:bodyPr wrap="square" lIns="0" tIns="0" rIns="0" bIns="0" anchor="t">
            <a:spAutoFit/>
          </a:bodyPr>
          <a:lstStyle/>
          <a:p>
            <a:pPr algn="ctr"/>
            <a:r>
              <a:rPr sz="1500" b="1" i="0" u="none">
                <a:solidFill>
                  <a:srgbClr val="0284C7"/>
                </a:solidFill>
                <a:latin typeface="Plus Jakarta Sans"/>
              </a:rPr>
              <a:t>— Nguyên Tắc Liêm Chính Khoa Học (Academic Integrity)</a:t>
            </a:r>
          </a:p>
        </p:txBody>
      </p:sp>
      <p:sp>
        <p:nvSpPr>
          <p:cNvPr id="5" name="TextBox 4"/>
          <p:cNvSpPr txBox="1"/>
          <p:nvPr/>
        </p:nvSpPr>
        <p:spPr>
          <a:xfrm>
            <a:off x="1209675" y="3157537"/>
            <a:ext cx="390525" cy="1219200"/>
          </a:xfrm>
          <a:prstGeom prst="rect">
            <a:avLst/>
          </a:prstGeom>
          <a:noFill/>
        </p:spPr>
        <p:txBody>
          <a:bodyPr wrap="square" lIns="0" tIns="0" rIns="0" bIns="0" anchor="t">
            <a:spAutoFit/>
          </a:bodyPr>
          <a:lstStyle/>
          <a:p>
            <a:pPr algn="l">
              <a:lnSpc>
                <a:spcPts val="0"/>
              </a:lnSpc>
            </a:pPr>
            <a:r>
              <a:rPr sz="7500" b="0" i="0" u="none">
                <a:solidFill>
                  <a:srgbClr val="38BDF8"/>
                </a:solidFill>
                <a:latin typeface="Lora Medium"/>
              </a:rPr>
              <a:t>“</a:t>
            </a:r>
          </a:p>
        </p:txBody>
      </p:sp>
      <p:sp>
        <p:nvSpPr>
          <p:cNvPr id="6" name="TextBox 5"/>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Đạo Đức &amp; Liêm Chính Khoa Học</a:t>
            </a:r>
          </a:p>
        </p:txBody>
      </p:sp>
      <p:sp>
        <p:nvSpPr>
          <p:cNvPr id="7" name="Rectangle 6"/>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Date Placeholder 7">
            <a:extLst>
              <a:ext uri="{FF2B5EF4-FFF2-40B4-BE49-F238E27FC236}">
                <a16:creationId xmlns:a16="http://schemas.microsoft.com/office/drawing/2014/main" id="{EAE12F0C-1296-3E9A-048F-6D80426EEC44}"/>
              </a:ext>
            </a:extLst>
          </p:cNvPr>
          <p:cNvSpPr>
            <a:spLocks noGrp="1"/>
          </p:cNvSpPr>
          <p:nvPr>
            <p:ph type="dt" sz="half" idx="10"/>
          </p:nvPr>
        </p:nvSpPr>
        <p:spPr/>
        <p:txBody>
          <a:bodyPr/>
          <a:lstStyle/>
          <a:p>
            <a:r>
              <a:rPr lang="en-US"/>
              <a:t>7/23/2026</a:t>
            </a:r>
          </a:p>
        </p:txBody>
      </p:sp>
      <p:sp>
        <p:nvSpPr>
          <p:cNvPr id="9" name="Footer Placeholder 8">
            <a:extLst>
              <a:ext uri="{FF2B5EF4-FFF2-40B4-BE49-F238E27FC236}">
                <a16:creationId xmlns:a16="http://schemas.microsoft.com/office/drawing/2014/main" id="{2FD33193-7E9D-5F8E-7347-748FB40C71FF}"/>
              </a:ext>
            </a:extLst>
          </p:cNvPr>
          <p:cNvSpPr>
            <a:spLocks noGrp="1"/>
          </p:cNvSpPr>
          <p:nvPr>
            <p:ph type="ftr" sz="quarter" idx="11"/>
          </p:nvPr>
        </p:nvSpPr>
        <p:spPr/>
        <p:txBody>
          <a:bodyPr/>
          <a:lstStyle/>
          <a:p>
            <a:r>
              <a:rPr lang="en-US"/>
              <a:t>Summer School for Researchers, 2026</a:t>
            </a:r>
          </a:p>
        </p:txBody>
      </p:sp>
      <p:sp>
        <p:nvSpPr>
          <p:cNvPr id="10" name="Slide Number Placeholder 9">
            <a:extLst>
              <a:ext uri="{FF2B5EF4-FFF2-40B4-BE49-F238E27FC236}">
                <a16:creationId xmlns:a16="http://schemas.microsoft.com/office/drawing/2014/main" id="{BCCC81DE-4E88-AF27-1AFD-880FFDA33603}"/>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476250"/>
            <a:ext cx="11601450" cy="762000"/>
          </a:xfrm>
          <a:prstGeom prst="rect">
            <a:avLst/>
          </a:prstGeom>
          <a:noFill/>
        </p:spPr>
        <p:txBody>
          <a:bodyPr wrap="square" lIns="0" tIns="0" rIns="0" bIns="0" anchor="t">
            <a:spAutoFit/>
          </a:bodyPr>
          <a:lstStyle/>
          <a:p>
            <a:pPr algn="ctr"/>
            <a:r>
              <a:rPr sz="4800" b="0" i="0" u="none">
                <a:solidFill>
                  <a:srgbClr val="0F172A"/>
                </a:solidFill>
                <a:latin typeface="Plus Jakarta Sans ExtraBold"/>
              </a:rPr>
              <a:t>Thảo Luận &amp; Hỏi Đáp</a:t>
            </a:r>
          </a:p>
        </p:txBody>
      </p:sp>
      <p:sp>
        <p:nvSpPr>
          <p:cNvPr id="4" name="TextBox 3"/>
          <p:cNvSpPr txBox="1"/>
          <p:nvPr/>
        </p:nvSpPr>
        <p:spPr>
          <a:xfrm>
            <a:off x="571500" y="1390650"/>
            <a:ext cx="11049000" cy="324742"/>
          </a:xfrm>
          <a:prstGeom prst="rect">
            <a:avLst/>
          </a:prstGeom>
          <a:noFill/>
        </p:spPr>
        <p:txBody>
          <a:bodyPr wrap="square" lIns="0" tIns="0" rIns="0" bIns="0" anchor="t">
            <a:spAutoFit/>
          </a:bodyPr>
          <a:lstStyle/>
          <a:p>
            <a:pPr algn="ctr">
              <a:lnSpc>
                <a:spcPts val="2557"/>
              </a:lnSpc>
            </a:pPr>
            <a:r>
              <a:rPr sz="1650" b="0" i="0" u="none">
                <a:solidFill>
                  <a:srgbClr val="64748B"/>
                </a:solidFill>
                <a:latin typeface="Plus Jakarta Sans"/>
              </a:rPr>
              <a:t>Chúc bạn thành công trên con đường nghiên cứu và xuất bản khoa học!</a:t>
            </a:r>
          </a:p>
        </p:txBody>
      </p:sp>
      <p:pic>
        <p:nvPicPr>
          <p:cNvPr id="5" name="Picture 4" descr="image.png"/>
          <p:cNvPicPr>
            <a:picLocks noChangeAspect="1"/>
          </p:cNvPicPr>
          <p:nvPr/>
        </p:nvPicPr>
        <p:blipFill>
          <a:blip r:embed="rId3"/>
          <a:stretch>
            <a:fillRect/>
          </a:stretch>
        </p:blipFill>
        <p:spPr>
          <a:xfrm>
            <a:off x="3190875" y="2286892"/>
            <a:ext cx="190500" cy="190500"/>
          </a:xfrm>
          <a:prstGeom prst="rect">
            <a:avLst/>
          </a:prstGeom>
        </p:spPr>
      </p:pic>
      <p:pic>
        <p:nvPicPr>
          <p:cNvPr id="6" name="Picture 5" descr="image.png"/>
          <p:cNvPicPr>
            <a:picLocks noChangeAspect="1"/>
          </p:cNvPicPr>
          <p:nvPr/>
        </p:nvPicPr>
        <p:blipFill>
          <a:blip r:embed="rId4"/>
          <a:stretch>
            <a:fillRect/>
          </a:stretch>
        </p:blipFill>
        <p:spPr>
          <a:xfrm>
            <a:off x="6629400" y="2286892"/>
            <a:ext cx="190500" cy="190500"/>
          </a:xfrm>
          <a:prstGeom prst="rect">
            <a:avLst/>
          </a:prstGeom>
        </p:spPr>
      </p:pic>
      <p:sp>
        <p:nvSpPr>
          <p:cNvPr id="7" name="Date Placeholder 6">
            <a:extLst>
              <a:ext uri="{FF2B5EF4-FFF2-40B4-BE49-F238E27FC236}">
                <a16:creationId xmlns:a16="http://schemas.microsoft.com/office/drawing/2014/main" id="{70AD082A-2D52-2790-177E-11D8F8879CBB}"/>
              </a:ext>
            </a:extLst>
          </p:cNvPr>
          <p:cNvSpPr>
            <a:spLocks noGrp="1"/>
          </p:cNvSpPr>
          <p:nvPr>
            <p:ph type="dt" sz="half" idx="10"/>
          </p:nvPr>
        </p:nvSpPr>
        <p:spPr/>
        <p:txBody>
          <a:bodyPr/>
          <a:lstStyle/>
          <a:p>
            <a:r>
              <a:rPr lang="en-US"/>
              <a:t>7/23/2026</a:t>
            </a:r>
          </a:p>
        </p:txBody>
      </p:sp>
      <p:sp>
        <p:nvSpPr>
          <p:cNvPr id="8" name="Footer Placeholder 7">
            <a:extLst>
              <a:ext uri="{FF2B5EF4-FFF2-40B4-BE49-F238E27FC236}">
                <a16:creationId xmlns:a16="http://schemas.microsoft.com/office/drawing/2014/main" id="{379E4F19-D578-EA65-B36A-F0CD08747F81}"/>
              </a:ext>
            </a:extLst>
          </p:cNvPr>
          <p:cNvSpPr>
            <a:spLocks noGrp="1"/>
          </p:cNvSpPr>
          <p:nvPr>
            <p:ph type="ftr" sz="quarter" idx="11"/>
          </p:nvPr>
        </p:nvSpPr>
        <p:spPr/>
        <p:txBody>
          <a:bodyPr/>
          <a:lstStyle/>
          <a:p>
            <a:r>
              <a:rPr lang="en-US"/>
              <a:t>Summer School for Researchers, 2026</a:t>
            </a:r>
          </a:p>
        </p:txBody>
      </p:sp>
      <p:sp>
        <p:nvSpPr>
          <p:cNvPr id="9" name="Slide Number Placeholder 8">
            <a:extLst>
              <a:ext uri="{FF2B5EF4-FFF2-40B4-BE49-F238E27FC236}">
                <a16:creationId xmlns:a16="http://schemas.microsoft.com/office/drawing/2014/main" id="{7FB579EB-74DA-5C76-4AA1-36CCC954D62E}"/>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062037" y="1895475"/>
            <a:ext cx="10067925"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62037" y="2667000"/>
            <a:ext cx="10067925"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62037" y="3438525"/>
            <a:ext cx="10067925"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62037" y="4210050"/>
            <a:ext cx="10067925"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2037" y="2657475"/>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62037" y="2657475"/>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62037" y="3429000"/>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2037" y="3429000"/>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62037" y="4200525"/>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62037" y="4200525"/>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62037" y="4972050"/>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62037" y="4972050"/>
            <a:ext cx="10067925"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1062037" y="2038350"/>
            <a:ext cx="857250" cy="476250"/>
          </a:xfrm>
          <a:prstGeom prst="rect">
            <a:avLst/>
          </a:prstGeom>
        </p:spPr>
      </p:pic>
      <p:sp>
        <p:nvSpPr>
          <p:cNvPr id="16" name="TextBox 15"/>
          <p:cNvSpPr txBox="1"/>
          <p:nvPr/>
        </p:nvSpPr>
        <p:spPr>
          <a:xfrm>
            <a:off x="2157412" y="2038647"/>
            <a:ext cx="8972550" cy="191839"/>
          </a:xfrm>
          <a:prstGeom prst="rect">
            <a:avLst/>
          </a:prstGeom>
          <a:noFill/>
        </p:spPr>
        <p:txBody>
          <a:bodyPr wrap="square" lIns="0" tIns="0" rIns="0" bIns="0" anchor="t">
            <a:spAutoFit/>
          </a:bodyPr>
          <a:lstStyle/>
          <a:p>
            <a:pPr algn="l">
              <a:lnSpc>
                <a:spcPts val="1511"/>
              </a:lnSpc>
            </a:pPr>
            <a:r>
              <a:rPr sz="975" b="0" i="0" u="none">
                <a:solidFill>
                  <a:srgbClr val="475569"/>
                </a:solidFill>
                <a:latin typeface="Plus Jakarta Sans"/>
              </a:rPr>
              <a:t>https://usq.pressbooks.pub/app/uploads/sites/47/2022/03/steps.png</a:t>
            </a:r>
          </a:p>
        </p:txBody>
      </p:sp>
      <p:sp>
        <p:nvSpPr>
          <p:cNvPr id="17" name="TextBox 16"/>
          <p:cNvSpPr txBox="1"/>
          <p:nvPr/>
        </p:nvSpPr>
        <p:spPr>
          <a:xfrm>
            <a:off x="2157412" y="2278112"/>
            <a:ext cx="89725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Plus Jakarta Sans"/>
              </a:rPr>
              <a:t>Source: </a:t>
            </a:r>
            <a:r>
              <a:rPr sz="1200" b="0" i="0" u="none">
                <a:solidFill>
                  <a:srgbClr val="4F46E5"/>
                </a:solidFill>
                <a:latin typeface="Plus Jakarta Sans"/>
              </a:rPr>
              <a:t>usq.pressbooks.pub</a:t>
            </a:r>
          </a:p>
        </p:txBody>
      </p:sp>
      <p:pic>
        <p:nvPicPr>
          <p:cNvPr id="18" name="Picture 17" descr="image.png"/>
          <p:cNvPicPr>
            <a:picLocks noChangeAspect="1"/>
          </p:cNvPicPr>
          <p:nvPr/>
        </p:nvPicPr>
        <p:blipFill>
          <a:blip r:embed="rId4"/>
          <a:stretch>
            <a:fillRect/>
          </a:stretch>
        </p:blipFill>
        <p:spPr>
          <a:xfrm>
            <a:off x="1062037" y="2809875"/>
            <a:ext cx="857250" cy="476250"/>
          </a:xfrm>
          <a:prstGeom prst="rect">
            <a:avLst/>
          </a:prstGeom>
        </p:spPr>
      </p:pic>
      <p:sp>
        <p:nvSpPr>
          <p:cNvPr id="19" name="TextBox 18"/>
          <p:cNvSpPr txBox="1"/>
          <p:nvPr/>
        </p:nvSpPr>
        <p:spPr>
          <a:xfrm>
            <a:off x="2157412" y="2810172"/>
            <a:ext cx="8972550" cy="191839"/>
          </a:xfrm>
          <a:prstGeom prst="rect">
            <a:avLst/>
          </a:prstGeom>
          <a:noFill/>
        </p:spPr>
        <p:txBody>
          <a:bodyPr wrap="square" lIns="0" tIns="0" rIns="0" bIns="0" anchor="t">
            <a:spAutoFit/>
          </a:bodyPr>
          <a:lstStyle/>
          <a:p>
            <a:pPr algn="l">
              <a:lnSpc>
                <a:spcPts val="1511"/>
              </a:lnSpc>
            </a:pPr>
            <a:r>
              <a:rPr sz="975" b="0" i="0" u="none">
                <a:solidFill>
                  <a:srgbClr val="475569"/>
                </a:solidFill>
                <a:latin typeface="Plus Jakarta Sans"/>
              </a:rPr>
              <a:t>https://www.madgetech.com/wp-content/uploads/2024/01/Scientists-Analyzing-Data-2.jpg</a:t>
            </a:r>
          </a:p>
        </p:txBody>
      </p:sp>
      <p:sp>
        <p:nvSpPr>
          <p:cNvPr id="20" name="TextBox 19"/>
          <p:cNvSpPr txBox="1"/>
          <p:nvPr/>
        </p:nvSpPr>
        <p:spPr>
          <a:xfrm>
            <a:off x="2157412" y="3049637"/>
            <a:ext cx="89725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Plus Jakarta Sans"/>
              </a:rPr>
              <a:t>Source: </a:t>
            </a:r>
            <a:r>
              <a:rPr sz="1200" b="0" i="0" u="none">
                <a:solidFill>
                  <a:srgbClr val="4F46E5"/>
                </a:solidFill>
                <a:latin typeface="Plus Jakarta Sans"/>
              </a:rPr>
              <a:t>www.madgetech.com</a:t>
            </a:r>
          </a:p>
        </p:txBody>
      </p:sp>
      <p:pic>
        <p:nvPicPr>
          <p:cNvPr id="21" name="Picture 20" descr="image.png"/>
          <p:cNvPicPr>
            <a:picLocks noChangeAspect="1"/>
          </p:cNvPicPr>
          <p:nvPr/>
        </p:nvPicPr>
        <p:blipFill>
          <a:blip r:embed="rId5"/>
          <a:stretch>
            <a:fillRect/>
          </a:stretch>
        </p:blipFill>
        <p:spPr>
          <a:xfrm>
            <a:off x="1062037" y="3581400"/>
            <a:ext cx="857250" cy="476250"/>
          </a:xfrm>
          <a:prstGeom prst="rect">
            <a:avLst/>
          </a:prstGeom>
        </p:spPr>
      </p:pic>
      <p:sp>
        <p:nvSpPr>
          <p:cNvPr id="22" name="TextBox 21"/>
          <p:cNvSpPr txBox="1"/>
          <p:nvPr/>
        </p:nvSpPr>
        <p:spPr>
          <a:xfrm>
            <a:off x="2157412" y="3581697"/>
            <a:ext cx="8972550" cy="191839"/>
          </a:xfrm>
          <a:prstGeom prst="rect">
            <a:avLst/>
          </a:prstGeom>
          <a:noFill/>
        </p:spPr>
        <p:txBody>
          <a:bodyPr wrap="square" lIns="0" tIns="0" rIns="0" bIns="0" anchor="t">
            <a:spAutoFit/>
          </a:bodyPr>
          <a:lstStyle/>
          <a:p>
            <a:pPr algn="l">
              <a:lnSpc>
                <a:spcPts val="1511"/>
              </a:lnSpc>
            </a:pPr>
            <a:r>
              <a:rPr sz="975" b="0" i="0" u="none">
                <a:solidFill>
                  <a:srgbClr val="475569"/>
                </a:solidFill>
                <a:latin typeface="Plus Jakarta Sans"/>
              </a:rPr>
              <a:t>https://cdn.indiabioscience.org/imager/articles/9016/peerR.001_4b32b63c5c28c858e051e9d1a2a717a1.png</a:t>
            </a:r>
          </a:p>
        </p:txBody>
      </p:sp>
      <p:sp>
        <p:nvSpPr>
          <p:cNvPr id="23" name="TextBox 22"/>
          <p:cNvSpPr txBox="1"/>
          <p:nvPr/>
        </p:nvSpPr>
        <p:spPr>
          <a:xfrm>
            <a:off x="2157412" y="3821162"/>
            <a:ext cx="89725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Plus Jakarta Sans"/>
              </a:rPr>
              <a:t>Source: </a:t>
            </a:r>
            <a:r>
              <a:rPr sz="1200" b="0" i="0" u="none">
                <a:solidFill>
                  <a:srgbClr val="4F46E5"/>
                </a:solidFill>
                <a:latin typeface="Plus Jakarta Sans"/>
              </a:rPr>
              <a:t>indiabioscience.org</a:t>
            </a:r>
          </a:p>
        </p:txBody>
      </p:sp>
      <p:pic>
        <p:nvPicPr>
          <p:cNvPr id="24" name="Picture 23" descr="image.png"/>
          <p:cNvPicPr>
            <a:picLocks noChangeAspect="1"/>
          </p:cNvPicPr>
          <p:nvPr/>
        </p:nvPicPr>
        <p:blipFill>
          <a:blip r:embed="rId6"/>
          <a:stretch>
            <a:fillRect/>
          </a:stretch>
        </p:blipFill>
        <p:spPr>
          <a:xfrm>
            <a:off x="1062037" y="4352925"/>
            <a:ext cx="857250" cy="476250"/>
          </a:xfrm>
          <a:prstGeom prst="rect">
            <a:avLst/>
          </a:prstGeom>
        </p:spPr>
      </p:pic>
      <p:sp>
        <p:nvSpPr>
          <p:cNvPr id="25" name="TextBox 24"/>
          <p:cNvSpPr txBox="1"/>
          <p:nvPr/>
        </p:nvSpPr>
        <p:spPr>
          <a:xfrm>
            <a:off x="2157412" y="4353222"/>
            <a:ext cx="8972550" cy="191839"/>
          </a:xfrm>
          <a:prstGeom prst="rect">
            <a:avLst/>
          </a:prstGeom>
          <a:noFill/>
        </p:spPr>
        <p:txBody>
          <a:bodyPr wrap="square" lIns="0" tIns="0" rIns="0" bIns="0" anchor="t">
            <a:spAutoFit/>
          </a:bodyPr>
          <a:lstStyle/>
          <a:p>
            <a:pPr algn="l">
              <a:lnSpc>
                <a:spcPts val="1511"/>
              </a:lnSpc>
            </a:pPr>
            <a:r>
              <a:rPr sz="975" b="0" i="0" u="none">
                <a:solidFill>
                  <a:srgbClr val="475569"/>
                </a:solidFill>
                <a:latin typeface="Plus Jakarta Sans"/>
              </a:rPr>
              <a:t>https://i.ytimg.com/vi/HWfx2uO4Y3Y/maxresdefault.jpg</a:t>
            </a:r>
          </a:p>
        </p:txBody>
      </p:sp>
      <p:sp>
        <p:nvSpPr>
          <p:cNvPr id="26" name="TextBox 25"/>
          <p:cNvSpPr txBox="1"/>
          <p:nvPr/>
        </p:nvSpPr>
        <p:spPr>
          <a:xfrm>
            <a:off x="2157412" y="4592687"/>
            <a:ext cx="89725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Plus Jakarta Sans"/>
              </a:rPr>
              <a:t>Source: </a:t>
            </a:r>
            <a:r>
              <a:rPr sz="1200" b="0" i="0" u="none">
                <a:solidFill>
                  <a:srgbClr val="4F46E5"/>
                </a:solidFill>
                <a:latin typeface="Plus Jakarta Sans"/>
              </a:rPr>
              <a:t>www.youtube.com</a:t>
            </a:r>
          </a:p>
        </p:txBody>
      </p:sp>
      <p:pic>
        <p:nvPicPr>
          <p:cNvPr id="27" name="Picture 26" descr="image.png"/>
          <p:cNvPicPr>
            <a:picLocks noChangeAspect="1"/>
          </p:cNvPicPr>
          <p:nvPr/>
        </p:nvPicPr>
        <p:blipFill>
          <a:blip r:embed="rId7"/>
          <a:stretch>
            <a:fillRect/>
          </a:stretch>
        </p:blipFill>
        <p:spPr>
          <a:xfrm>
            <a:off x="1062037" y="5124450"/>
            <a:ext cx="857250" cy="476250"/>
          </a:xfrm>
          <a:prstGeom prst="rect">
            <a:avLst/>
          </a:prstGeom>
        </p:spPr>
      </p:pic>
      <p:sp>
        <p:nvSpPr>
          <p:cNvPr id="28" name="TextBox 27"/>
          <p:cNvSpPr txBox="1"/>
          <p:nvPr/>
        </p:nvSpPr>
        <p:spPr>
          <a:xfrm>
            <a:off x="2157412" y="5124747"/>
            <a:ext cx="8972550" cy="191839"/>
          </a:xfrm>
          <a:prstGeom prst="rect">
            <a:avLst/>
          </a:prstGeom>
          <a:noFill/>
        </p:spPr>
        <p:txBody>
          <a:bodyPr wrap="square" lIns="0" tIns="0" rIns="0" bIns="0" anchor="t">
            <a:spAutoFit/>
          </a:bodyPr>
          <a:lstStyle/>
          <a:p>
            <a:pPr algn="l">
              <a:lnSpc>
                <a:spcPts val="1511"/>
              </a:lnSpc>
            </a:pPr>
            <a:r>
              <a:rPr sz="975" b="0" i="0" u="none">
                <a:solidFill>
                  <a:srgbClr val="475569"/>
                </a:solidFill>
                <a:latin typeface="Plus Jakarta Sans"/>
              </a:rPr>
              <a:t>https://news.harvard.edu/wp-content/uploads/2025/09/Visiting-Research-Scholarship-Program-Mailchimp-Announcement-900x600-1.png?w=900</a:t>
            </a:r>
          </a:p>
        </p:txBody>
      </p:sp>
      <p:sp>
        <p:nvSpPr>
          <p:cNvPr id="29" name="TextBox 28"/>
          <p:cNvSpPr txBox="1"/>
          <p:nvPr/>
        </p:nvSpPr>
        <p:spPr>
          <a:xfrm>
            <a:off x="2157412" y="5364212"/>
            <a:ext cx="8972550" cy="236190"/>
          </a:xfrm>
          <a:prstGeom prst="rect">
            <a:avLst/>
          </a:prstGeom>
          <a:noFill/>
        </p:spPr>
        <p:txBody>
          <a:bodyPr wrap="square" lIns="0" tIns="0" rIns="0" bIns="0" anchor="t">
            <a:spAutoFit/>
          </a:bodyPr>
          <a:lstStyle/>
          <a:p>
            <a:pPr algn="l">
              <a:lnSpc>
                <a:spcPts val="1860"/>
              </a:lnSpc>
            </a:pPr>
            <a:r>
              <a:rPr sz="1200" b="0" i="0" u="none">
                <a:solidFill>
                  <a:srgbClr val="475569"/>
                </a:solidFill>
                <a:latin typeface="Plus Jakarta Sans"/>
              </a:rPr>
              <a:t>Source: </a:t>
            </a:r>
            <a:r>
              <a:rPr sz="1200" b="0" i="0" u="none">
                <a:solidFill>
                  <a:srgbClr val="4F46E5"/>
                </a:solidFill>
                <a:latin typeface="Plus Jakarta Sans"/>
              </a:rPr>
              <a:t>news.harvard.edu</a:t>
            </a:r>
          </a:p>
        </p:txBody>
      </p:sp>
      <p:sp>
        <p:nvSpPr>
          <p:cNvPr id="30" name="TextBox 29"/>
          <p:cNvSpPr txBox="1"/>
          <p:nvPr/>
        </p:nvSpPr>
        <p:spPr>
          <a:xfrm>
            <a:off x="571500" y="476250"/>
            <a:ext cx="11601450" cy="438150"/>
          </a:xfrm>
          <a:prstGeom prst="rect">
            <a:avLst/>
          </a:prstGeom>
          <a:noFill/>
        </p:spPr>
        <p:txBody>
          <a:bodyPr wrap="square" lIns="0" tIns="0" rIns="0" bIns="0" anchor="t">
            <a:spAutoFit/>
          </a:bodyPr>
          <a:lstStyle/>
          <a:p>
            <a:pPr algn="l"/>
            <a:r>
              <a:rPr sz="2550" b="0" i="0" u="none">
                <a:solidFill>
                  <a:srgbClr val="0F172A"/>
                </a:solidFill>
                <a:latin typeface="Plus Jakarta Sans ExtraBold"/>
              </a:rPr>
              <a:t>Image Sources</a:t>
            </a:r>
          </a:p>
        </p:txBody>
      </p:sp>
      <p:sp>
        <p:nvSpPr>
          <p:cNvPr id="31" name="Rectangle 30"/>
          <p:cNvSpPr/>
          <p:nvPr/>
        </p:nvSpPr>
        <p:spPr>
          <a:xfrm>
            <a:off x="571500" y="1000125"/>
            <a:ext cx="11049000" cy="28575"/>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ate Placeholder 31">
            <a:extLst>
              <a:ext uri="{FF2B5EF4-FFF2-40B4-BE49-F238E27FC236}">
                <a16:creationId xmlns:a16="http://schemas.microsoft.com/office/drawing/2014/main" id="{5DE06845-8C79-8D72-5024-30748A626DAF}"/>
              </a:ext>
            </a:extLst>
          </p:cNvPr>
          <p:cNvSpPr>
            <a:spLocks noGrp="1"/>
          </p:cNvSpPr>
          <p:nvPr>
            <p:ph type="dt" sz="half" idx="10"/>
          </p:nvPr>
        </p:nvSpPr>
        <p:spPr/>
        <p:txBody>
          <a:bodyPr/>
          <a:lstStyle/>
          <a:p>
            <a:r>
              <a:rPr lang="en-US"/>
              <a:t>7/23/2026</a:t>
            </a:r>
          </a:p>
        </p:txBody>
      </p:sp>
      <p:sp>
        <p:nvSpPr>
          <p:cNvPr id="33" name="Footer Placeholder 32">
            <a:extLst>
              <a:ext uri="{FF2B5EF4-FFF2-40B4-BE49-F238E27FC236}">
                <a16:creationId xmlns:a16="http://schemas.microsoft.com/office/drawing/2014/main" id="{C7EC7F4B-CE13-A7BB-0F15-F1DFC22E3E87}"/>
              </a:ext>
            </a:extLst>
          </p:cNvPr>
          <p:cNvSpPr>
            <a:spLocks noGrp="1"/>
          </p:cNvSpPr>
          <p:nvPr>
            <p:ph type="ftr" sz="quarter" idx="11"/>
          </p:nvPr>
        </p:nvSpPr>
        <p:spPr/>
        <p:txBody>
          <a:bodyPr/>
          <a:lstStyle/>
          <a:p>
            <a:r>
              <a:rPr lang="en-US"/>
              <a:t>Summer School for Researchers, 2026</a:t>
            </a:r>
          </a:p>
        </p:txBody>
      </p:sp>
      <p:sp>
        <p:nvSpPr>
          <p:cNvPr id="34" name="Slide Number Placeholder 33">
            <a:extLst>
              <a:ext uri="{FF2B5EF4-FFF2-40B4-BE49-F238E27FC236}">
                <a16:creationId xmlns:a16="http://schemas.microsoft.com/office/drawing/2014/main" id="{FDDF8A19-5721-910F-4C91-4F61228E5E52}"/>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1957</Words>
  <Application>Microsoft Office PowerPoint</Application>
  <PresentationFormat>Widescreen</PresentationFormat>
  <Paragraphs>172</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Lora</vt:lpstr>
      <vt:lpstr>Lora Medium</vt:lpstr>
      <vt:lpstr>Plus Jakarta Sans</vt:lpstr>
      <vt:lpstr>Plus Jakarta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Đỗ Phúc</cp:lastModifiedBy>
  <cp:revision>2</cp:revision>
  <dcterms:created xsi:type="dcterms:W3CDTF">2013-01-27T09:14:16Z</dcterms:created>
  <dcterms:modified xsi:type="dcterms:W3CDTF">2026-07-23T07:34:15Z</dcterms:modified>
  <cp:category/>
</cp:coreProperties>
</file>