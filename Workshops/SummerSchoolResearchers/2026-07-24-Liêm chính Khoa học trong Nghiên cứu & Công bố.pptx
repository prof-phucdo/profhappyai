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16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2486F-6D6C-41DD-AE0C-06235C3F020A}"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740572-E6BE-4E0F-A03A-8ECB75037537}" type="slidenum">
              <a:rPr lang="en-US" smtClean="0"/>
              <a:t>‹#›</a:t>
            </a:fld>
            <a:endParaRPr lang="en-US"/>
          </a:p>
        </p:txBody>
      </p:sp>
    </p:spTree>
    <p:extLst>
      <p:ext uri="{BB962C8B-B14F-4D97-AF65-F5344CB8AC3E}">
        <p14:creationId xmlns:p14="http://schemas.microsoft.com/office/powerpoint/2010/main" val="1490124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6E30B36-0EC3-4D97-996F-AE35244B2ADD}" type="datetime1">
              <a:rPr lang="en-US" smtClean="0"/>
              <a:t>7/23/2026</a:t>
            </a:fld>
            <a:endParaRPr lang="en-US"/>
          </a:p>
        </p:txBody>
      </p:sp>
      <p:sp>
        <p:nvSpPr>
          <p:cNvPr id="5" name="Footer Placeholder 4"/>
          <p:cNvSpPr>
            <a:spLocks noGrp="1"/>
          </p:cNvSpPr>
          <p:nvPr>
            <p:ph type="ftr" sz="quarter" idx="11"/>
          </p:nvPr>
        </p:nvSpPr>
        <p:spPr/>
        <p:txBody>
          <a:bodyPr/>
          <a:lstStyle/>
          <a:p>
            <a:r>
              <a:rPr lang="en-US"/>
              <a:t>Summer School for Researcher,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11BC2F-4580-4F12-9BF6-25D7F36AA48C}" type="datetime1">
              <a:rPr lang="en-US" smtClean="0"/>
              <a:t>7/23/2026</a:t>
            </a:fld>
            <a:endParaRPr lang="en-US"/>
          </a:p>
        </p:txBody>
      </p:sp>
      <p:sp>
        <p:nvSpPr>
          <p:cNvPr id="5" name="Footer Placeholder 4"/>
          <p:cNvSpPr>
            <a:spLocks noGrp="1"/>
          </p:cNvSpPr>
          <p:nvPr>
            <p:ph type="ftr" sz="quarter" idx="11"/>
          </p:nvPr>
        </p:nvSpPr>
        <p:spPr/>
        <p:txBody>
          <a:bodyPr/>
          <a:lstStyle/>
          <a:p>
            <a:r>
              <a:rPr lang="en-US"/>
              <a:t>Summer School for Researcher,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9EEFDA-BBEA-4CEC-A28C-EB8526B2F97A}" type="datetime1">
              <a:rPr lang="en-US" smtClean="0"/>
              <a:t>7/23/2026</a:t>
            </a:fld>
            <a:endParaRPr lang="en-US"/>
          </a:p>
        </p:txBody>
      </p:sp>
      <p:sp>
        <p:nvSpPr>
          <p:cNvPr id="5" name="Footer Placeholder 4"/>
          <p:cNvSpPr>
            <a:spLocks noGrp="1"/>
          </p:cNvSpPr>
          <p:nvPr>
            <p:ph type="ftr" sz="quarter" idx="11"/>
          </p:nvPr>
        </p:nvSpPr>
        <p:spPr/>
        <p:txBody>
          <a:bodyPr/>
          <a:lstStyle/>
          <a:p>
            <a:r>
              <a:rPr lang="en-US"/>
              <a:t>Summer School for Researcher,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C290C5-D8D3-4140-9F39-91D0F054BE75}" type="datetime1">
              <a:rPr lang="en-US" smtClean="0"/>
              <a:t>7/23/2026</a:t>
            </a:fld>
            <a:endParaRPr lang="en-US"/>
          </a:p>
        </p:txBody>
      </p:sp>
      <p:sp>
        <p:nvSpPr>
          <p:cNvPr id="6" name="Footer Placeholder 5"/>
          <p:cNvSpPr>
            <a:spLocks noGrp="1"/>
          </p:cNvSpPr>
          <p:nvPr>
            <p:ph type="ftr" sz="quarter" idx="11"/>
          </p:nvPr>
        </p:nvSpPr>
        <p:spPr/>
        <p:txBody>
          <a:bodyPr/>
          <a:lstStyle/>
          <a:p>
            <a:r>
              <a:rPr lang="en-US"/>
              <a:t>Summer School for Researcher,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F0617A-9CC1-40EC-B476-77DE67362D82}" type="datetime1">
              <a:rPr lang="en-US" smtClean="0"/>
              <a:t>7/23/2026</a:t>
            </a:fld>
            <a:endParaRPr lang="en-US"/>
          </a:p>
        </p:txBody>
      </p:sp>
      <p:sp>
        <p:nvSpPr>
          <p:cNvPr id="8" name="Footer Placeholder 7"/>
          <p:cNvSpPr>
            <a:spLocks noGrp="1"/>
          </p:cNvSpPr>
          <p:nvPr>
            <p:ph type="ftr" sz="quarter" idx="11"/>
          </p:nvPr>
        </p:nvSpPr>
        <p:spPr/>
        <p:txBody>
          <a:bodyPr/>
          <a:lstStyle/>
          <a:p>
            <a:r>
              <a:rPr lang="en-US"/>
              <a:t>Summer School for Researcher, 2026</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6BD4956-D35A-4455-893C-B5AEE33684E0}" type="datetime1">
              <a:rPr lang="en-US" smtClean="0"/>
              <a:t>7/23/2026</a:t>
            </a:fld>
            <a:endParaRPr lang="en-US"/>
          </a:p>
        </p:txBody>
      </p:sp>
      <p:sp>
        <p:nvSpPr>
          <p:cNvPr id="4" name="Footer Placeholder 3"/>
          <p:cNvSpPr>
            <a:spLocks noGrp="1"/>
          </p:cNvSpPr>
          <p:nvPr>
            <p:ph type="ftr" sz="quarter" idx="11"/>
          </p:nvPr>
        </p:nvSpPr>
        <p:spPr/>
        <p:txBody>
          <a:bodyPr/>
          <a:lstStyle/>
          <a:p>
            <a:r>
              <a:rPr lang="en-US"/>
              <a:t>Summer School for Researcher, 2026</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71214C-F80E-44D9-916E-FCA85A872684}" type="datetime1">
              <a:rPr lang="en-US" smtClean="0"/>
              <a:t>7/23/2026</a:t>
            </a:fld>
            <a:endParaRPr lang="en-US"/>
          </a:p>
        </p:txBody>
      </p:sp>
      <p:sp>
        <p:nvSpPr>
          <p:cNvPr id="3" name="Footer Placeholder 2"/>
          <p:cNvSpPr>
            <a:spLocks noGrp="1"/>
          </p:cNvSpPr>
          <p:nvPr>
            <p:ph type="ftr" sz="quarter" idx="11"/>
          </p:nvPr>
        </p:nvSpPr>
        <p:spPr/>
        <p:txBody>
          <a:bodyPr/>
          <a:lstStyle/>
          <a:p>
            <a:r>
              <a:rPr lang="en-US"/>
              <a:t>Summer School for Researcher, 2026</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4EF07E-F445-47D5-9EFF-EC631EB86839}" type="datetime1">
              <a:rPr lang="en-US" smtClean="0"/>
              <a:t>7/23/2026</a:t>
            </a:fld>
            <a:endParaRPr lang="en-US"/>
          </a:p>
        </p:txBody>
      </p:sp>
      <p:sp>
        <p:nvSpPr>
          <p:cNvPr id="6" name="Footer Placeholder 5"/>
          <p:cNvSpPr>
            <a:spLocks noGrp="1"/>
          </p:cNvSpPr>
          <p:nvPr>
            <p:ph type="ftr" sz="quarter" idx="11"/>
          </p:nvPr>
        </p:nvSpPr>
        <p:spPr/>
        <p:txBody>
          <a:bodyPr/>
          <a:lstStyle/>
          <a:p>
            <a:r>
              <a:rPr lang="en-US"/>
              <a:t>Summer School for Researcher,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2EE312-E8E2-479B-B800-D3762344E1CA}" type="datetime1">
              <a:rPr lang="en-US" smtClean="0"/>
              <a:t>7/23/2026</a:t>
            </a:fld>
            <a:endParaRPr lang="en-US"/>
          </a:p>
        </p:txBody>
      </p:sp>
      <p:sp>
        <p:nvSpPr>
          <p:cNvPr id="6" name="Footer Placeholder 5"/>
          <p:cNvSpPr>
            <a:spLocks noGrp="1"/>
          </p:cNvSpPr>
          <p:nvPr>
            <p:ph type="ftr" sz="quarter" idx="11"/>
          </p:nvPr>
        </p:nvSpPr>
        <p:spPr/>
        <p:txBody>
          <a:bodyPr/>
          <a:lstStyle/>
          <a:p>
            <a:r>
              <a:rPr lang="en-US"/>
              <a:t>Summer School for Researcher, 2026</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930CF3-9E15-4013-903E-2288CE070094}" type="datetime1">
              <a:rPr lang="en-US" smtClean="0"/>
              <a:t>7/23/2026</a:t>
            </a:fld>
            <a:endParaRPr lang="en-US"/>
          </a:p>
        </p:txBody>
      </p:sp>
      <p:sp>
        <p:nvSpPr>
          <p:cNvPr id="5" name="Footer Placeholder 4"/>
          <p:cNvSpPr>
            <a:spLocks noGrp="1"/>
          </p:cNvSpPr>
          <p:nvPr>
            <p:ph type="ftr" sz="quarter" idx="11"/>
          </p:nvPr>
        </p:nvSpPr>
        <p:spPr/>
        <p:txBody>
          <a:bodyPr/>
          <a:lstStyle/>
          <a:p>
            <a:r>
              <a:rPr lang="en-US"/>
              <a:t>Summer School for Researcher,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62B5BD-F2B4-4BBE-B74E-9868ECD75F77}" type="datetime1">
              <a:rPr lang="en-US" smtClean="0"/>
              <a:t>7/23/2026</a:t>
            </a:fld>
            <a:endParaRPr lang="en-US"/>
          </a:p>
        </p:txBody>
      </p:sp>
      <p:sp>
        <p:nvSpPr>
          <p:cNvPr id="5" name="Footer Placeholder 4"/>
          <p:cNvSpPr>
            <a:spLocks noGrp="1"/>
          </p:cNvSpPr>
          <p:nvPr>
            <p:ph type="ftr" sz="quarter" idx="11"/>
          </p:nvPr>
        </p:nvSpPr>
        <p:spPr/>
        <p:txBody>
          <a:bodyPr/>
          <a:lstStyle/>
          <a:p>
            <a:r>
              <a:rPr lang="en-US"/>
              <a:t>Summer School for Researcher, 2026</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AD8417-41CF-4A66-9ED2-133E975C8748}" type="datetime1">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Summer School for Researcher, 2026</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438501" y="2569815"/>
            <a:ext cx="3314700" cy="323850"/>
          </a:xfrm>
          <a:prstGeom prst="rect">
            <a:avLst/>
          </a:prstGeom>
        </p:spPr>
      </p:pic>
      <p:sp>
        <p:nvSpPr>
          <p:cNvPr id="4" name="TextBox 3"/>
          <p:cNvSpPr txBox="1"/>
          <p:nvPr/>
        </p:nvSpPr>
        <p:spPr>
          <a:xfrm>
            <a:off x="2736833" y="3131790"/>
            <a:ext cx="6718183" cy="613320"/>
          </a:xfrm>
          <a:prstGeom prst="rect">
            <a:avLst/>
          </a:prstGeom>
          <a:noFill/>
        </p:spPr>
        <p:txBody>
          <a:bodyPr wrap="square" lIns="0" tIns="0" rIns="0" bIns="0" anchor="t">
            <a:spAutoFit/>
          </a:bodyPr>
          <a:lstStyle/>
          <a:p>
            <a:pPr algn="ctr">
              <a:lnSpc>
                <a:spcPts val="4830"/>
              </a:lnSpc>
            </a:pPr>
            <a:r>
              <a:rPr sz="4200" b="1" i="0" u="none">
                <a:solidFill>
                  <a:srgbClr val="0F172A"/>
                </a:solidFill>
                <a:latin typeface="Montserrat"/>
              </a:rPr>
              <a:t>LIÊM CHÍNH KHOA HỌC</a:t>
            </a:r>
          </a:p>
        </p:txBody>
      </p:sp>
      <p:sp>
        <p:nvSpPr>
          <p:cNvPr id="5" name="TextBox 4"/>
          <p:cNvSpPr txBox="1"/>
          <p:nvPr/>
        </p:nvSpPr>
        <p:spPr>
          <a:xfrm>
            <a:off x="3247876" y="3887985"/>
            <a:ext cx="5695950" cy="285750"/>
          </a:xfrm>
          <a:prstGeom prst="rect">
            <a:avLst/>
          </a:prstGeom>
          <a:noFill/>
        </p:spPr>
        <p:txBody>
          <a:bodyPr wrap="square" lIns="0" tIns="0" rIns="0" bIns="0" anchor="t">
            <a:spAutoFit/>
          </a:bodyPr>
          <a:lstStyle/>
          <a:p>
            <a:pPr algn="ctr">
              <a:lnSpc>
                <a:spcPts val="2250"/>
              </a:lnSpc>
            </a:pPr>
            <a:r>
              <a:rPr sz="1500" b="0" i="0" u="none">
                <a:solidFill>
                  <a:srgbClr val="475569"/>
                </a:solidFill>
                <a:latin typeface="Plus Jakarta Sans"/>
              </a:rPr>
              <a:t>Nguyên tắc cốt lõi trong Nghiên cứu &amp; Công bố Bài báo Khoa học</a:t>
            </a:r>
          </a:p>
        </p:txBody>
      </p:sp>
      <p:sp>
        <p:nvSpPr>
          <p:cNvPr id="6" name="Date Placeholder 5">
            <a:extLst>
              <a:ext uri="{FF2B5EF4-FFF2-40B4-BE49-F238E27FC236}">
                <a16:creationId xmlns:a16="http://schemas.microsoft.com/office/drawing/2014/main" id="{C4DE328F-496A-E3E2-635F-8B46CECD10CF}"/>
              </a:ext>
            </a:extLst>
          </p:cNvPr>
          <p:cNvSpPr>
            <a:spLocks noGrp="1"/>
          </p:cNvSpPr>
          <p:nvPr>
            <p:ph type="dt" sz="half" idx="10"/>
          </p:nvPr>
        </p:nvSpPr>
        <p:spPr/>
        <p:txBody>
          <a:bodyPr/>
          <a:lstStyle/>
          <a:p>
            <a:fld id="{6B8578EA-6A6F-44BC-9499-0FD8AC27E391}" type="datetime1">
              <a:rPr lang="en-US" smtClean="0"/>
              <a:t>7/23/2026</a:t>
            </a:fld>
            <a:endParaRPr lang="en-US"/>
          </a:p>
        </p:txBody>
      </p:sp>
      <p:sp>
        <p:nvSpPr>
          <p:cNvPr id="7" name="Footer Placeholder 6">
            <a:extLst>
              <a:ext uri="{FF2B5EF4-FFF2-40B4-BE49-F238E27FC236}">
                <a16:creationId xmlns:a16="http://schemas.microsoft.com/office/drawing/2014/main" id="{2EB977B9-E8F8-408B-0FCC-DDE1B26D355B}"/>
              </a:ext>
            </a:extLst>
          </p:cNvPr>
          <p:cNvSpPr>
            <a:spLocks noGrp="1"/>
          </p:cNvSpPr>
          <p:nvPr>
            <p:ph type="ftr" sz="quarter" idx="11"/>
          </p:nvPr>
        </p:nvSpPr>
        <p:spPr/>
        <p:txBody>
          <a:bodyPr/>
          <a:lstStyle/>
          <a:p>
            <a:r>
              <a:rPr lang="en-US"/>
              <a:t>Summer School for Researcher, 2026</a:t>
            </a:r>
          </a:p>
        </p:txBody>
      </p:sp>
      <p:sp>
        <p:nvSpPr>
          <p:cNvPr id="8" name="Slide Number Placeholder 7">
            <a:extLst>
              <a:ext uri="{FF2B5EF4-FFF2-40B4-BE49-F238E27FC236}">
                <a16:creationId xmlns:a16="http://schemas.microsoft.com/office/drawing/2014/main" id="{52C4B1FC-80FA-CC06-D411-BB7EE778FFA0}"/>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524500" y="2762250"/>
            <a:ext cx="1143000" cy="47625"/>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80560" y="3048000"/>
            <a:ext cx="7030878" cy="600075"/>
          </a:xfrm>
          <a:prstGeom prst="rect">
            <a:avLst/>
          </a:prstGeom>
          <a:noFill/>
        </p:spPr>
        <p:txBody>
          <a:bodyPr wrap="square" lIns="0" tIns="0" rIns="0" bIns="0" anchor="t">
            <a:spAutoFit/>
          </a:bodyPr>
          <a:lstStyle/>
          <a:p>
            <a:pPr algn="ctr"/>
            <a:r>
              <a:rPr sz="3900" b="1" i="0" u="none">
                <a:solidFill>
                  <a:srgbClr val="0F172A"/>
                </a:solidFill>
                <a:latin typeface="Montserrat"/>
              </a:rPr>
              <a:t>TỔNG QUAN &amp; KHÁI NIỆM</a:t>
            </a:r>
          </a:p>
        </p:txBody>
      </p:sp>
      <p:sp>
        <p:nvSpPr>
          <p:cNvPr id="5" name="TextBox 4"/>
          <p:cNvSpPr txBox="1"/>
          <p:nvPr/>
        </p:nvSpPr>
        <p:spPr>
          <a:xfrm>
            <a:off x="2376487" y="3933825"/>
            <a:ext cx="7439025" cy="285750"/>
          </a:xfrm>
          <a:prstGeom prst="rect">
            <a:avLst/>
          </a:prstGeom>
          <a:noFill/>
        </p:spPr>
        <p:txBody>
          <a:bodyPr wrap="square" lIns="0" tIns="0" rIns="0" bIns="0" anchor="t">
            <a:spAutoFit/>
          </a:bodyPr>
          <a:lstStyle/>
          <a:p>
            <a:pPr algn="ctr">
              <a:lnSpc>
                <a:spcPts val="2250"/>
              </a:lnSpc>
            </a:pPr>
            <a:r>
              <a:rPr sz="1500" b="0" i="0" u="none">
                <a:solidFill>
                  <a:srgbClr val="475569"/>
                </a:solidFill>
                <a:latin typeface="Plus Jakarta Sans"/>
              </a:rPr>
              <a:t>Nền tảng vững chắc bảo vệ tính xác thực và niềm tin của xã hội đối với tri thức khoa học</a:t>
            </a:r>
          </a:p>
        </p:txBody>
      </p:sp>
      <p:sp>
        <p:nvSpPr>
          <p:cNvPr id="6" name="Date Placeholder 5">
            <a:extLst>
              <a:ext uri="{FF2B5EF4-FFF2-40B4-BE49-F238E27FC236}">
                <a16:creationId xmlns:a16="http://schemas.microsoft.com/office/drawing/2014/main" id="{7E9D85E0-79EA-21E5-D1D5-12FE7CCF1D7B}"/>
              </a:ext>
            </a:extLst>
          </p:cNvPr>
          <p:cNvSpPr>
            <a:spLocks noGrp="1"/>
          </p:cNvSpPr>
          <p:nvPr>
            <p:ph type="dt" sz="half" idx="10"/>
          </p:nvPr>
        </p:nvSpPr>
        <p:spPr/>
        <p:txBody>
          <a:bodyPr/>
          <a:lstStyle/>
          <a:p>
            <a:fld id="{8F4F0C46-4A8C-4037-8C10-2CDD110494EC}" type="datetime1">
              <a:rPr lang="en-US" smtClean="0"/>
              <a:t>7/23/2026</a:t>
            </a:fld>
            <a:endParaRPr lang="en-US"/>
          </a:p>
        </p:txBody>
      </p:sp>
      <p:sp>
        <p:nvSpPr>
          <p:cNvPr id="7" name="Footer Placeholder 6">
            <a:extLst>
              <a:ext uri="{FF2B5EF4-FFF2-40B4-BE49-F238E27FC236}">
                <a16:creationId xmlns:a16="http://schemas.microsoft.com/office/drawing/2014/main" id="{FAFB6D7D-4C00-A42D-D743-4A21C85089C5}"/>
              </a:ext>
            </a:extLst>
          </p:cNvPr>
          <p:cNvSpPr>
            <a:spLocks noGrp="1"/>
          </p:cNvSpPr>
          <p:nvPr>
            <p:ph type="ftr" sz="quarter" idx="11"/>
          </p:nvPr>
        </p:nvSpPr>
        <p:spPr/>
        <p:txBody>
          <a:bodyPr/>
          <a:lstStyle/>
          <a:p>
            <a:r>
              <a:rPr lang="en-US"/>
              <a:t>Summer School for Researcher, 2026</a:t>
            </a:r>
          </a:p>
        </p:txBody>
      </p:sp>
      <p:sp>
        <p:nvSpPr>
          <p:cNvPr id="8" name="Slide Number Placeholder 7">
            <a:extLst>
              <a:ext uri="{FF2B5EF4-FFF2-40B4-BE49-F238E27FC236}">
                <a16:creationId xmlns:a16="http://schemas.microsoft.com/office/drawing/2014/main" id="{32B1EC2B-F057-D474-5B6E-88303AD6EA49}"/>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05087"/>
            <a:ext cx="5334000" cy="2286000"/>
          </a:xfrm>
          <a:prstGeom prst="rect">
            <a:avLst/>
          </a:prstGeom>
        </p:spPr>
      </p:pic>
      <p:pic>
        <p:nvPicPr>
          <p:cNvPr id="4" name="Picture 3" descr="image.png"/>
          <p:cNvPicPr>
            <a:picLocks noChangeAspect="1"/>
          </p:cNvPicPr>
          <p:nvPr/>
        </p:nvPicPr>
        <p:blipFill>
          <a:blip r:embed="rId4"/>
          <a:stretch>
            <a:fillRect/>
          </a:stretch>
        </p:blipFill>
        <p:spPr>
          <a:xfrm>
            <a:off x="6286500" y="2605087"/>
            <a:ext cx="5334000" cy="2286000"/>
          </a:xfrm>
          <a:prstGeom prst="rect">
            <a:avLst/>
          </a:prstGeom>
        </p:spPr>
      </p:pic>
      <p:sp>
        <p:nvSpPr>
          <p:cNvPr id="5" name="TextBox 4"/>
          <p:cNvSpPr txBox="1"/>
          <p:nvPr/>
        </p:nvSpPr>
        <p:spPr>
          <a:xfrm>
            <a:off x="914400" y="2947987"/>
            <a:ext cx="4880610" cy="276225"/>
          </a:xfrm>
          <a:prstGeom prst="rect">
            <a:avLst/>
          </a:prstGeom>
          <a:noFill/>
        </p:spPr>
        <p:txBody>
          <a:bodyPr wrap="square" lIns="0" tIns="0" rIns="0" bIns="0" anchor="t">
            <a:spAutoFit/>
          </a:bodyPr>
          <a:lstStyle/>
          <a:p>
            <a:pPr algn="l"/>
            <a:r>
              <a:rPr sz="1650" b="0" i="0" u="none">
                <a:solidFill>
                  <a:srgbClr val="0D9488"/>
                </a:solidFill>
                <a:latin typeface="Montserrat SemiBold"/>
              </a:rPr>
              <a:t>Định nghĩa Cốt lõi</a:t>
            </a:r>
          </a:p>
        </p:txBody>
      </p:sp>
      <p:sp>
        <p:nvSpPr>
          <p:cNvPr id="6" name="Rectangle 5"/>
          <p:cNvSpPr/>
          <p:nvPr/>
        </p:nvSpPr>
        <p:spPr>
          <a:xfrm>
            <a:off x="914400" y="3300412"/>
            <a:ext cx="4648200" cy="1905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462337"/>
            <a:ext cx="4648200" cy="971550"/>
          </a:xfrm>
          <a:prstGeom prst="rect">
            <a:avLst/>
          </a:prstGeom>
          <a:noFill/>
        </p:spPr>
        <p:txBody>
          <a:bodyPr wrap="square" lIns="0" tIns="0" rIns="0" bIns="0" anchor="t">
            <a:spAutoFit/>
          </a:bodyPr>
          <a:lstStyle/>
          <a:p>
            <a:pPr algn="l">
              <a:lnSpc>
                <a:spcPts val="1912"/>
              </a:lnSpc>
            </a:pPr>
            <a:r>
              <a:rPr sz="1275" b="1" i="0" u="none">
                <a:solidFill>
                  <a:srgbClr val="334155"/>
                </a:solidFill>
                <a:latin typeface="Plus Jakarta Sans"/>
              </a:rPr>
              <a:t>Liêm chính khoa học (Research Integrity)</a:t>
            </a:r>
            <a:r>
              <a:rPr sz="1275" b="0" i="0" u="none">
                <a:solidFill>
                  <a:srgbClr val="334155"/>
                </a:solidFill>
                <a:latin typeface="Plus Jakarta Sans"/>
              </a:rPr>
              <a:t> là việc tuân thủ nghiêm ngặt các quy chuẩn đạo đức, nguyên tắc trung thực, khách quan và công bằng trong toàn bộ quá trình nghiên cứu, từ thiết kế, thu thập dữ liệu đến công bố kết quả.</a:t>
            </a:r>
          </a:p>
        </p:txBody>
      </p:sp>
      <p:sp>
        <p:nvSpPr>
          <p:cNvPr id="8" name="TextBox 7"/>
          <p:cNvSpPr txBox="1"/>
          <p:nvPr/>
        </p:nvSpPr>
        <p:spPr>
          <a:xfrm>
            <a:off x="6629400" y="2947987"/>
            <a:ext cx="4880610" cy="276225"/>
          </a:xfrm>
          <a:prstGeom prst="rect">
            <a:avLst/>
          </a:prstGeom>
          <a:noFill/>
        </p:spPr>
        <p:txBody>
          <a:bodyPr wrap="square" lIns="0" tIns="0" rIns="0" bIns="0" anchor="t">
            <a:spAutoFit/>
          </a:bodyPr>
          <a:lstStyle/>
          <a:p>
            <a:pPr algn="l"/>
            <a:r>
              <a:rPr sz="1650" b="0" i="0" u="none">
                <a:solidFill>
                  <a:srgbClr val="0D9488"/>
                </a:solidFill>
                <a:latin typeface="Montserrat SemiBold"/>
              </a:rPr>
              <a:t>Giá trị Học thuật</a:t>
            </a:r>
          </a:p>
        </p:txBody>
      </p:sp>
      <p:sp>
        <p:nvSpPr>
          <p:cNvPr id="9" name="Rectangle 8"/>
          <p:cNvSpPr/>
          <p:nvPr/>
        </p:nvSpPr>
        <p:spPr>
          <a:xfrm>
            <a:off x="6629400" y="3300412"/>
            <a:ext cx="4648200" cy="19050"/>
          </a:xfrm>
          <a:prstGeom prst="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29400" y="3462337"/>
            <a:ext cx="4648200" cy="971550"/>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Bảo vệ uy tín của cá nhân nhà nghiên cứu và cơ sở đào tạo. Xây dựng nền tảng tri thức đáng tin cậy, làm cơ sở thúc đẩy sự phát triển công nghệ, kinh tế và giải quyết các thách thức toàn cầu.</a:t>
            </a:r>
          </a:p>
        </p:txBody>
      </p:sp>
      <p:sp>
        <p:nvSpPr>
          <p:cNvPr id="11" name="TextBox 10"/>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Bản chất của Liêm chính Khoa học</a:t>
            </a:r>
          </a:p>
        </p:txBody>
      </p:sp>
      <p:sp>
        <p:nvSpPr>
          <p:cNvPr id="12" name="Rounded Rectangle 11"/>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ate Placeholder 12">
            <a:extLst>
              <a:ext uri="{FF2B5EF4-FFF2-40B4-BE49-F238E27FC236}">
                <a16:creationId xmlns:a16="http://schemas.microsoft.com/office/drawing/2014/main" id="{63C5904C-8E22-9FDE-0D94-56F7E41FB00A}"/>
              </a:ext>
            </a:extLst>
          </p:cNvPr>
          <p:cNvSpPr>
            <a:spLocks noGrp="1"/>
          </p:cNvSpPr>
          <p:nvPr>
            <p:ph type="dt" sz="half" idx="10"/>
          </p:nvPr>
        </p:nvSpPr>
        <p:spPr/>
        <p:txBody>
          <a:bodyPr/>
          <a:lstStyle/>
          <a:p>
            <a:fld id="{A145CD9B-4F63-473D-94A2-58261C2097A9}" type="datetime1">
              <a:rPr lang="en-US" smtClean="0"/>
              <a:t>7/23/2026</a:t>
            </a:fld>
            <a:endParaRPr lang="en-US"/>
          </a:p>
        </p:txBody>
      </p:sp>
      <p:sp>
        <p:nvSpPr>
          <p:cNvPr id="14" name="Footer Placeholder 13">
            <a:extLst>
              <a:ext uri="{FF2B5EF4-FFF2-40B4-BE49-F238E27FC236}">
                <a16:creationId xmlns:a16="http://schemas.microsoft.com/office/drawing/2014/main" id="{61C309E6-103C-DE80-0648-FFA461A652B9}"/>
              </a:ext>
            </a:extLst>
          </p:cNvPr>
          <p:cNvSpPr>
            <a:spLocks noGrp="1"/>
          </p:cNvSpPr>
          <p:nvPr>
            <p:ph type="ftr" sz="quarter" idx="11"/>
          </p:nvPr>
        </p:nvSpPr>
        <p:spPr/>
        <p:txBody>
          <a:bodyPr/>
          <a:lstStyle/>
          <a:p>
            <a:r>
              <a:rPr lang="en-US"/>
              <a:t>Summer School for Researcher, 2026</a:t>
            </a:r>
          </a:p>
        </p:txBody>
      </p:sp>
      <p:sp>
        <p:nvSpPr>
          <p:cNvPr id="15" name="Slide Number Placeholder 14">
            <a:extLst>
              <a:ext uri="{FF2B5EF4-FFF2-40B4-BE49-F238E27FC236}">
                <a16:creationId xmlns:a16="http://schemas.microsoft.com/office/drawing/2014/main" id="{38444A46-6881-8BBF-49EB-1F2ABC04B3FA}"/>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1938337"/>
            <a:ext cx="5334000" cy="3619500"/>
          </a:xfrm>
          <a:prstGeom prst="rect">
            <a:avLst/>
          </a:prstGeom>
        </p:spPr>
      </p:pic>
      <p:sp>
        <p:nvSpPr>
          <p:cNvPr id="4" name="TextBox 3"/>
          <p:cNvSpPr txBox="1"/>
          <p:nvPr/>
        </p:nvSpPr>
        <p:spPr>
          <a:xfrm>
            <a:off x="571500" y="1938337"/>
            <a:ext cx="5334000"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Plus Jakarta Sans"/>
              </a:rPr>
              <a:t>1. Trung thực (Honesty):</a:t>
            </a:r>
            <a:r>
              <a:rPr sz="1275" b="0" i="0" u="none">
                <a:solidFill>
                  <a:srgbClr val="334155"/>
                </a:solidFill>
                <a:latin typeface="Plus Jakarta Sans"/>
              </a:rPr>
              <a:t> Báo cáo chính xác phương pháp, dữ liệu và kết quả; không gian lận hay bóp méo.</a:t>
            </a:r>
          </a:p>
        </p:txBody>
      </p:sp>
      <p:sp>
        <p:nvSpPr>
          <p:cNvPr id="5" name="TextBox 4"/>
          <p:cNvSpPr txBox="1"/>
          <p:nvPr/>
        </p:nvSpPr>
        <p:spPr>
          <a:xfrm>
            <a:off x="571500" y="2538412"/>
            <a:ext cx="5334000"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Plus Jakarta Sans"/>
              </a:rPr>
              <a:t>2. Minh bạch (Transparency):</a:t>
            </a:r>
            <a:r>
              <a:rPr sz="1275" b="0" i="0" u="none">
                <a:solidFill>
                  <a:srgbClr val="334155"/>
                </a:solidFill>
                <a:latin typeface="Plus Jakarta Sans"/>
              </a:rPr>
              <a:t> Công khai dữ liệu, phương pháp nghiên cứu và các nguồn tài trợ liên quan.</a:t>
            </a:r>
          </a:p>
        </p:txBody>
      </p:sp>
      <p:sp>
        <p:nvSpPr>
          <p:cNvPr id="6" name="TextBox 5"/>
          <p:cNvSpPr txBox="1"/>
          <p:nvPr/>
        </p:nvSpPr>
        <p:spPr>
          <a:xfrm>
            <a:off x="571500" y="3138487"/>
            <a:ext cx="5334000"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Plus Jakarta Sans"/>
              </a:rPr>
              <a:t>3. Công bằng (Fairness):</a:t>
            </a:r>
            <a:r>
              <a:rPr sz="1275" b="0" i="0" u="none">
                <a:solidFill>
                  <a:srgbClr val="334155"/>
                </a:solidFill>
                <a:latin typeface="Plus Jakarta Sans"/>
              </a:rPr>
              <a:t> Ghi nhận đầy đủ, chính xác đóng góp của tất cả tác giả và đồng nghiệp.</a:t>
            </a:r>
          </a:p>
        </p:txBody>
      </p:sp>
      <p:sp>
        <p:nvSpPr>
          <p:cNvPr id="7" name="TextBox 6"/>
          <p:cNvSpPr txBox="1"/>
          <p:nvPr/>
        </p:nvSpPr>
        <p:spPr>
          <a:xfrm>
            <a:off x="571500" y="3738562"/>
            <a:ext cx="5334000" cy="485775"/>
          </a:xfrm>
          <a:prstGeom prst="rect">
            <a:avLst/>
          </a:prstGeom>
          <a:noFill/>
        </p:spPr>
        <p:txBody>
          <a:bodyPr wrap="square" lIns="0" tIns="0" rIns="0" bIns="0" anchor="t">
            <a:spAutoFit/>
          </a:bodyPr>
          <a:lstStyle/>
          <a:p>
            <a:pPr algn="l">
              <a:lnSpc>
                <a:spcPts val="1912"/>
              </a:lnSpc>
            </a:pPr>
            <a:r>
              <a:rPr sz="1275" b="1" i="0" u="none">
                <a:solidFill>
                  <a:srgbClr val="334155"/>
                </a:solidFill>
                <a:latin typeface="Plus Jakarta Sans"/>
              </a:rPr>
              <a:t>4. Trách nhiệm (Responsibility):</a:t>
            </a:r>
            <a:r>
              <a:rPr sz="1275" b="0" i="0" u="none">
                <a:solidFill>
                  <a:srgbClr val="334155"/>
                </a:solidFill>
                <a:latin typeface="Plus Jakarta Sans"/>
              </a:rPr>
              <a:t> Tuân thủ quy định đạo đức với đối tượng nghiên cứu và môi trường.</a:t>
            </a:r>
          </a:p>
        </p:txBody>
      </p:sp>
      <p:pic>
        <p:nvPicPr>
          <p:cNvPr id="8" name="Picture 7" descr="image.png"/>
          <p:cNvPicPr>
            <a:picLocks noChangeAspect="1"/>
          </p:cNvPicPr>
          <p:nvPr/>
        </p:nvPicPr>
        <p:blipFill>
          <a:blip r:embed="rId4"/>
          <a:stretch>
            <a:fillRect/>
          </a:stretch>
        </p:blipFill>
        <p:spPr>
          <a:xfrm>
            <a:off x="6286500" y="1938337"/>
            <a:ext cx="5334000" cy="3619500"/>
          </a:xfrm>
          <a:prstGeom prst="rect">
            <a:avLst/>
          </a:prstGeom>
        </p:spPr>
      </p:pic>
      <p:sp>
        <p:nvSpPr>
          <p:cNvPr id="9" name="TextBox 8"/>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4 Nguyên tắc Căn bản</a:t>
            </a:r>
          </a:p>
        </p:txBody>
      </p:sp>
      <p:sp>
        <p:nvSpPr>
          <p:cNvPr id="10" name="Rounded Rectangle 9"/>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ate Placeholder 10">
            <a:extLst>
              <a:ext uri="{FF2B5EF4-FFF2-40B4-BE49-F238E27FC236}">
                <a16:creationId xmlns:a16="http://schemas.microsoft.com/office/drawing/2014/main" id="{8C4D71D5-9A86-43E1-F59E-745D4FA8E72E}"/>
              </a:ext>
            </a:extLst>
          </p:cNvPr>
          <p:cNvSpPr>
            <a:spLocks noGrp="1"/>
          </p:cNvSpPr>
          <p:nvPr>
            <p:ph type="dt" sz="half" idx="10"/>
          </p:nvPr>
        </p:nvSpPr>
        <p:spPr/>
        <p:txBody>
          <a:bodyPr/>
          <a:lstStyle/>
          <a:p>
            <a:fld id="{77311614-F9BC-422A-8476-8F77522E8538}" type="datetime1">
              <a:rPr lang="en-US" smtClean="0"/>
              <a:t>7/23/2026</a:t>
            </a:fld>
            <a:endParaRPr lang="en-US"/>
          </a:p>
        </p:txBody>
      </p:sp>
      <p:sp>
        <p:nvSpPr>
          <p:cNvPr id="12" name="Footer Placeholder 11">
            <a:extLst>
              <a:ext uri="{FF2B5EF4-FFF2-40B4-BE49-F238E27FC236}">
                <a16:creationId xmlns:a16="http://schemas.microsoft.com/office/drawing/2014/main" id="{7B898B17-2D88-F4C2-2F87-2C055F8357D7}"/>
              </a:ext>
            </a:extLst>
          </p:cNvPr>
          <p:cNvSpPr>
            <a:spLocks noGrp="1"/>
          </p:cNvSpPr>
          <p:nvPr>
            <p:ph type="ftr" sz="quarter" idx="11"/>
          </p:nvPr>
        </p:nvSpPr>
        <p:spPr/>
        <p:txBody>
          <a:bodyPr/>
          <a:lstStyle/>
          <a:p>
            <a:r>
              <a:rPr lang="en-US"/>
              <a:t>Summer School for Researcher, 2026</a:t>
            </a:r>
          </a:p>
        </p:txBody>
      </p:sp>
      <p:sp>
        <p:nvSpPr>
          <p:cNvPr id="13" name="Slide Number Placeholder 12">
            <a:extLst>
              <a:ext uri="{FF2B5EF4-FFF2-40B4-BE49-F238E27FC236}">
                <a16:creationId xmlns:a16="http://schemas.microsoft.com/office/drawing/2014/main" id="{E0DDCE41-CCEA-42B1-6A66-BC339179E7D8}"/>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45556"/>
            <a:ext cx="3492549" cy="2405062"/>
          </a:xfrm>
          <a:prstGeom prst="rect">
            <a:avLst/>
          </a:prstGeom>
        </p:spPr>
      </p:pic>
      <p:pic>
        <p:nvPicPr>
          <p:cNvPr id="4" name="Picture 3" descr="image.png"/>
          <p:cNvPicPr>
            <a:picLocks noChangeAspect="1"/>
          </p:cNvPicPr>
          <p:nvPr/>
        </p:nvPicPr>
        <p:blipFill>
          <a:blip r:embed="rId4"/>
          <a:stretch>
            <a:fillRect/>
          </a:stretch>
        </p:blipFill>
        <p:spPr>
          <a:xfrm>
            <a:off x="4349799" y="2545556"/>
            <a:ext cx="3492549" cy="2405062"/>
          </a:xfrm>
          <a:prstGeom prst="rect">
            <a:avLst/>
          </a:prstGeom>
        </p:spPr>
      </p:pic>
      <p:pic>
        <p:nvPicPr>
          <p:cNvPr id="5" name="Picture 4" descr="image.png"/>
          <p:cNvPicPr>
            <a:picLocks noChangeAspect="1"/>
          </p:cNvPicPr>
          <p:nvPr/>
        </p:nvPicPr>
        <p:blipFill>
          <a:blip r:embed="rId5"/>
          <a:stretch>
            <a:fillRect/>
          </a:stretch>
        </p:blipFill>
        <p:spPr>
          <a:xfrm>
            <a:off x="8128099" y="2545556"/>
            <a:ext cx="3492549" cy="2405062"/>
          </a:xfrm>
          <a:prstGeom prst="rect">
            <a:avLst/>
          </a:prstGeom>
        </p:spPr>
      </p:pic>
      <p:sp>
        <p:nvSpPr>
          <p:cNvPr id="6" name="TextBox 5"/>
          <p:cNvSpPr txBox="1"/>
          <p:nvPr/>
        </p:nvSpPr>
        <p:spPr>
          <a:xfrm>
            <a:off x="866775" y="3459956"/>
            <a:ext cx="3047099" cy="257175"/>
          </a:xfrm>
          <a:prstGeom prst="rect">
            <a:avLst/>
          </a:prstGeom>
          <a:noFill/>
        </p:spPr>
        <p:txBody>
          <a:bodyPr wrap="square" lIns="0" tIns="0" rIns="0" bIns="0" anchor="t">
            <a:spAutoFit/>
          </a:bodyPr>
          <a:lstStyle/>
          <a:p>
            <a:pPr algn="l"/>
            <a:r>
              <a:rPr sz="1650" b="0" i="0" u="none">
                <a:solidFill>
                  <a:srgbClr val="0F172A"/>
                </a:solidFill>
                <a:latin typeface="Montserrat SemiBold"/>
              </a:rPr>
              <a:t>Ngụy tạo (Fabrication)</a:t>
            </a:r>
          </a:p>
        </p:txBody>
      </p:sp>
      <p:sp>
        <p:nvSpPr>
          <p:cNvPr id="7" name="TextBox 6"/>
          <p:cNvSpPr txBox="1"/>
          <p:nvPr/>
        </p:nvSpPr>
        <p:spPr>
          <a:xfrm>
            <a:off x="866775" y="3812381"/>
            <a:ext cx="290199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Tự tạo ra dữ liệu, tài liệu hoặc kết quả nghiên cứu hoàn toàn không có thật để đưa vào bài báo công bố.</a:t>
            </a:r>
          </a:p>
        </p:txBody>
      </p:sp>
      <p:sp>
        <p:nvSpPr>
          <p:cNvPr id="8" name="TextBox 7"/>
          <p:cNvSpPr txBox="1"/>
          <p:nvPr/>
        </p:nvSpPr>
        <p:spPr>
          <a:xfrm>
            <a:off x="4645074" y="3459956"/>
            <a:ext cx="3047099" cy="257175"/>
          </a:xfrm>
          <a:prstGeom prst="rect">
            <a:avLst/>
          </a:prstGeom>
          <a:noFill/>
        </p:spPr>
        <p:txBody>
          <a:bodyPr wrap="square" lIns="0" tIns="0" rIns="0" bIns="0" anchor="t">
            <a:spAutoFit/>
          </a:bodyPr>
          <a:lstStyle/>
          <a:p>
            <a:pPr algn="l"/>
            <a:r>
              <a:rPr sz="1650" b="0" i="0" u="none">
                <a:solidFill>
                  <a:srgbClr val="0F172A"/>
                </a:solidFill>
                <a:latin typeface="Montserrat SemiBold"/>
              </a:rPr>
              <a:t>Giả mạo (Falsification)</a:t>
            </a:r>
          </a:p>
        </p:txBody>
      </p:sp>
      <p:sp>
        <p:nvSpPr>
          <p:cNvPr id="9" name="TextBox 8"/>
          <p:cNvSpPr txBox="1"/>
          <p:nvPr/>
        </p:nvSpPr>
        <p:spPr>
          <a:xfrm>
            <a:off x="4645074" y="3812381"/>
            <a:ext cx="290199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Cố ý thay đổi, bỏ bớt dữ liệu hoặc chỉnh sửa hình ảnh phân tích nhằm làm sai lệch bản chất kết quả.</a:t>
            </a:r>
          </a:p>
        </p:txBody>
      </p:sp>
      <p:sp>
        <p:nvSpPr>
          <p:cNvPr id="10" name="TextBox 9"/>
          <p:cNvSpPr txBox="1"/>
          <p:nvPr/>
        </p:nvSpPr>
        <p:spPr>
          <a:xfrm>
            <a:off x="8423374" y="3459956"/>
            <a:ext cx="3047099" cy="257175"/>
          </a:xfrm>
          <a:prstGeom prst="rect">
            <a:avLst/>
          </a:prstGeom>
          <a:noFill/>
        </p:spPr>
        <p:txBody>
          <a:bodyPr wrap="square" lIns="0" tIns="0" rIns="0" bIns="0" anchor="t">
            <a:spAutoFit/>
          </a:bodyPr>
          <a:lstStyle/>
          <a:p>
            <a:pPr algn="l"/>
            <a:r>
              <a:rPr sz="1650" b="0" i="0" u="none">
                <a:solidFill>
                  <a:srgbClr val="0F172A"/>
                </a:solidFill>
                <a:latin typeface="Montserrat SemiBold"/>
              </a:rPr>
              <a:t>Đạo văn (Plagiarism)</a:t>
            </a:r>
          </a:p>
        </p:txBody>
      </p:sp>
      <p:sp>
        <p:nvSpPr>
          <p:cNvPr id="11" name="TextBox 10"/>
          <p:cNvSpPr txBox="1"/>
          <p:nvPr/>
        </p:nvSpPr>
        <p:spPr>
          <a:xfrm>
            <a:off x="8423374" y="3812381"/>
            <a:ext cx="2901999"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Sử dụng ý tưởng, quy trình hoặc văn bản của người khác mà không dẫn nguồn và thừa nhận thích đáng.</a:t>
            </a:r>
          </a:p>
        </p:txBody>
      </p:sp>
      <p:pic>
        <p:nvPicPr>
          <p:cNvPr id="12" name="Picture 11" descr="image.png"/>
          <p:cNvPicPr>
            <a:picLocks noChangeAspect="1"/>
          </p:cNvPicPr>
          <p:nvPr/>
        </p:nvPicPr>
        <p:blipFill>
          <a:blip r:embed="rId6"/>
          <a:stretch>
            <a:fillRect/>
          </a:stretch>
        </p:blipFill>
        <p:spPr>
          <a:xfrm>
            <a:off x="866775" y="2897981"/>
            <a:ext cx="361950" cy="361950"/>
          </a:xfrm>
          <a:prstGeom prst="rect">
            <a:avLst/>
          </a:prstGeom>
        </p:spPr>
      </p:pic>
      <p:pic>
        <p:nvPicPr>
          <p:cNvPr id="13" name="Picture 12" descr="image.png"/>
          <p:cNvPicPr>
            <a:picLocks noChangeAspect="1"/>
          </p:cNvPicPr>
          <p:nvPr/>
        </p:nvPicPr>
        <p:blipFill>
          <a:blip r:embed="rId7"/>
          <a:stretch>
            <a:fillRect/>
          </a:stretch>
        </p:blipFill>
        <p:spPr>
          <a:xfrm>
            <a:off x="4645074" y="2897981"/>
            <a:ext cx="361950" cy="361950"/>
          </a:xfrm>
          <a:prstGeom prst="rect">
            <a:avLst/>
          </a:prstGeom>
        </p:spPr>
      </p:pic>
      <p:pic>
        <p:nvPicPr>
          <p:cNvPr id="14" name="Picture 13" descr="image.png"/>
          <p:cNvPicPr>
            <a:picLocks noChangeAspect="1"/>
          </p:cNvPicPr>
          <p:nvPr/>
        </p:nvPicPr>
        <p:blipFill>
          <a:blip r:embed="rId8"/>
          <a:stretch>
            <a:fillRect/>
          </a:stretch>
        </p:blipFill>
        <p:spPr>
          <a:xfrm>
            <a:off x="8423374" y="2897981"/>
            <a:ext cx="314325" cy="361950"/>
          </a:xfrm>
          <a:prstGeom prst="rect">
            <a:avLst/>
          </a:prstGeom>
        </p:spPr>
      </p:pic>
      <p:sp>
        <p:nvSpPr>
          <p:cNvPr id="15" name="TextBox 14"/>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3 Hành vi Vi phạm Phổ biến (FFP)</a:t>
            </a:r>
          </a:p>
        </p:txBody>
      </p:sp>
      <p:sp>
        <p:nvSpPr>
          <p:cNvPr id="16" name="Rounded Rectangle 15"/>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ate Placeholder 16">
            <a:extLst>
              <a:ext uri="{FF2B5EF4-FFF2-40B4-BE49-F238E27FC236}">
                <a16:creationId xmlns:a16="http://schemas.microsoft.com/office/drawing/2014/main" id="{1182B1CF-D8EF-4A00-CF24-BBE9567671AB}"/>
              </a:ext>
            </a:extLst>
          </p:cNvPr>
          <p:cNvSpPr>
            <a:spLocks noGrp="1"/>
          </p:cNvSpPr>
          <p:nvPr>
            <p:ph type="dt" sz="half" idx="10"/>
          </p:nvPr>
        </p:nvSpPr>
        <p:spPr/>
        <p:txBody>
          <a:bodyPr/>
          <a:lstStyle/>
          <a:p>
            <a:fld id="{BF7F84DB-C9C4-4170-AD5A-ACE3DDF5CDF2}" type="datetime1">
              <a:rPr lang="en-US" smtClean="0"/>
              <a:t>7/23/2026</a:t>
            </a:fld>
            <a:endParaRPr lang="en-US"/>
          </a:p>
        </p:txBody>
      </p:sp>
      <p:sp>
        <p:nvSpPr>
          <p:cNvPr id="18" name="Footer Placeholder 17">
            <a:extLst>
              <a:ext uri="{FF2B5EF4-FFF2-40B4-BE49-F238E27FC236}">
                <a16:creationId xmlns:a16="http://schemas.microsoft.com/office/drawing/2014/main" id="{B7B9B495-E4D5-8ECB-942E-E4A7E8D6C13E}"/>
              </a:ext>
            </a:extLst>
          </p:cNvPr>
          <p:cNvSpPr>
            <a:spLocks noGrp="1"/>
          </p:cNvSpPr>
          <p:nvPr>
            <p:ph type="ftr" sz="quarter" idx="11"/>
          </p:nvPr>
        </p:nvSpPr>
        <p:spPr/>
        <p:txBody>
          <a:bodyPr/>
          <a:lstStyle/>
          <a:p>
            <a:r>
              <a:rPr lang="en-US"/>
              <a:t>Summer School for Researcher, 2026</a:t>
            </a:r>
          </a:p>
        </p:txBody>
      </p:sp>
      <p:sp>
        <p:nvSpPr>
          <p:cNvPr id="19" name="Slide Number Placeholder 18">
            <a:extLst>
              <a:ext uri="{FF2B5EF4-FFF2-40B4-BE49-F238E27FC236}">
                <a16:creationId xmlns:a16="http://schemas.microsoft.com/office/drawing/2014/main" id="{4FD7804C-9E62-64FF-E38C-26C19E4A495F}"/>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476250"/>
            <a:ext cx="5550693" cy="400050"/>
          </a:xfrm>
          <a:prstGeom prst="rect">
            <a:avLst/>
          </a:prstGeom>
          <a:noFill/>
        </p:spPr>
        <p:txBody>
          <a:bodyPr wrap="square" lIns="0" tIns="0" rIns="0" bIns="0" anchor="ctr">
            <a:spAutoFit/>
          </a:bodyPr>
          <a:lstStyle/>
          <a:p>
            <a:pPr algn="l"/>
            <a:r>
              <a:rPr sz="2550" b="1" i="0" u="none">
                <a:solidFill>
                  <a:srgbClr val="0F172A"/>
                </a:solidFill>
                <a:latin typeface="Montserrat"/>
              </a:rPr>
              <a:t>Vi phạm trong Công bố</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Rounded Rectangle 4"/>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1114425"/>
            <a:ext cx="5550693" cy="257175"/>
          </a:xfrm>
          <a:prstGeom prst="rect">
            <a:avLst/>
          </a:prstGeom>
          <a:noFill/>
        </p:spPr>
        <p:txBody>
          <a:bodyPr wrap="square" lIns="0" tIns="0" rIns="0" bIns="0" anchor="t">
            <a:spAutoFit/>
          </a:bodyPr>
          <a:lstStyle/>
          <a:p>
            <a:pPr algn="l"/>
            <a:r>
              <a:rPr sz="1650" b="0" i="0" u="none">
                <a:solidFill>
                  <a:srgbClr val="0F172A"/>
                </a:solidFill>
                <a:latin typeface="Montserrat SemiBold"/>
              </a:rPr>
              <a:t>Tác giả không hợp lệ</a:t>
            </a:r>
          </a:p>
        </p:txBody>
      </p:sp>
      <p:sp>
        <p:nvSpPr>
          <p:cNvPr id="7" name="TextBox 6"/>
          <p:cNvSpPr txBox="1"/>
          <p:nvPr/>
        </p:nvSpPr>
        <p:spPr>
          <a:xfrm>
            <a:off x="571500" y="1466850"/>
            <a:ext cx="528637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Ghi tên "tác giả danh dự" (Gift Authorship) không đóng góp chuyên môn, hoặc cố ý gạch tên người đóng góp thực sự.</a:t>
            </a:r>
          </a:p>
        </p:txBody>
      </p:sp>
      <p:sp>
        <p:nvSpPr>
          <p:cNvPr id="8" name="TextBox 7"/>
          <p:cNvSpPr txBox="1"/>
          <p:nvPr/>
        </p:nvSpPr>
        <p:spPr>
          <a:xfrm>
            <a:off x="571500" y="2066925"/>
            <a:ext cx="5550693" cy="257175"/>
          </a:xfrm>
          <a:prstGeom prst="rect">
            <a:avLst/>
          </a:prstGeom>
          <a:noFill/>
        </p:spPr>
        <p:txBody>
          <a:bodyPr wrap="square" lIns="0" tIns="0" rIns="0" bIns="0" anchor="t">
            <a:spAutoFit/>
          </a:bodyPr>
          <a:lstStyle/>
          <a:p>
            <a:pPr algn="l"/>
            <a:r>
              <a:rPr sz="1650" b="0" i="0" u="none">
                <a:solidFill>
                  <a:srgbClr val="0F172A"/>
                </a:solidFill>
                <a:latin typeface="Montserrat SemiBold"/>
              </a:rPr>
              <a:t>Xuất bản trùng lặp</a:t>
            </a:r>
          </a:p>
        </p:txBody>
      </p:sp>
      <p:sp>
        <p:nvSpPr>
          <p:cNvPr id="9" name="TextBox 8"/>
          <p:cNvSpPr txBox="1"/>
          <p:nvPr/>
        </p:nvSpPr>
        <p:spPr>
          <a:xfrm>
            <a:off x="571500" y="2419350"/>
            <a:ext cx="5286375" cy="485775"/>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Nộp đồng thời một bản thảo đến nhiều tạp chí hoặc chia nhỏ công trình (Salami Slicing) để tăng số lượng bài báo.</a:t>
            </a:r>
          </a:p>
        </p:txBody>
      </p:sp>
      <p:sp>
        <p:nvSpPr>
          <p:cNvPr id="10" name="Date Placeholder 9">
            <a:extLst>
              <a:ext uri="{FF2B5EF4-FFF2-40B4-BE49-F238E27FC236}">
                <a16:creationId xmlns:a16="http://schemas.microsoft.com/office/drawing/2014/main" id="{451DB80B-3533-72CA-A321-CBD8193A586D}"/>
              </a:ext>
            </a:extLst>
          </p:cNvPr>
          <p:cNvSpPr>
            <a:spLocks noGrp="1"/>
          </p:cNvSpPr>
          <p:nvPr>
            <p:ph type="dt" sz="half" idx="10"/>
          </p:nvPr>
        </p:nvSpPr>
        <p:spPr/>
        <p:txBody>
          <a:bodyPr/>
          <a:lstStyle/>
          <a:p>
            <a:fld id="{BF8285A1-3312-493E-8D7A-FEB8915EE9B3}" type="datetime1">
              <a:rPr lang="en-US" smtClean="0"/>
              <a:t>7/23/2026</a:t>
            </a:fld>
            <a:endParaRPr lang="en-US"/>
          </a:p>
        </p:txBody>
      </p:sp>
      <p:sp>
        <p:nvSpPr>
          <p:cNvPr id="11" name="Footer Placeholder 10">
            <a:extLst>
              <a:ext uri="{FF2B5EF4-FFF2-40B4-BE49-F238E27FC236}">
                <a16:creationId xmlns:a16="http://schemas.microsoft.com/office/drawing/2014/main" id="{1F90FE44-FC04-2A49-AE0D-0C9C4C63A672}"/>
              </a:ext>
            </a:extLst>
          </p:cNvPr>
          <p:cNvSpPr>
            <a:spLocks noGrp="1"/>
          </p:cNvSpPr>
          <p:nvPr>
            <p:ph type="ftr" sz="quarter" idx="11"/>
          </p:nvPr>
        </p:nvSpPr>
        <p:spPr/>
        <p:txBody>
          <a:bodyPr/>
          <a:lstStyle/>
          <a:p>
            <a:r>
              <a:rPr lang="en-US"/>
              <a:t>Summer School for Researcher, 2026</a:t>
            </a:r>
          </a:p>
        </p:txBody>
      </p:sp>
      <p:sp>
        <p:nvSpPr>
          <p:cNvPr id="12" name="Slide Number Placeholder 11">
            <a:extLst>
              <a:ext uri="{FF2B5EF4-FFF2-40B4-BE49-F238E27FC236}">
                <a16:creationId xmlns:a16="http://schemas.microsoft.com/office/drawing/2014/main" id="{375550C5-A39C-3916-30DC-5D9E25E44D63}"/>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57475"/>
            <a:ext cx="5334000" cy="2181225"/>
          </a:xfrm>
          <a:prstGeom prst="rect">
            <a:avLst/>
          </a:prstGeom>
        </p:spPr>
      </p:pic>
      <p:sp>
        <p:nvSpPr>
          <p:cNvPr id="4" name="TextBox 3"/>
          <p:cNvSpPr txBox="1"/>
          <p:nvPr/>
        </p:nvSpPr>
        <p:spPr>
          <a:xfrm>
            <a:off x="781050" y="3057525"/>
            <a:ext cx="4914900" cy="1047750"/>
          </a:xfrm>
          <a:prstGeom prst="rect">
            <a:avLst/>
          </a:prstGeom>
          <a:noFill/>
        </p:spPr>
        <p:txBody>
          <a:bodyPr wrap="square" lIns="0" tIns="0" rIns="0" bIns="0" anchor="t">
            <a:spAutoFit/>
          </a:bodyPr>
          <a:lstStyle/>
          <a:p>
            <a:pPr algn="ctr">
              <a:lnSpc>
                <a:spcPts val="8250"/>
              </a:lnSpc>
            </a:pPr>
            <a:r>
              <a:rPr sz="8250" b="0" i="0" u="none">
                <a:solidFill>
                  <a:srgbClr val="15803D"/>
                </a:solidFill>
                <a:latin typeface="Montserrat ExtraBold"/>
              </a:rPr>
              <a:t>10x</a:t>
            </a:r>
          </a:p>
        </p:txBody>
      </p:sp>
      <p:sp>
        <p:nvSpPr>
          <p:cNvPr id="5" name="TextBox 4"/>
          <p:cNvSpPr txBox="1"/>
          <p:nvPr/>
        </p:nvSpPr>
        <p:spPr>
          <a:xfrm>
            <a:off x="781050" y="4200525"/>
            <a:ext cx="4914900" cy="238125"/>
          </a:xfrm>
          <a:prstGeom prst="rect">
            <a:avLst/>
          </a:prstGeom>
          <a:noFill/>
        </p:spPr>
        <p:txBody>
          <a:bodyPr wrap="square" lIns="0" tIns="0" rIns="0" bIns="0" anchor="t">
            <a:spAutoFit/>
          </a:bodyPr>
          <a:lstStyle/>
          <a:p>
            <a:pPr algn="ctr"/>
            <a:r>
              <a:rPr sz="1500" b="1" i="0" u="none">
                <a:solidFill>
                  <a:srgbClr val="166534"/>
                </a:solidFill>
                <a:latin typeface="Plus Jakarta Sans"/>
              </a:rPr>
              <a:t>Tăng trưởng bài báo bị thu hồi</a:t>
            </a:r>
          </a:p>
        </p:txBody>
      </p:sp>
      <p:sp>
        <p:nvSpPr>
          <p:cNvPr id="6" name="TextBox 5"/>
          <p:cNvSpPr txBox="1"/>
          <p:nvPr/>
        </p:nvSpPr>
        <p:spPr>
          <a:xfrm>
            <a:off x="6286500" y="3150393"/>
            <a:ext cx="5600700" cy="257175"/>
          </a:xfrm>
          <a:prstGeom prst="rect">
            <a:avLst/>
          </a:prstGeom>
          <a:noFill/>
        </p:spPr>
        <p:txBody>
          <a:bodyPr wrap="square" lIns="0" tIns="0" rIns="0" bIns="0" anchor="t">
            <a:spAutoFit/>
          </a:bodyPr>
          <a:lstStyle/>
          <a:p>
            <a:pPr algn="l"/>
            <a:r>
              <a:rPr sz="1650" b="0" i="0" u="none">
                <a:solidFill>
                  <a:srgbClr val="0F172A"/>
                </a:solidFill>
                <a:latin typeface="Montserrat SemiBold"/>
              </a:rPr>
              <a:t>Tổn hại Uy tín &amp; Nguồn lực</a:t>
            </a:r>
          </a:p>
        </p:txBody>
      </p:sp>
      <p:sp>
        <p:nvSpPr>
          <p:cNvPr id="7" name="TextBox 6"/>
          <p:cNvSpPr txBox="1"/>
          <p:nvPr/>
        </p:nvSpPr>
        <p:spPr>
          <a:xfrm>
            <a:off x="6286500" y="3502818"/>
            <a:ext cx="5334000" cy="728662"/>
          </a:xfrm>
          <a:prstGeom prst="rect">
            <a:avLst/>
          </a:prstGeom>
          <a:noFill/>
        </p:spPr>
        <p:txBody>
          <a:bodyPr wrap="square" lIns="0" tIns="0" rIns="0" bIns="0" anchor="t">
            <a:spAutoFit/>
          </a:bodyPr>
          <a:lstStyle/>
          <a:p>
            <a:pPr algn="l">
              <a:lnSpc>
                <a:spcPts val="1912"/>
              </a:lnSpc>
            </a:pPr>
            <a:r>
              <a:rPr sz="1275" b="0" i="0" u="none">
                <a:solidFill>
                  <a:srgbClr val="334155"/>
                </a:solidFill>
                <a:latin typeface="Plus Jakarta Sans"/>
              </a:rPr>
              <a:t>Hiện tượng rút bài (Retractions) do vi phạm liêm chính gây lãng phí kinh phí nghiên cứu của xã hội, trực tiếp hủy hoại sự nghiệp của nhà khoa học và làm giảm niềm tin vào cộng đồng nghiên cứu quốc gia.</a:t>
            </a:r>
          </a:p>
        </p:txBody>
      </p:sp>
      <p:sp>
        <p:nvSpPr>
          <p:cNvPr id="8" name="TextBox 7"/>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Hậu quả của Thu hồi Bài báo</a:t>
            </a:r>
          </a:p>
        </p:txBody>
      </p:sp>
      <p:sp>
        <p:nvSpPr>
          <p:cNvPr id="9" name="Rounded Rectangle 8"/>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ate Placeholder 9">
            <a:extLst>
              <a:ext uri="{FF2B5EF4-FFF2-40B4-BE49-F238E27FC236}">
                <a16:creationId xmlns:a16="http://schemas.microsoft.com/office/drawing/2014/main" id="{610472ED-08B7-8395-2F57-C4C10B434FC3}"/>
              </a:ext>
            </a:extLst>
          </p:cNvPr>
          <p:cNvSpPr>
            <a:spLocks noGrp="1"/>
          </p:cNvSpPr>
          <p:nvPr>
            <p:ph type="dt" sz="half" idx="10"/>
          </p:nvPr>
        </p:nvSpPr>
        <p:spPr/>
        <p:txBody>
          <a:bodyPr/>
          <a:lstStyle/>
          <a:p>
            <a:fld id="{DCC55CF6-9308-4A2D-B250-45B466A25C87}" type="datetime1">
              <a:rPr lang="en-US" smtClean="0"/>
              <a:t>7/23/2026</a:t>
            </a:fld>
            <a:endParaRPr lang="en-US"/>
          </a:p>
        </p:txBody>
      </p:sp>
      <p:sp>
        <p:nvSpPr>
          <p:cNvPr id="11" name="Footer Placeholder 10">
            <a:extLst>
              <a:ext uri="{FF2B5EF4-FFF2-40B4-BE49-F238E27FC236}">
                <a16:creationId xmlns:a16="http://schemas.microsoft.com/office/drawing/2014/main" id="{424AD56A-9DA2-74BB-5697-856A10CB4A1F}"/>
              </a:ext>
            </a:extLst>
          </p:cNvPr>
          <p:cNvSpPr>
            <a:spLocks noGrp="1"/>
          </p:cNvSpPr>
          <p:nvPr>
            <p:ph type="ftr" sz="quarter" idx="11"/>
          </p:nvPr>
        </p:nvSpPr>
        <p:spPr/>
        <p:txBody>
          <a:bodyPr/>
          <a:lstStyle/>
          <a:p>
            <a:r>
              <a:rPr lang="en-US"/>
              <a:t>Summer School for Researcher, 2026</a:t>
            </a:r>
          </a:p>
        </p:txBody>
      </p:sp>
      <p:sp>
        <p:nvSpPr>
          <p:cNvPr id="12" name="Slide Number Placeholder 11">
            <a:extLst>
              <a:ext uri="{FF2B5EF4-FFF2-40B4-BE49-F238E27FC236}">
                <a16:creationId xmlns:a16="http://schemas.microsoft.com/office/drawing/2014/main" id="{03819BF4-9B82-D939-95D0-CF59EF26CAC5}"/>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38387"/>
            <a:ext cx="11049000" cy="2819400"/>
          </a:xfrm>
          <a:prstGeom prst="rect">
            <a:avLst/>
          </a:prstGeom>
        </p:spPr>
      </p:pic>
      <p:graphicFrame>
        <p:nvGraphicFramePr>
          <p:cNvPr id="4" name="Table 3"/>
          <p:cNvGraphicFramePr>
            <a:graphicFrameLocks noGrp="1"/>
          </p:cNvGraphicFramePr>
          <p:nvPr/>
        </p:nvGraphicFramePr>
        <p:xfrm>
          <a:off x="581025" y="2347912"/>
          <a:ext cx="11029948" cy="2800350"/>
        </p:xfrm>
        <a:graphic>
          <a:graphicData uri="http://schemas.openxmlformats.org/drawingml/2006/table">
            <a:tbl>
              <a:tblPr firstRow="1" bandRow="1">
                <a:tableStyleId>{5C22544A-7EE6-4342-B048-85BDC9FD1C3A}</a:tableStyleId>
              </a:tblPr>
              <a:tblGrid>
                <a:gridCol w="2384821">
                  <a:extLst>
                    <a:ext uri="{9D8B030D-6E8A-4147-A177-3AD203B41FA5}">
                      <a16:colId xmlns:a16="http://schemas.microsoft.com/office/drawing/2014/main" val="20000"/>
                    </a:ext>
                  </a:extLst>
                </a:gridCol>
                <a:gridCol w="4570958">
                  <a:extLst>
                    <a:ext uri="{9D8B030D-6E8A-4147-A177-3AD203B41FA5}">
                      <a16:colId xmlns:a16="http://schemas.microsoft.com/office/drawing/2014/main" val="20001"/>
                    </a:ext>
                  </a:extLst>
                </a:gridCol>
                <a:gridCol w="4074169">
                  <a:extLst>
                    <a:ext uri="{9D8B030D-6E8A-4147-A177-3AD203B41FA5}">
                      <a16:colId xmlns:a16="http://schemas.microsoft.com/office/drawing/2014/main" val="20002"/>
                    </a:ext>
                  </a:extLst>
                </a:gridCol>
              </a:tblGrid>
              <a:tr h="560070">
                <a:tc>
                  <a:txBody>
                    <a:bodyPr/>
                    <a:lstStyle/>
                    <a:p>
                      <a:pPr algn="l"/>
                      <a:r>
                        <a:rPr sz="1350" b="0" i="0" u="none">
                          <a:solidFill>
                            <a:srgbClr val="FFFFFF"/>
                          </a:solidFill>
                          <a:latin typeface="Montserrat SemiBold"/>
                        </a:rPr>
                        <a:t>Tiêu chí đánh giá</a:t>
                      </a:r>
                    </a:p>
                  </a:txBody>
                  <a:tcPr marL="63500" marR="63500" marT="25400" marB="25400" anchor="ctr">
                    <a:lnL>
                      <a:noFill/>
                    </a:lnL>
                    <a:lnR>
                      <a:noFill/>
                    </a:lnR>
                    <a:lnT>
                      <a:noFill/>
                    </a:lnT>
                    <a:lnB>
                      <a:noFill/>
                    </a:lnB>
                    <a:solidFill>
                      <a:srgbClr val="0F172A"/>
                    </a:solidFill>
                  </a:tcPr>
                </a:tc>
                <a:tc>
                  <a:txBody>
                    <a:bodyPr/>
                    <a:lstStyle/>
                    <a:p>
                      <a:pPr algn="l"/>
                      <a:r>
                        <a:rPr sz="1350" b="0" i="0" u="none">
                          <a:solidFill>
                            <a:srgbClr val="FFFFFF"/>
                          </a:solidFill>
                          <a:latin typeface="Montserrat SemiBold"/>
                        </a:rPr>
                        <a:t>Công bố Chuẩn mực</a:t>
                      </a:r>
                    </a:p>
                  </a:txBody>
                  <a:tcPr marL="63500" marR="63500" marT="25400" marB="25400" anchor="ctr">
                    <a:lnL>
                      <a:noFill/>
                    </a:lnL>
                    <a:lnR>
                      <a:noFill/>
                    </a:lnR>
                    <a:lnT>
                      <a:noFill/>
                    </a:lnT>
                    <a:lnB>
                      <a:noFill/>
                    </a:lnB>
                    <a:solidFill>
                      <a:srgbClr val="0F172A"/>
                    </a:solidFill>
                  </a:tcPr>
                </a:tc>
                <a:tc>
                  <a:txBody>
                    <a:bodyPr/>
                    <a:lstStyle/>
                    <a:p>
                      <a:pPr algn="l"/>
                      <a:r>
                        <a:rPr sz="1350" b="0" i="0" u="none">
                          <a:solidFill>
                            <a:srgbClr val="FFFFFF"/>
                          </a:solidFill>
                          <a:latin typeface="Montserrat SemiBold"/>
                        </a:rPr>
                        <a:t>Vi phạm Liêm chính</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560070">
                <a:tc>
                  <a:txBody>
                    <a:bodyPr/>
                    <a:lstStyle/>
                    <a:p>
                      <a:pPr algn="l"/>
                      <a:r>
                        <a:rPr sz="1275" b="1" i="0" u="none">
                          <a:solidFill>
                            <a:srgbClr val="334155"/>
                          </a:solidFill>
                          <a:latin typeface="Plus Jakarta Sans"/>
                        </a:rPr>
                        <a:t>Minh bạch Dữ liệu</a:t>
                      </a:r>
                    </a:p>
                  </a:txBody>
                  <a:tcPr marL="63500" marR="63500" marT="25400" marB="25400" anchor="ctr">
                    <a:lnL>
                      <a:noFill/>
                    </a:lnL>
                    <a:lnR>
                      <a:noFill/>
                    </a:lnR>
                    <a:lnT>
                      <a:noFill/>
                    </a:lnT>
                    <a:lnB>
                      <a:noFill/>
                    </a:lnB>
                    <a:noFill/>
                  </a:tcPr>
                </a:tc>
                <a:tc>
                  <a:txBody>
                    <a:bodyPr/>
                    <a:lstStyle/>
                    <a:p>
                      <a:pPr algn="l"/>
                      <a:r>
                        <a:rPr sz="1275" b="0" i="0" u="none">
                          <a:solidFill>
                            <a:srgbClr val="334155"/>
                          </a:solidFill>
                          <a:latin typeface="Plus Jakarta Sans"/>
                        </a:rPr>
                        <a:t>Sẵn sàng chia sẻ dữ liệu thô để kiểm chứng</a:t>
                      </a:r>
                    </a:p>
                  </a:txBody>
                  <a:tcPr marL="63500" marR="63500" marT="25400" marB="25400" anchor="ctr">
                    <a:lnL>
                      <a:noFill/>
                    </a:lnL>
                    <a:lnR>
                      <a:noFill/>
                    </a:lnR>
                    <a:lnT>
                      <a:noFill/>
                    </a:lnT>
                    <a:lnB>
                      <a:noFill/>
                    </a:lnB>
                    <a:noFill/>
                  </a:tcPr>
                </a:tc>
                <a:tc>
                  <a:txBody>
                    <a:bodyPr/>
                    <a:lstStyle/>
                    <a:p>
                      <a:pPr algn="l"/>
                      <a:r>
                        <a:rPr sz="1275" b="0" i="0" u="none">
                          <a:solidFill>
                            <a:srgbClr val="334155"/>
                          </a:solidFill>
                          <a:latin typeface="Plus Jakarta Sans"/>
                        </a:rPr>
                        <a:t>Che giấu, tiêu hủy hoặc làm giả dữ liệu</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60070">
                <a:tc>
                  <a:txBody>
                    <a:bodyPr/>
                    <a:lstStyle/>
                    <a:p>
                      <a:pPr algn="l"/>
                      <a:r>
                        <a:rPr sz="1275" b="1" i="0" u="none">
                          <a:solidFill>
                            <a:srgbClr val="334155"/>
                          </a:solidFill>
                          <a:latin typeface="Plus Jakarta Sans"/>
                        </a:rPr>
                        <a:t>Phản biện Đồng đẳng</a:t>
                      </a:r>
                    </a:p>
                  </a:txBody>
                  <a:tcPr marL="63500" marR="63500" marT="25400" marB="25400" anchor="ctr">
                    <a:lnL>
                      <a:noFill/>
                    </a:lnL>
                    <a:lnR>
                      <a:noFill/>
                    </a:lnR>
                    <a:lnT>
                      <a:noFill/>
                    </a:lnT>
                    <a:lnB>
                      <a:noFill/>
                    </a:lnB>
                    <a:solidFill>
                      <a:srgbClr val="F8FAFC"/>
                    </a:solidFill>
                  </a:tcPr>
                </a:tc>
                <a:tc>
                  <a:txBody>
                    <a:bodyPr/>
                    <a:lstStyle/>
                    <a:p>
                      <a:pPr algn="l"/>
                      <a:r>
                        <a:rPr sz="1275" b="0" i="0" u="none">
                          <a:solidFill>
                            <a:srgbClr val="334155"/>
                          </a:solidFill>
                          <a:latin typeface="Plus Jakarta Sans"/>
                        </a:rPr>
                        <a:t>Đánh giá độc lập nghiêm túc từ 2-3 chuyên gia</a:t>
                      </a:r>
                    </a:p>
                  </a:txBody>
                  <a:tcPr marL="63500" marR="63500" marT="25400" marB="25400" anchor="ctr">
                    <a:lnL>
                      <a:noFill/>
                    </a:lnL>
                    <a:lnR>
                      <a:noFill/>
                    </a:lnR>
                    <a:lnT>
                      <a:noFill/>
                    </a:lnT>
                    <a:lnB>
                      <a:noFill/>
                    </a:lnB>
                    <a:solidFill>
                      <a:srgbClr val="F8FAFC"/>
                    </a:solidFill>
                  </a:tcPr>
                </a:tc>
                <a:tc>
                  <a:txBody>
                    <a:bodyPr/>
                    <a:lstStyle/>
                    <a:p>
                      <a:pPr algn="l"/>
                      <a:r>
                        <a:rPr sz="1275" b="0" i="0" u="none">
                          <a:solidFill>
                            <a:srgbClr val="334155"/>
                          </a:solidFill>
                          <a:latin typeface="Plus Jakarta Sans"/>
                        </a:rPr>
                        <a:t>Mua bán bài, dàn xếp phản biện ảo</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560070">
                <a:tc>
                  <a:txBody>
                    <a:bodyPr/>
                    <a:lstStyle/>
                    <a:p>
                      <a:pPr algn="l"/>
                      <a:r>
                        <a:rPr sz="1275" b="1" i="0" u="none">
                          <a:solidFill>
                            <a:srgbClr val="334155"/>
                          </a:solidFill>
                          <a:latin typeface="Plus Jakarta Sans"/>
                        </a:rPr>
                        <a:t>Xung đột Lợi ích</a:t>
                      </a:r>
                    </a:p>
                  </a:txBody>
                  <a:tcPr marL="63500" marR="63500" marT="25400" marB="25400" anchor="ctr">
                    <a:lnL>
                      <a:noFill/>
                    </a:lnL>
                    <a:lnR>
                      <a:noFill/>
                    </a:lnR>
                    <a:lnT>
                      <a:noFill/>
                    </a:lnT>
                    <a:lnB>
                      <a:noFill/>
                    </a:lnB>
                    <a:noFill/>
                  </a:tcPr>
                </a:tc>
                <a:tc>
                  <a:txBody>
                    <a:bodyPr/>
                    <a:lstStyle/>
                    <a:p>
                      <a:pPr algn="l"/>
                      <a:r>
                        <a:rPr sz="1275" b="0" i="0" u="none">
                          <a:solidFill>
                            <a:srgbClr val="334155"/>
                          </a:solidFill>
                          <a:latin typeface="Plus Jakarta Sans"/>
                        </a:rPr>
                        <a:t>Tuyên bố công khai nguồn tài trợ và quan hệ</a:t>
                      </a:r>
                    </a:p>
                  </a:txBody>
                  <a:tcPr marL="63500" marR="63500" marT="25400" marB="25400" anchor="ctr">
                    <a:lnL>
                      <a:noFill/>
                    </a:lnL>
                    <a:lnR>
                      <a:noFill/>
                    </a:lnR>
                    <a:lnT>
                      <a:noFill/>
                    </a:lnT>
                    <a:lnB>
                      <a:noFill/>
                    </a:lnB>
                    <a:noFill/>
                  </a:tcPr>
                </a:tc>
                <a:tc>
                  <a:txBody>
                    <a:bodyPr/>
                    <a:lstStyle/>
                    <a:p>
                      <a:pPr algn="l"/>
                      <a:r>
                        <a:rPr sz="1275" b="0" i="0" u="none">
                          <a:solidFill>
                            <a:srgbClr val="334155"/>
                          </a:solidFill>
                          <a:latin typeface="Plus Jakarta Sans"/>
                        </a:rPr>
                        <a:t>Che giấu xung đột tài chính hoặc cá nhân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560070">
                <a:tc>
                  <a:txBody>
                    <a:bodyPr/>
                    <a:lstStyle/>
                    <a:p>
                      <a:pPr algn="l"/>
                      <a:r>
                        <a:rPr sz="1275" b="1" i="0" u="none">
                          <a:solidFill>
                            <a:srgbClr val="334155"/>
                          </a:solidFill>
                          <a:latin typeface="Plus Jakarta Sans"/>
                        </a:rPr>
                        <a:t>Quyền Tác giả</a:t>
                      </a:r>
                    </a:p>
                  </a:txBody>
                  <a:tcPr marL="63500" marR="63500" marT="25400" marB="25400" anchor="ctr">
                    <a:lnL>
                      <a:noFill/>
                    </a:lnL>
                    <a:lnR>
                      <a:noFill/>
                    </a:lnR>
                    <a:lnT>
                      <a:noFill/>
                    </a:lnT>
                    <a:lnB>
                      <a:noFill/>
                    </a:lnB>
                    <a:solidFill>
                      <a:srgbClr val="F8FAFC"/>
                    </a:solidFill>
                  </a:tcPr>
                </a:tc>
                <a:tc>
                  <a:txBody>
                    <a:bodyPr/>
                    <a:lstStyle/>
                    <a:p>
                      <a:pPr algn="l"/>
                      <a:r>
                        <a:rPr sz="1275" b="0" i="0" u="none">
                          <a:solidFill>
                            <a:srgbClr val="334155"/>
                          </a:solidFill>
                          <a:latin typeface="Plus Jakarta Sans"/>
                        </a:rPr>
                        <a:t>Đúng vai trò theo tiêu chuẩn quốc tế (ICMJE)</a:t>
                      </a:r>
                    </a:p>
                  </a:txBody>
                  <a:tcPr marL="63500" marR="63500" marT="25400" marB="25400" anchor="ctr">
                    <a:lnL>
                      <a:noFill/>
                    </a:lnL>
                    <a:lnR>
                      <a:noFill/>
                    </a:lnR>
                    <a:lnT>
                      <a:noFill/>
                    </a:lnT>
                    <a:lnB>
                      <a:noFill/>
                    </a:lnB>
                    <a:solidFill>
                      <a:srgbClr val="F8FAFC"/>
                    </a:solidFill>
                  </a:tcPr>
                </a:tc>
                <a:tc>
                  <a:txBody>
                    <a:bodyPr/>
                    <a:lstStyle/>
                    <a:p>
                      <a:pPr algn="l"/>
                      <a:r>
                        <a:rPr sz="1275" b="0" i="0" u="none">
                          <a:solidFill>
                            <a:srgbClr val="334155"/>
                          </a:solidFill>
                          <a:latin typeface="Plus Jakarta Sans"/>
                        </a:rPr>
                        <a:t>Đứng tên thuê, bán suất tác giả</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581025" y="2905125"/>
            <a:ext cx="23848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965846" y="2905125"/>
            <a:ext cx="45709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36805" y="2905125"/>
            <a:ext cx="40741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1025" y="3462337"/>
            <a:ext cx="23848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965846" y="3462337"/>
            <a:ext cx="45709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36805" y="3462337"/>
            <a:ext cx="40741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81025" y="4019550"/>
            <a:ext cx="23848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65846" y="4019550"/>
            <a:ext cx="45709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36805" y="4019550"/>
            <a:ext cx="40741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81025" y="4576762"/>
            <a:ext cx="23848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965846" y="4576762"/>
            <a:ext cx="45709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36805" y="4576762"/>
            <a:ext cx="40741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81025" y="5133975"/>
            <a:ext cx="23848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965846" y="5133975"/>
            <a:ext cx="457095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536805" y="5133975"/>
            <a:ext cx="407416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So sánh Quy trình Xuất bản</a:t>
            </a:r>
          </a:p>
        </p:txBody>
      </p:sp>
      <p:sp>
        <p:nvSpPr>
          <p:cNvPr id="21" name="Rounded Rectangle 20"/>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ate Placeholder 21">
            <a:extLst>
              <a:ext uri="{FF2B5EF4-FFF2-40B4-BE49-F238E27FC236}">
                <a16:creationId xmlns:a16="http://schemas.microsoft.com/office/drawing/2014/main" id="{21DE0726-728C-9422-7C20-090539285600}"/>
              </a:ext>
            </a:extLst>
          </p:cNvPr>
          <p:cNvSpPr>
            <a:spLocks noGrp="1"/>
          </p:cNvSpPr>
          <p:nvPr>
            <p:ph type="dt" sz="half" idx="10"/>
          </p:nvPr>
        </p:nvSpPr>
        <p:spPr/>
        <p:txBody>
          <a:bodyPr/>
          <a:lstStyle/>
          <a:p>
            <a:fld id="{8D264782-1225-4529-A9AD-DF7956CE485C}" type="datetime1">
              <a:rPr lang="en-US" smtClean="0"/>
              <a:t>7/23/2026</a:t>
            </a:fld>
            <a:endParaRPr lang="en-US"/>
          </a:p>
        </p:txBody>
      </p:sp>
      <p:sp>
        <p:nvSpPr>
          <p:cNvPr id="23" name="Footer Placeholder 22">
            <a:extLst>
              <a:ext uri="{FF2B5EF4-FFF2-40B4-BE49-F238E27FC236}">
                <a16:creationId xmlns:a16="http://schemas.microsoft.com/office/drawing/2014/main" id="{FBA3820D-8F70-8086-D02B-054BFA20FF13}"/>
              </a:ext>
            </a:extLst>
          </p:cNvPr>
          <p:cNvSpPr>
            <a:spLocks noGrp="1"/>
          </p:cNvSpPr>
          <p:nvPr>
            <p:ph type="ftr" sz="quarter" idx="11"/>
          </p:nvPr>
        </p:nvSpPr>
        <p:spPr/>
        <p:txBody>
          <a:bodyPr/>
          <a:lstStyle/>
          <a:p>
            <a:r>
              <a:rPr lang="en-US"/>
              <a:t>Summer School for Researcher, 2026</a:t>
            </a:r>
          </a:p>
        </p:txBody>
      </p:sp>
      <p:sp>
        <p:nvSpPr>
          <p:cNvPr id="24" name="Slide Number Placeholder 23">
            <a:extLst>
              <a:ext uri="{FF2B5EF4-FFF2-40B4-BE49-F238E27FC236}">
                <a16:creationId xmlns:a16="http://schemas.microsoft.com/office/drawing/2014/main" id="{C76DB271-169F-FBCA-20A7-5AD9495697A9}"/>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557712"/>
            <a:ext cx="11049000" cy="685800"/>
          </a:xfrm>
          <a:prstGeom prst="rect">
            <a:avLst/>
          </a:prstGeom>
        </p:spPr>
      </p:pic>
      <p:pic>
        <p:nvPicPr>
          <p:cNvPr id="4" name="Picture 3" descr="image.png"/>
          <p:cNvPicPr>
            <a:picLocks noChangeAspect="1"/>
          </p:cNvPicPr>
          <p:nvPr/>
        </p:nvPicPr>
        <p:blipFill>
          <a:blip r:embed="rId4"/>
          <a:stretch>
            <a:fillRect/>
          </a:stretch>
        </p:blipFill>
        <p:spPr>
          <a:xfrm>
            <a:off x="571500" y="1114425"/>
            <a:ext cx="11049000" cy="5267325"/>
          </a:xfrm>
          <a:prstGeom prst="rect">
            <a:avLst/>
          </a:prstGeom>
        </p:spPr>
      </p:pic>
      <p:sp>
        <p:nvSpPr>
          <p:cNvPr id="5" name="TextBox 4"/>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Yếu tố Dẫn đến Vi phạm</a:t>
            </a:r>
          </a:p>
        </p:txBody>
      </p:sp>
      <p:sp>
        <p:nvSpPr>
          <p:cNvPr id="6" name="Rounded Rectangle 5"/>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ate Placeholder 6">
            <a:extLst>
              <a:ext uri="{FF2B5EF4-FFF2-40B4-BE49-F238E27FC236}">
                <a16:creationId xmlns:a16="http://schemas.microsoft.com/office/drawing/2014/main" id="{060875F2-B397-B347-5F1C-B206D97C4B17}"/>
              </a:ext>
            </a:extLst>
          </p:cNvPr>
          <p:cNvSpPr>
            <a:spLocks noGrp="1"/>
          </p:cNvSpPr>
          <p:nvPr>
            <p:ph type="dt" sz="half" idx="10"/>
          </p:nvPr>
        </p:nvSpPr>
        <p:spPr/>
        <p:txBody>
          <a:bodyPr/>
          <a:lstStyle/>
          <a:p>
            <a:fld id="{B4BD78E8-FB65-4049-97C1-77F9271933BA}" type="datetime1">
              <a:rPr lang="en-US" smtClean="0"/>
              <a:t>7/23/2026</a:t>
            </a:fld>
            <a:endParaRPr lang="en-US"/>
          </a:p>
        </p:txBody>
      </p:sp>
      <p:sp>
        <p:nvSpPr>
          <p:cNvPr id="8" name="Footer Placeholder 7">
            <a:extLst>
              <a:ext uri="{FF2B5EF4-FFF2-40B4-BE49-F238E27FC236}">
                <a16:creationId xmlns:a16="http://schemas.microsoft.com/office/drawing/2014/main" id="{FDEDF052-635F-7148-9E13-DDAE8DF3135F}"/>
              </a:ext>
            </a:extLst>
          </p:cNvPr>
          <p:cNvSpPr>
            <a:spLocks noGrp="1"/>
          </p:cNvSpPr>
          <p:nvPr>
            <p:ph type="ftr" sz="quarter" idx="11"/>
          </p:nvPr>
        </p:nvSpPr>
        <p:spPr/>
        <p:txBody>
          <a:bodyPr/>
          <a:lstStyle/>
          <a:p>
            <a:r>
              <a:rPr lang="en-US"/>
              <a:t>Summer School for Researcher, 2026</a:t>
            </a:r>
          </a:p>
        </p:txBody>
      </p:sp>
      <p:sp>
        <p:nvSpPr>
          <p:cNvPr id="9" name="Slide Number Placeholder 8">
            <a:extLst>
              <a:ext uri="{FF2B5EF4-FFF2-40B4-BE49-F238E27FC236}">
                <a16:creationId xmlns:a16="http://schemas.microsoft.com/office/drawing/2014/main" id="{CD793754-5FB7-563D-3384-6B4AD34BB058}"/>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19325"/>
            <a:ext cx="3492549" cy="2095500"/>
          </a:xfrm>
          <a:prstGeom prst="rect">
            <a:avLst/>
          </a:prstGeom>
        </p:spPr>
      </p:pic>
      <p:pic>
        <p:nvPicPr>
          <p:cNvPr id="4" name="Picture 3" descr="image.png"/>
          <p:cNvPicPr>
            <a:picLocks noChangeAspect="1"/>
          </p:cNvPicPr>
          <p:nvPr/>
        </p:nvPicPr>
        <p:blipFill>
          <a:blip r:embed="rId4"/>
          <a:stretch>
            <a:fillRect/>
          </a:stretch>
        </p:blipFill>
        <p:spPr>
          <a:xfrm>
            <a:off x="4349799" y="2219325"/>
            <a:ext cx="3492549" cy="2095500"/>
          </a:xfrm>
          <a:prstGeom prst="rect">
            <a:avLst/>
          </a:prstGeom>
        </p:spPr>
      </p:pic>
      <p:pic>
        <p:nvPicPr>
          <p:cNvPr id="5" name="Picture 4" descr="image.png"/>
          <p:cNvPicPr>
            <a:picLocks noChangeAspect="1"/>
          </p:cNvPicPr>
          <p:nvPr/>
        </p:nvPicPr>
        <p:blipFill>
          <a:blip r:embed="rId5"/>
          <a:stretch>
            <a:fillRect/>
          </a:stretch>
        </p:blipFill>
        <p:spPr>
          <a:xfrm>
            <a:off x="8128099" y="2219325"/>
            <a:ext cx="3492549" cy="2095500"/>
          </a:xfrm>
          <a:prstGeom prst="rect">
            <a:avLst/>
          </a:prstGeom>
        </p:spPr>
      </p:pic>
      <p:sp>
        <p:nvSpPr>
          <p:cNvPr id="6" name="TextBox 5"/>
          <p:cNvSpPr txBox="1"/>
          <p:nvPr/>
        </p:nvSpPr>
        <p:spPr>
          <a:xfrm>
            <a:off x="484186" y="4457700"/>
            <a:ext cx="3667177" cy="219075"/>
          </a:xfrm>
          <a:prstGeom prst="rect">
            <a:avLst/>
          </a:prstGeom>
          <a:noFill/>
        </p:spPr>
        <p:txBody>
          <a:bodyPr wrap="square" lIns="0" tIns="0" rIns="0" bIns="0" anchor="t">
            <a:spAutoFit/>
          </a:bodyPr>
          <a:lstStyle/>
          <a:p>
            <a:pPr algn="ctr"/>
            <a:r>
              <a:rPr sz="1425" b="0" i="0" u="none">
                <a:solidFill>
                  <a:srgbClr val="0F172A"/>
                </a:solidFill>
                <a:latin typeface="Montserrat SemiBold"/>
              </a:rPr>
              <a:t>Đào tạo Bắt buộc</a:t>
            </a:r>
          </a:p>
        </p:txBody>
      </p:sp>
      <p:sp>
        <p:nvSpPr>
          <p:cNvPr id="7" name="TextBox 6"/>
          <p:cNvSpPr txBox="1"/>
          <p:nvPr/>
        </p:nvSpPr>
        <p:spPr>
          <a:xfrm>
            <a:off x="571500" y="4733925"/>
            <a:ext cx="3492549" cy="428625"/>
          </a:xfrm>
          <a:prstGeom prst="rect">
            <a:avLst/>
          </a:prstGeom>
          <a:noFill/>
        </p:spPr>
        <p:txBody>
          <a:bodyPr wrap="square" lIns="0" tIns="0" rIns="0" bIns="0" anchor="t">
            <a:spAutoFit/>
          </a:bodyPr>
          <a:lstStyle/>
          <a:p>
            <a:pPr algn="ctr">
              <a:lnSpc>
                <a:spcPts val="1687"/>
              </a:lnSpc>
            </a:pPr>
            <a:r>
              <a:rPr sz="1125" b="0" i="0" u="none">
                <a:solidFill>
                  <a:srgbClr val="475569"/>
                </a:solidFill>
                <a:latin typeface="Plus Jakarta Sans"/>
              </a:rPr>
              <a:t>Đưa môn học Đạo đức Nghiên cứu vào chương trình đào tạo sau đại học.</a:t>
            </a:r>
          </a:p>
        </p:txBody>
      </p:sp>
      <p:sp>
        <p:nvSpPr>
          <p:cNvPr id="8" name="TextBox 7"/>
          <p:cNvSpPr txBox="1"/>
          <p:nvPr/>
        </p:nvSpPr>
        <p:spPr>
          <a:xfrm>
            <a:off x="4262485" y="4457700"/>
            <a:ext cx="3667177" cy="219075"/>
          </a:xfrm>
          <a:prstGeom prst="rect">
            <a:avLst/>
          </a:prstGeom>
          <a:noFill/>
        </p:spPr>
        <p:txBody>
          <a:bodyPr wrap="square" lIns="0" tIns="0" rIns="0" bIns="0" anchor="t">
            <a:spAutoFit/>
          </a:bodyPr>
          <a:lstStyle/>
          <a:p>
            <a:pPr algn="ctr"/>
            <a:r>
              <a:rPr sz="1425" b="0" i="0" u="none">
                <a:solidFill>
                  <a:srgbClr val="0F172A"/>
                </a:solidFill>
                <a:latin typeface="Montserrat SemiBold"/>
              </a:rPr>
              <a:t>Tăng cường Giám sát</a:t>
            </a:r>
          </a:p>
        </p:txBody>
      </p:sp>
      <p:sp>
        <p:nvSpPr>
          <p:cNvPr id="9" name="TextBox 8"/>
          <p:cNvSpPr txBox="1"/>
          <p:nvPr/>
        </p:nvSpPr>
        <p:spPr>
          <a:xfrm>
            <a:off x="4349799" y="4733925"/>
            <a:ext cx="3492549" cy="428625"/>
          </a:xfrm>
          <a:prstGeom prst="rect">
            <a:avLst/>
          </a:prstGeom>
          <a:noFill/>
        </p:spPr>
        <p:txBody>
          <a:bodyPr wrap="square" lIns="0" tIns="0" rIns="0" bIns="0" anchor="t">
            <a:spAutoFit/>
          </a:bodyPr>
          <a:lstStyle/>
          <a:p>
            <a:pPr algn="ctr">
              <a:lnSpc>
                <a:spcPts val="1687"/>
              </a:lnSpc>
            </a:pPr>
            <a:r>
              <a:rPr sz="1125" b="0" i="0" u="none">
                <a:solidFill>
                  <a:srgbClr val="475569"/>
                </a:solidFill>
                <a:latin typeface="Plus Jakarta Sans"/>
              </a:rPr>
              <a:t>Sử dụng phần mềm quét trùng lặp và công khai dữ liệu mở (Open Data).</a:t>
            </a:r>
          </a:p>
        </p:txBody>
      </p:sp>
      <p:sp>
        <p:nvSpPr>
          <p:cNvPr id="10" name="TextBox 9"/>
          <p:cNvSpPr txBox="1"/>
          <p:nvPr/>
        </p:nvSpPr>
        <p:spPr>
          <a:xfrm>
            <a:off x="8040785" y="4457700"/>
            <a:ext cx="3667177" cy="219075"/>
          </a:xfrm>
          <a:prstGeom prst="rect">
            <a:avLst/>
          </a:prstGeom>
          <a:noFill/>
        </p:spPr>
        <p:txBody>
          <a:bodyPr wrap="square" lIns="0" tIns="0" rIns="0" bIns="0" anchor="t">
            <a:spAutoFit/>
          </a:bodyPr>
          <a:lstStyle/>
          <a:p>
            <a:pPr algn="ctr"/>
            <a:r>
              <a:rPr sz="1425" b="0" i="0" u="none">
                <a:solidFill>
                  <a:srgbClr val="0F172A"/>
                </a:solidFill>
                <a:latin typeface="Montserrat SemiBold"/>
              </a:rPr>
              <a:t>Chế tài Nghiêm minh</a:t>
            </a:r>
          </a:p>
        </p:txBody>
      </p:sp>
      <p:sp>
        <p:nvSpPr>
          <p:cNvPr id="11" name="TextBox 10"/>
          <p:cNvSpPr txBox="1"/>
          <p:nvPr/>
        </p:nvSpPr>
        <p:spPr>
          <a:xfrm>
            <a:off x="8128099" y="4733925"/>
            <a:ext cx="3492549" cy="428625"/>
          </a:xfrm>
          <a:prstGeom prst="rect">
            <a:avLst/>
          </a:prstGeom>
          <a:noFill/>
        </p:spPr>
        <p:txBody>
          <a:bodyPr wrap="square" lIns="0" tIns="0" rIns="0" bIns="0" anchor="t">
            <a:spAutoFit/>
          </a:bodyPr>
          <a:lstStyle/>
          <a:p>
            <a:pPr algn="ctr">
              <a:lnSpc>
                <a:spcPts val="1687"/>
              </a:lnSpc>
            </a:pPr>
            <a:r>
              <a:rPr sz="1125" b="0" i="0" u="none">
                <a:solidFill>
                  <a:srgbClr val="475569"/>
                </a:solidFill>
                <a:latin typeface="Plus Jakarta Sans"/>
              </a:rPr>
              <a:t>Ban hành khung xử lý vi phạm rõ ràng và thu hồi danh hiệu khi sai phạm.</a:t>
            </a:r>
          </a:p>
        </p:txBody>
      </p:sp>
      <p:pic>
        <p:nvPicPr>
          <p:cNvPr id="12" name="Picture 11" descr="image.png"/>
          <p:cNvPicPr>
            <a:picLocks noChangeAspect="1"/>
          </p:cNvPicPr>
          <p:nvPr/>
        </p:nvPicPr>
        <p:blipFill>
          <a:blip r:embed="rId6"/>
          <a:stretch>
            <a:fillRect/>
          </a:stretch>
        </p:blipFill>
        <p:spPr>
          <a:xfrm>
            <a:off x="571500" y="2219325"/>
            <a:ext cx="3492549" cy="2095500"/>
          </a:xfrm>
          <a:prstGeom prst="rect">
            <a:avLst/>
          </a:prstGeom>
        </p:spPr>
      </p:pic>
      <p:pic>
        <p:nvPicPr>
          <p:cNvPr id="13" name="Picture 12" descr="image.png"/>
          <p:cNvPicPr>
            <a:picLocks noChangeAspect="1"/>
          </p:cNvPicPr>
          <p:nvPr/>
        </p:nvPicPr>
        <p:blipFill>
          <a:blip r:embed="rId7"/>
          <a:stretch>
            <a:fillRect/>
          </a:stretch>
        </p:blipFill>
        <p:spPr>
          <a:xfrm>
            <a:off x="4349799" y="2219325"/>
            <a:ext cx="3492549" cy="2095500"/>
          </a:xfrm>
          <a:prstGeom prst="rect">
            <a:avLst/>
          </a:prstGeom>
        </p:spPr>
      </p:pic>
      <p:pic>
        <p:nvPicPr>
          <p:cNvPr id="14" name="Picture 13" descr="image.png"/>
          <p:cNvPicPr>
            <a:picLocks noChangeAspect="1"/>
          </p:cNvPicPr>
          <p:nvPr/>
        </p:nvPicPr>
        <p:blipFill>
          <a:blip r:embed="rId8"/>
          <a:stretch>
            <a:fillRect/>
          </a:stretch>
        </p:blipFill>
        <p:spPr>
          <a:xfrm>
            <a:off x="8128099" y="2219325"/>
            <a:ext cx="3492549" cy="2095500"/>
          </a:xfrm>
          <a:prstGeom prst="rect">
            <a:avLst/>
          </a:prstGeom>
        </p:spPr>
      </p:pic>
      <p:sp>
        <p:nvSpPr>
          <p:cNvPr id="15" name="TextBox 14"/>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Giải pháp Xây dựng Văn hóa Liêm chính</a:t>
            </a:r>
          </a:p>
        </p:txBody>
      </p:sp>
      <p:sp>
        <p:nvSpPr>
          <p:cNvPr id="16" name="Rounded Rectangle 15"/>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ate Placeholder 16">
            <a:extLst>
              <a:ext uri="{FF2B5EF4-FFF2-40B4-BE49-F238E27FC236}">
                <a16:creationId xmlns:a16="http://schemas.microsoft.com/office/drawing/2014/main" id="{F8A52286-8461-40CA-D7FD-9FE8BE2D9738}"/>
              </a:ext>
            </a:extLst>
          </p:cNvPr>
          <p:cNvSpPr>
            <a:spLocks noGrp="1"/>
          </p:cNvSpPr>
          <p:nvPr>
            <p:ph type="dt" sz="half" idx="10"/>
          </p:nvPr>
        </p:nvSpPr>
        <p:spPr/>
        <p:txBody>
          <a:bodyPr/>
          <a:lstStyle/>
          <a:p>
            <a:fld id="{A67E5FA9-BD9B-49BF-A1B4-0145505FBBE0}" type="datetime1">
              <a:rPr lang="en-US" smtClean="0"/>
              <a:t>7/23/2026</a:t>
            </a:fld>
            <a:endParaRPr lang="en-US"/>
          </a:p>
        </p:txBody>
      </p:sp>
      <p:sp>
        <p:nvSpPr>
          <p:cNvPr id="18" name="Footer Placeholder 17">
            <a:extLst>
              <a:ext uri="{FF2B5EF4-FFF2-40B4-BE49-F238E27FC236}">
                <a16:creationId xmlns:a16="http://schemas.microsoft.com/office/drawing/2014/main" id="{6D5C5A48-9D5B-30C3-256A-8CA0173F9E62}"/>
              </a:ext>
            </a:extLst>
          </p:cNvPr>
          <p:cNvSpPr>
            <a:spLocks noGrp="1"/>
          </p:cNvSpPr>
          <p:nvPr>
            <p:ph type="ftr" sz="quarter" idx="11"/>
          </p:nvPr>
        </p:nvSpPr>
        <p:spPr/>
        <p:txBody>
          <a:bodyPr/>
          <a:lstStyle/>
          <a:p>
            <a:r>
              <a:rPr lang="en-US"/>
              <a:t>Summer School for Researcher, 2026</a:t>
            </a:r>
          </a:p>
        </p:txBody>
      </p:sp>
      <p:sp>
        <p:nvSpPr>
          <p:cNvPr id="19" name="Slide Number Placeholder 18">
            <a:extLst>
              <a:ext uri="{FF2B5EF4-FFF2-40B4-BE49-F238E27FC236}">
                <a16:creationId xmlns:a16="http://schemas.microsoft.com/office/drawing/2014/main" id="{A074E78D-D1DD-E5A1-FD32-D7A5E1F5DCBB}"/>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762125" y="2724150"/>
            <a:ext cx="9096375" cy="257175"/>
          </a:xfrm>
          <a:prstGeom prst="rect">
            <a:avLst/>
          </a:prstGeom>
          <a:noFill/>
        </p:spPr>
        <p:txBody>
          <a:bodyPr wrap="square" lIns="0" tIns="0" rIns="0" bIns="0" anchor="t">
            <a:spAutoFit/>
          </a:bodyPr>
          <a:lstStyle/>
          <a:p>
            <a:pPr algn="l">
              <a:lnSpc>
                <a:spcPts val="2025"/>
              </a:lnSpc>
            </a:pPr>
            <a:r>
              <a:rPr sz="1350" b="1" i="0" u="none">
                <a:solidFill>
                  <a:srgbClr val="334155"/>
                </a:solidFill>
                <a:latin typeface="Plus Jakarta Sans"/>
              </a:rPr>
              <a:t>Lưu trữ dữ liệu thô:</a:t>
            </a:r>
            <a:r>
              <a:rPr sz="1350" b="0" i="0" u="none">
                <a:solidFill>
                  <a:srgbClr val="334155"/>
                </a:solidFill>
                <a:latin typeface="Plus Jakarta Sans"/>
              </a:rPr>
              <a:t> Giữ lại toàn bộ nhật ký nghiên cứu và dữ liệu gốc tối thiểu 5 - 10 năm để sẵn sàng đối chứng.</a:t>
            </a:r>
          </a:p>
        </p:txBody>
      </p:sp>
      <p:sp>
        <p:nvSpPr>
          <p:cNvPr id="4" name="TextBox 3"/>
          <p:cNvSpPr txBox="1"/>
          <p:nvPr/>
        </p:nvSpPr>
        <p:spPr>
          <a:xfrm>
            <a:off x="1762125" y="3171825"/>
            <a:ext cx="9096375" cy="257175"/>
          </a:xfrm>
          <a:prstGeom prst="rect">
            <a:avLst/>
          </a:prstGeom>
          <a:noFill/>
        </p:spPr>
        <p:txBody>
          <a:bodyPr wrap="square" lIns="0" tIns="0" rIns="0" bIns="0" anchor="t">
            <a:spAutoFit/>
          </a:bodyPr>
          <a:lstStyle/>
          <a:p>
            <a:pPr algn="l">
              <a:lnSpc>
                <a:spcPts val="2025"/>
              </a:lnSpc>
            </a:pPr>
            <a:r>
              <a:rPr sz="1350" b="1" i="0" u="none">
                <a:solidFill>
                  <a:srgbClr val="334155"/>
                </a:solidFill>
                <a:latin typeface="Plus Jakarta Sans"/>
              </a:rPr>
              <a:t>Trích dẫn chuẩn mực:</a:t>
            </a:r>
            <a:r>
              <a:rPr sz="1350" b="0" i="0" u="none">
                <a:solidFill>
                  <a:srgbClr val="334155"/>
                </a:solidFill>
                <a:latin typeface="Plus Jakarta Sans"/>
              </a:rPr>
              <a:t> Luôn ghi rõ nguồn tham khảo ngay khi trích dẫn ý tưởng hoặc kết quả của đồng nghiệp.</a:t>
            </a:r>
          </a:p>
        </p:txBody>
      </p:sp>
      <p:sp>
        <p:nvSpPr>
          <p:cNvPr id="5" name="TextBox 4"/>
          <p:cNvSpPr txBox="1"/>
          <p:nvPr/>
        </p:nvSpPr>
        <p:spPr>
          <a:xfrm>
            <a:off x="1762125" y="3619500"/>
            <a:ext cx="9096375" cy="514350"/>
          </a:xfrm>
          <a:prstGeom prst="rect">
            <a:avLst/>
          </a:prstGeom>
          <a:noFill/>
        </p:spPr>
        <p:txBody>
          <a:bodyPr wrap="square" lIns="0" tIns="0" rIns="0" bIns="0" anchor="t">
            <a:spAutoFit/>
          </a:bodyPr>
          <a:lstStyle/>
          <a:p>
            <a:pPr algn="l">
              <a:lnSpc>
                <a:spcPts val="2025"/>
              </a:lnSpc>
            </a:pPr>
            <a:r>
              <a:rPr sz="1350" b="1" i="0" u="none">
                <a:solidFill>
                  <a:srgbClr val="334155"/>
                </a:solidFill>
                <a:latin typeface="Plus Jakarta Sans"/>
              </a:rPr>
              <a:t>Khai báo sử dụng AI:</a:t>
            </a:r>
            <a:r>
              <a:rPr sz="1350" b="0" i="0" u="none">
                <a:solidFill>
                  <a:srgbClr val="334155"/>
                </a:solidFill>
                <a:latin typeface="Plus Jakarta Sans"/>
              </a:rPr>
              <a:t> Minh bạch vai trò của các công cụ trí tuệ nhân tạo (ChatGPT, Copilot) trong quá trình soạn thảo.</a:t>
            </a:r>
          </a:p>
        </p:txBody>
      </p:sp>
      <p:sp>
        <p:nvSpPr>
          <p:cNvPr id="6" name="TextBox 5"/>
          <p:cNvSpPr txBox="1"/>
          <p:nvPr/>
        </p:nvSpPr>
        <p:spPr>
          <a:xfrm>
            <a:off x="1762125" y="4324350"/>
            <a:ext cx="9096375" cy="257175"/>
          </a:xfrm>
          <a:prstGeom prst="rect">
            <a:avLst/>
          </a:prstGeom>
          <a:noFill/>
        </p:spPr>
        <p:txBody>
          <a:bodyPr wrap="square" lIns="0" tIns="0" rIns="0" bIns="0" anchor="t">
            <a:spAutoFit/>
          </a:bodyPr>
          <a:lstStyle/>
          <a:p>
            <a:pPr algn="l">
              <a:lnSpc>
                <a:spcPts val="2025"/>
              </a:lnSpc>
            </a:pPr>
            <a:r>
              <a:rPr sz="1350" b="1" i="0" u="none">
                <a:solidFill>
                  <a:srgbClr val="334155"/>
                </a:solidFill>
                <a:latin typeface="Plus Jakarta Sans"/>
              </a:rPr>
              <a:t>Cảnh giác Tạp chí Rác:</a:t>
            </a:r>
            <a:r>
              <a:rPr sz="1350" b="0" i="0" u="none">
                <a:solidFill>
                  <a:srgbClr val="334155"/>
                </a:solidFill>
                <a:latin typeface="Plus Jakarta Sans"/>
              </a:rPr>
              <a:t> Kiểm tra kỹ danh mục Scopus/WoS và uy tín nhà xuất bản trước khi gửi bài.</a:t>
            </a:r>
          </a:p>
        </p:txBody>
      </p:sp>
      <p:pic>
        <p:nvPicPr>
          <p:cNvPr id="7" name="Picture 6" descr="image.png"/>
          <p:cNvPicPr>
            <a:picLocks noChangeAspect="1"/>
          </p:cNvPicPr>
          <p:nvPr/>
        </p:nvPicPr>
        <p:blipFill>
          <a:blip r:embed="rId3"/>
          <a:stretch>
            <a:fillRect/>
          </a:stretch>
        </p:blipFill>
        <p:spPr>
          <a:xfrm>
            <a:off x="1333500" y="2747962"/>
            <a:ext cx="209550" cy="219075"/>
          </a:xfrm>
          <a:prstGeom prst="rect">
            <a:avLst/>
          </a:prstGeom>
        </p:spPr>
      </p:pic>
      <p:pic>
        <p:nvPicPr>
          <p:cNvPr id="8" name="Picture 7" descr="image.png"/>
          <p:cNvPicPr>
            <a:picLocks noChangeAspect="1"/>
          </p:cNvPicPr>
          <p:nvPr/>
        </p:nvPicPr>
        <p:blipFill>
          <a:blip r:embed="rId4"/>
          <a:stretch>
            <a:fillRect/>
          </a:stretch>
        </p:blipFill>
        <p:spPr>
          <a:xfrm>
            <a:off x="1333500" y="3195637"/>
            <a:ext cx="190500" cy="219075"/>
          </a:xfrm>
          <a:prstGeom prst="rect">
            <a:avLst/>
          </a:prstGeom>
        </p:spPr>
      </p:pic>
      <p:pic>
        <p:nvPicPr>
          <p:cNvPr id="9" name="Picture 8" descr="image.png"/>
          <p:cNvPicPr>
            <a:picLocks noChangeAspect="1"/>
          </p:cNvPicPr>
          <p:nvPr/>
        </p:nvPicPr>
        <p:blipFill>
          <a:blip r:embed="rId5"/>
          <a:stretch>
            <a:fillRect/>
          </a:stretch>
        </p:blipFill>
        <p:spPr>
          <a:xfrm>
            <a:off x="1333500" y="3643312"/>
            <a:ext cx="266700" cy="219075"/>
          </a:xfrm>
          <a:prstGeom prst="rect">
            <a:avLst/>
          </a:prstGeom>
        </p:spPr>
      </p:pic>
      <p:pic>
        <p:nvPicPr>
          <p:cNvPr id="10" name="Picture 9" descr="image.png"/>
          <p:cNvPicPr>
            <a:picLocks noChangeAspect="1"/>
          </p:cNvPicPr>
          <p:nvPr/>
        </p:nvPicPr>
        <p:blipFill>
          <a:blip r:embed="rId6"/>
          <a:stretch>
            <a:fillRect/>
          </a:stretch>
        </p:blipFill>
        <p:spPr>
          <a:xfrm>
            <a:off x="1333500" y="4348162"/>
            <a:ext cx="209550" cy="219075"/>
          </a:xfrm>
          <a:prstGeom prst="rect">
            <a:avLst/>
          </a:prstGeom>
        </p:spPr>
      </p:pic>
      <p:sp>
        <p:nvSpPr>
          <p:cNvPr id="11" name="TextBox 10"/>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Khuyên nghị cho Nhà nghiên cứu Trẻ</a:t>
            </a:r>
          </a:p>
        </p:txBody>
      </p:sp>
      <p:sp>
        <p:nvSpPr>
          <p:cNvPr id="12" name="Rounded Rectangle 11"/>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ate Placeholder 12">
            <a:extLst>
              <a:ext uri="{FF2B5EF4-FFF2-40B4-BE49-F238E27FC236}">
                <a16:creationId xmlns:a16="http://schemas.microsoft.com/office/drawing/2014/main" id="{13B4E658-AA33-F52A-D268-61F87073FAF2}"/>
              </a:ext>
            </a:extLst>
          </p:cNvPr>
          <p:cNvSpPr>
            <a:spLocks noGrp="1"/>
          </p:cNvSpPr>
          <p:nvPr>
            <p:ph type="dt" sz="half" idx="10"/>
          </p:nvPr>
        </p:nvSpPr>
        <p:spPr/>
        <p:txBody>
          <a:bodyPr/>
          <a:lstStyle/>
          <a:p>
            <a:fld id="{0F567D74-F580-49F2-BC4F-88DA682BC4C2}" type="datetime1">
              <a:rPr lang="en-US" smtClean="0"/>
              <a:t>7/23/2026</a:t>
            </a:fld>
            <a:endParaRPr lang="en-US"/>
          </a:p>
        </p:txBody>
      </p:sp>
      <p:sp>
        <p:nvSpPr>
          <p:cNvPr id="14" name="Footer Placeholder 13">
            <a:extLst>
              <a:ext uri="{FF2B5EF4-FFF2-40B4-BE49-F238E27FC236}">
                <a16:creationId xmlns:a16="http://schemas.microsoft.com/office/drawing/2014/main" id="{E9EB046F-AE75-DF1F-F148-3ECE3836E4BD}"/>
              </a:ext>
            </a:extLst>
          </p:cNvPr>
          <p:cNvSpPr>
            <a:spLocks noGrp="1"/>
          </p:cNvSpPr>
          <p:nvPr>
            <p:ph type="ftr" sz="quarter" idx="11"/>
          </p:nvPr>
        </p:nvSpPr>
        <p:spPr/>
        <p:txBody>
          <a:bodyPr/>
          <a:lstStyle/>
          <a:p>
            <a:r>
              <a:rPr lang="en-US"/>
              <a:t>Summer School for Researcher, 2026</a:t>
            </a:r>
          </a:p>
        </p:txBody>
      </p:sp>
      <p:sp>
        <p:nvSpPr>
          <p:cNvPr id="15" name="Slide Number Placeholder 14">
            <a:extLst>
              <a:ext uri="{FF2B5EF4-FFF2-40B4-BE49-F238E27FC236}">
                <a16:creationId xmlns:a16="http://schemas.microsoft.com/office/drawing/2014/main" id="{D7146C2B-91F5-9217-E86D-064ABB3FBD9D}"/>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662237" y="2200275"/>
            <a:ext cx="6867525" cy="485775"/>
          </a:xfrm>
          <a:prstGeom prst="rect">
            <a:avLst/>
          </a:prstGeom>
        </p:spPr>
      </p:pic>
      <p:sp>
        <p:nvSpPr>
          <p:cNvPr id="4" name="TextBox 3"/>
          <p:cNvSpPr txBox="1"/>
          <p:nvPr/>
        </p:nvSpPr>
        <p:spPr>
          <a:xfrm>
            <a:off x="295275" y="476250"/>
            <a:ext cx="11601450" cy="742950"/>
          </a:xfrm>
          <a:prstGeom prst="rect">
            <a:avLst/>
          </a:prstGeom>
          <a:noFill/>
        </p:spPr>
        <p:txBody>
          <a:bodyPr wrap="square" lIns="0" tIns="0" rIns="0" bIns="0" anchor="t">
            <a:spAutoFit/>
          </a:bodyPr>
          <a:lstStyle/>
          <a:p>
            <a:pPr algn="ctr"/>
            <a:r>
              <a:rPr sz="4800" b="1" i="0" u="none">
                <a:solidFill>
                  <a:srgbClr val="0F172A"/>
                </a:solidFill>
                <a:latin typeface="Montserrat"/>
              </a:rPr>
              <a:t>THẢO LUẬN &amp; HỎI ĐÁP</a:t>
            </a:r>
          </a:p>
        </p:txBody>
      </p:sp>
      <p:sp>
        <p:nvSpPr>
          <p:cNvPr id="5" name="TextBox 4"/>
          <p:cNvSpPr txBox="1"/>
          <p:nvPr/>
        </p:nvSpPr>
        <p:spPr>
          <a:xfrm>
            <a:off x="571500" y="1362075"/>
            <a:ext cx="11049000" cy="342900"/>
          </a:xfrm>
          <a:prstGeom prst="rect">
            <a:avLst/>
          </a:prstGeom>
          <a:noFill/>
        </p:spPr>
        <p:txBody>
          <a:bodyPr wrap="square" lIns="0" tIns="0" rIns="0" bIns="0" anchor="t">
            <a:spAutoFit/>
          </a:bodyPr>
          <a:lstStyle/>
          <a:p>
            <a:pPr algn="ctr">
              <a:lnSpc>
                <a:spcPts val="2700"/>
              </a:lnSpc>
            </a:pPr>
            <a:r>
              <a:rPr sz="1800" b="0" i="0" u="none">
                <a:solidFill>
                  <a:srgbClr val="475569"/>
                </a:solidFill>
                <a:latin typeface="Plus Jakarta Sans"/>
              </a:rPr>
              <a:t>Xây dựng nền khoa học trung thực, minh bạch và phát triển bền vững</a:t>
            </a:r>
          </a:p>
        </p:txBody>
      </p:sp>
      <p:pic>
        <p:nvPicPr>
          <p:cNvPr id="6" name="Picture 5" descr="image.png"/>
          <p:cNvPicPr>
            <a:picLocks noChangeAspect="1"/>
          </p:cNvPicPr>
          <p:nvPr/>
        </p:nvPicPr>
        <p:blipFill>
          <a:blip r:embed="rId4"/>
          <a:stretch>
            <a:fillRect/>
          </a:stretch>
        </p:blipFill>
        <p:spPr>
          <a:xfrm>
            <a:off x="2957512" y="2362200"/>
            <a:ext cx="190500" cy="190500"/>
          </a:xfrm>
          <a:prstGeom prst="rect">
            <a:avLst/>
          </a:prstGeom>
        </p:spPr>
      </p:pic>
      <p:sp>
        <p:nvSpPr>
          <p:cNvPr id="7" name="Date Placeholder 6">
            <a:extLst>
              <a:ext uri="{FF2B5EF4-FFF2-40B4-BE49-F238E27FC236}">
                <a16:creationId xmlns:a16="http://schemas.microsoft.com/office/drawing/2014/main" id="{FE1B59B0-A2CB-9ACF-88A3-BBDD765A2C65}"/>
              </a:ext>
            </a:extLst>
          </p:cNvPr>
          <p:cNvSpPr>
            <a:spLocks noGrp="1"/>
          </p:cNvSpPr>
          <p:nvPr>
            <p:ph type="dt" sz="half" idx="10"/>
          </p:nvPr>
        </p:nvSpPr>
        <p:spPr/>
        <p:txBody>
          <a:bodyPr/>
          <a:lstStyle/>
          <a:p>
            <a:fld id="{92B9AC34-F8D9-4C4E-9ABD-16636422D165}" type="datetime1">
              <a:rPr lang="en-US" smtClean="0"/>
              <a:t>7/23/2026</a:t>
            </a:fld>
            <a:endParaRPr lang="en-US"/>
          </a:p>
        </p:txBody>
      </p:sp>
      <p:sp>
        <p:nvSpPr>
          <p:cNvPr id="8" name="Footer Placeholder 7">
            <a:extLst>
              <a:ext uri="{FF2B5EF4-FFF2-40B4-BE49-F238E27FC236}">
                <a16:creationId xmlns:a16="http://schemas.microsoft.com/office/drawing/2014/main" id="{82769879-47F0-71DF-05B9-0659A160A216}"/>
              </a:ext>
            </a:extLst>
          </p:cNvPr>
          <p:cNvSpPr>
            <a:spLocks noGrp="1"/>
          </p:cNvSpPr>
          <p:nvPr>
            <p:ph type="ftr" sz="quarter" idx="11"/>
          </p:nvPr>
        </p:nvSpPr>
        <p:spPr/>
        <p:txBody>
          <a:bodyPr/>
          <a:lstStyle/>
          <a:p>
            <a:r>
              <a:rPr lang="en-US"/>
              <a:t>Summer School for Researcher, 2026</a:t>
            </a:r>
          </a:p>
        </p:txBody>
      </p:sp>
      <p:sp>
        <p:nvSpPr>
          <p:cNvPr id="9" name="Slide Number Placeholder 8">
            <a:extLst>
              <a:ext uri="{FF2B5EF4-FFF2-40B4-BE49-F238E27FC236}">
                <a16:creationId xmlns:a16="http://schemas.microsoft.com/office/drawing/2014/main" id="{8F49A5AF-C4FB-A2D5-F8B9-0DAD95906C9B}"/>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1738312"/>
            <a:ext cx="11049000" cy="942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1500" y="2681287"/>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71500" y="3452812"/>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4224337"/>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71500" y="267176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71500" y="267176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1500" y="344328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71500" y="344328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1500" y="421481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4214812"/>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1500" y="498633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1500" y="498633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571500" y="1966912"/>
            <a:ext cx="857250" cy="476250"/>
          </a:xfrm>
          <a:prstGeom prst="rect">
            <a:avLst/>
          </a:prstGeom>
        </p:spPr>
      </p:pic>
      <p:sp>
        <p:nvSpPr>
          <p:cNvPr id="16" name="TextBox 15"/>
          <p:cNvSpPr txBox="1"/>
          <p:nvPr/>
        </p:nvSpPr>
        <p:spPr>
          <a:xfrm>
            <a:off x="1666875" y="1881187"/>
            <a:ext cx="9953625" cy="371475"/>
          </a:xfrm>
          <a:prstGeom prst="rect">
            <a:avLst/>
          </a:prstGeom>
          <a:noFill/>
        </p:spPr>
        <p:txBody>
          <a:bodyPr wrap="square" lIns="0" tIns="0" rIns="0" bIns="0" anchor="t">
            <a:spAutoFit/>
          </a:bodyPr>
          <a:lstStyle/>
          <a:p>
            <a:pPr algn="l">
              <a:lnSpc>
                <a:spcPts val="1462"/>
              </a:lnSpc>
            </a:pPr>
            <a:r>
              <a:rPr sz="975" b="0" i="0" u="none">
                <a:solidFill>
                  <a:srgbClr val="334155"/>
                </a:solidFill>
                <a:latin typeface="Plus Jakarta Sans"/>
              </a:rPr>
              <a:t>https://images.ctfassets.net/o78em1y1w4i4/4L9ldNs703s1iUgAy1RQpM/ee1683fd980b233676c10abc8a697355/about-research-integrity-rigorous-standards-and-processes_-_header.png?fm=webp&amp;w=1044&amp;q=75</a:t>
            </a:r>
          </a:p>
        </p:txBody>
      </p:sp>
      <p:sp>
        <p:nvSpPr>
          <p:cNvPr id="17" name="TextBox 16"/>
          <p:cNvSpPr txBox="1"/>
          <p:nvPr/>
        </p:nvSpPr>
        <p:spPr>
          <a:xfrm>
            <a:off x="1666875" y="2300287"/>
            <a:ext cx="99536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Plus Jakarta Sans"/>
              </a:rPr>
              <a:t>Source: </a:t>
            </a:r>
            <a:r>
              <a:rPr sz="1200" b="0" i="0" u="none">
                <a:solidFill>
                  <a:srgbClr val="4F46E5"/>
                </a:solidFill>
                <a:latin typeface="Plus Jakarta Sans"/>
              </a:rPr>
              <a:t>www.elsevier.com</a:t>
            </a:r>
          </a:p>
        </p:txBody>
      </p:sp>
      <p:pic>
        <p:nvPicPr>
          <p:cNvPr id="18" name="Picture 17" descr="image.png"/>
          <p:cNvPicPr>
            <a:picLocks noChangeAspect="1"/>
          </p:cNvPicPr>
          <p:nvPr/>
        </p:nvPicPr>
        <p:blipFill>
          <a:blip r:embed="rId4"/>
          <a:stretch>
            <a:fillRect/>
          </a:stretch>
        </p:blipFill>
        <p:spPr>
          <a:xfrm>
            <a:off x="571500" y="2824162"/>
            <a:ext cx="857250" cy="476250"/>
          </a:xfrm>
          <a:prstGeom prst="rect">
            <a:avLst/>
          </a:prstGeom>
        </p:spPr>
      </p:pic>
      <p:sp>
        <p:nvSpPr>
          <p:cNvPr id="19" name="TextBox 18"/>
          <p:cNvSpPr txBox="1"/>
          <p:nvPr/>
        </p:nvSpPr>
        <p:spPr>
          <a:xfrm>
            <a:off x="1666875" y="2831306"/>
            <a:ext cx="9953625" cy="185737"/>
          </a:xfrm>
          <a:prstGeom prst="rect">
            <a:avLst/>
          </a:prstGeom>
          <a:noFill/>
        </p:spPr>
        <p:txBody>
          <a:bodyPr wrap="square" lIns="0" tIns="0" rIns="0" bIns="0" anchor="t">
            <a:spAutoFit/>
          </a:bodyPr>
          <a:lstStyle/>
          <a:p>
            <a:pPr algn="l">
              <a:lnSpc>
                <a:spcPts val="1462"/>
              </a:lnSpc>
            </a:pPr>
            <a:r>
              <a:rPr sz="975" b="0" i="0" u="none">
                <a:solidFill>
                  <a:srgbClr val="334155"/>
                </a:solidFill>
                <a:latin typeface="Plus Jakarta Sans"/>
              </a:rPr>
              <a:t>https://stratfordjournals.org/wp-content/uploads/2023/07/Mistakes-to-avoid-in-scientific-research-publication.jpeg</a:t>
            </a:r>
          </a:p>
        </p:txBody>
      </p:sp>
      <p:sp>
        <p:nvSpPr>
          <p:cNvPr id="20" name="TextBox 19"/>
          <p:cNvSpPr txBox="1"/>
          <p:nvPr/>
        </p:nvSpPr>
        <p:spPr>
          <a:xfrm>
            <a:off x="1666875" y="3064668"/>
            <a:ext cx="99536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Plus Jakarta Sans"/>
              </a:rPr>
              <a:t>Source: </a:t>
            </a:r>
            <a:r>
              <a:rPr sz="1200" b="0" i="0" u="none">
                <a:solidFill>
                  <a:srgbClr val="4F46E5"/>
                </a:solidFill>
                <a:latin typeface="Plus Jakarta Sans"/>
              </a:rPr>
              <a:t>stratfordjournals.org</a:t>
            </a:r>
          </a:p>
        </p:txBody>
      </p:sp>
      <p:pic>
        <p:nvPicPr>
          <p:cNvPr id="21" name="Picture 20" descr="image.png"/>
          <p:cNvPicPr>
            <a:picLocks noChangeAspect="1"/>
          </p:cNvPicPr>
          <p:nvPr/>
        </p:nvPicPr>
        <p:blipFill>
          <a:blip r:embed="rId5"/>
          <a:stretch>
            <a:fillRect/>
          </a:stretch>
        </p:blipFill>
        <p:spPr>
          <a:xfrm>
            <a:off x="571500" y="3595687"/>
            <a:ext cx="857250" cy="476250"/>
          </a:xfrm>
          <a:prstGeom prst="rect">
            <a:avLst/>
          </a:prstGeom>
        </p:spPr>
      </p:pic>
      <p:sp>
        <p:nvSpPr>
          <p:cNvPr id="22" name="TextBox 21"/>
          <p:cNvSpPr txBox="1"/>
          <p:nvPr/>
        </p:nvSpPr>
        <p:spPr>
          <a:xfrm>
            <a:off x="1666875" y="3602831"/>
            <a:ext cx="9953625" cy="185737"/>
          </a:xfrm>
          <a:prstGeom prst="rect">
            <a:avLst/>
          </a:prstGeom>
          <a:noFill/>
        </p:spPr>
        <p:txBody>
          <a:bodyPr wrap="square" lIns="0" tIns="0" rIns="0" bIns="0" anchor="t">
            <a:spAutoFit/>
          </a:bodyPr>
          <a:lstStyle/>
          <a:p>
            <a:pPr algn="l">
              <a:lnSpc>
                <a:spcPts val="1462"/>
              </a:lnSpc>
            </a:pPr>
            <a:r>
              <a:rPr sz="975" b="0" i="0" u="none">
                <a:solidFill>
                  <a:srgbClr val="334155"/>
                </a:solidFill>
                <a:latin typeface="Plus Jakarta Sans"/>
              </a:rPr>
              <a:t>https://www.upou.edu.ph/wp-content/uploads/2024/04/BRET-15-16-April-2024-3-800x600.jpg</a:t>
            </a:r>
          </a:p>
        </p:txBody>
      </p:sp>
      <p:sp>
        <p:nvSpPr>
          <p:cNvPr id="23" name="TextBox 22"/>
          <p:cNvSpPr txBox="1"/>
          <p:nvPr/>
        </p:nvSpPr>
        <p:spPr>
          <a:xfrm>
            <a:off x="1666875" y="3836193"/>
            <a:ext cx="99536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Plus Jakarta Sans"/>
              </a:rPr>
              <a:t>Source: </a:t>
            </a:r>
            <a:r>
              <a:rPr sz="1200" b="0" i="0" u="none">
                <a:solidFill>
                  <a:srgbClr val="4F46E5"/>
                </a:solidFill>
                <a:latin typeface="Plus Jakarta Sans"/>
              </a:rPr>
              <a:t>www.upou.edu.ph</a:t>
            </a:r>
          </a:p>
        </p:txBody>
      </p:sp>
      <p:pic>
        <p:nvPicPr>
          <p:cNvPr id="24" name="Picture 23" descr="image.png"/>
          <p:cNvPicPr>
            <a:picLocks noChangeAspect="1"/>
          </p:cNvPicPr>
          <p:nvPr/>
        </p:nvPicPr>
        <p:blipFill>
          <a:blip r:embed="rId6"/>
          <a:stretch>
            <a:fillRect/>
          </a:stretch>
        </p:blipFill>
        <p:spPr>
          <a:xfrm>
            <a:off x="571500" y="4367212"/>
            <a:ext cx="857250" cy="476250"/>
          </a:xfrm>
          <a:prstGeom prst="rect">
            <a:avLst/>
          </a:prstGeom>
        </p:spPr>
      </p:pic>
      <p:sp>
        <p:nvSpPr>
          <p:cNvPr id="25" name="TextBox 24"/>
          <p:cNvSpPr txBox="1"/>
          <p:nvPr/>
        </p:nvSpPr>
        <p:spPr>
          <a:xfrm>
            <a:off x="1666875" y="4374356"/>
            <a:ext cx="9953625" cy="185737"/>
          </a:xfrm>
          <a:prstGeom prst="rect">
            <a:avLst/>
          </a:prstGeom>
          <a:noFill/>
        </p:spPr>
        <p:txBody>
          <a:bodyPr wrap="square" lIns="0" tIns="0" rIns="0" bIns="0" anchor="t">
            <a:spAutoFit/>
          </a:bodyPr>
          <a:lstStyle/>
          <a:p>
            <a:pPr algn="l">
              <a:lnSpc>
                <a:spcPts val="1462"/>
              </a:lnSpc>
            </a:pPr>
            <a:r>
              <a:rPr sz="975" b="0" i="0" u="none">
                <a:solidFill>
                  <a:srgbClr val="334155"/>
                </a:solidFill>
                <a:latin typeface="Plus Jakarta Sans"/>
              </a:rPr>
              <a:t>https://blog.researcher.life/wp-content/uploads/2023/02/peerreviewprocess-26152950.gif</a:t>
            </a:r>
          </a:p>
        </p:txBody>
      </p:sp>
      <p:sp>
        <p:nvSpPr>
          <p:cNvPr id="26" name="TextBox 25"/>
          <p:cNvSpPr txBox="1"/>
          <p:nvPr/>
        </p:nvSpPr>
        <p:spPr>
          <a:xfrm>
            <a:off x="1666875" y="4607718"/>
            <a:ext cx="99536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Plus Jakarta Sans"/>
              </a:rPr>
              <a:t>Source: </a:t>
            </a:r>
            <a:r>
              <a:rPr sz="1200" b="0" i="0" u="none">
                <a:solidFill>
                  <a:srgbClr val="4F46E5"/>
                </a:solidFill>
                <a:latin typeface="Plus Jakarta Sans"/>
              </a:rPr>
              <a:t>researcher.life</a:t>
            </a:r>
          </a:p>
        </p:txBody>
      </p:sp>
      <p:pic>
        <p:nvPicPr>
          <p:cNvPr id="27" name="Picture 26" descr="image.png"/>
          <p:cNvPicPr>
            <a:picLocks noChangeAspect="1"/>
          </p:cNvPicPr>
          <p:nvPr/>
        </p:nvPicPr>
        <p:blipFill>
          <a:blip r:embed="rId7"/>
          <a:stretch>
            <a:fillRect/>
          </a:stretch>
        </p:blipFill>
        <p:spPr>
          <a:xfrm>
            <a:off x="571500" y="5138737"/>
            <a:ext cx="857250" cy="476250"/>
          </a:xfrm>
          <a:prstGeom prst="rect">
            <a:avLst/>
          </a:prstGeom>
        </p:spPr>
      </p:pic>
      <p:sp>
        <p:nvSpPr>
          <p:cNvPr id="28" name="TextBox 27"/>
          <p:cNvSpPr txBox="1"/>
          <p:nvPr/>
        </p:nvSpPr>
        <p:spPr>
          <a:xfrm>
            <a:off x="1666875" y="5145881"/>
            <a:ext cx="9953625" cy="185737"/>
          </a:xfrm>
          <a:prstGeom prst="rect">
            <a:avLst/>
          </a:prstGeom>
          <a:noFill/>
        </p:spPr>
        <p:txBody>
          <a:bodyPr wrap="square" lIns="0" tIns="0" rIns="0" bIns="0" anchor="t">
            <a:spAutoFit/>
          </a:bodyPr>
          <a:lstStyle/>
          <a:p>
            <a:pPr algn="l">
              <a:lnSpc>
                <a:spcPts val="1462"/>
              </a:lnSpc>
            </a:pPr>
            <a:r>
              <a:rPr sz="975" b="0" i="0" u="none">
                <a:solidFill>
                  <a:srgbClr val="334155"/>
                </a:solidFill>
                <a:latin typeface="Plus Jakarta Sans"/>
              </a:rPr>
              <a:t>https://www.m-files.com/wp-content/uploads/2025/10/ecm-compliance-governance.png</a:t>
            </a:r>
          </a:p>
        </p:txBody>
      </p:sp>
      <p:sp>
        <p:nvSpPr>
          <p:cNvPr id="29" name="TextBox 28"/>
          <p:cNvSpPr txBox="1"/>
          <p:nvPr/>
        </p:nvSpPr>
        <p:spPr>
          <a:xfrm>
            <a:off x="1666875" y="5379243"/>
            <a:ext cx="9953625" cy="228600"/>
          </a:xfrm>
          <a:prstGeom prst="rect">
            <a:avLst/>
          </a:prstGeom>
          <a:noFill/>
        </p:spPr>
        <p:txBody>
          <a:bodyPr wrap="square" lIns="0" tIns="0" rIns="0" bIns="0" anchor="t">
            <a:spAutoFit/>
          </a:bodyPr>
          <a:lstStyle/>
          <a:p>
            <a:pPr algn="l">
              <a:lnSpc>
                <a:spcPts val="1800"/>
              </a:lnSpc>
            </a:pPr>
            <a:r>
              <a:rPr sz="1200" b="0" i="0" u="none">
                <a:solidFill>
                  <a:srgbClr val="334155"/>
                </a:solidFill>
                <a:latin typeface="Plus Jakarta Sans"/>
              </a:rPr>
              <a:t>Source: </a:t>
            </a:r>
            <a:r>
              <a:rPr sz="1200" b="0" i="0" u="none">
                <a:solidFill>
                  <a:srgbClr val="4F46E5"/>
                </a:solidFill>
                <a:latin typeface="Plus Jakarta Sans"/>
              </a:rPr>
              <a:t>www.m-files.com</a:t>
            </a:r>
          </a:p>
        </p:txBody>
      </p:sp>
      <p:sp>
        <p:nvSpPr>
          <p:cNvPr id="30" name="TextBox 29"/>
          <p:cNvSpPr txBox="1"/>
          <p:nvPr/>
        </p:nvSpPr>
        <p:spPr>
          <a:xfrm>
            <a:off x="571500" y="476250"/>
            <a:ext cx="11601450" cy="400050"/>
          </a:xfrm>
          <a:prstGeom prst="rect">
            <a:avLst/>
          </a:prstGeom>
          <a:noFill/>
        </p:spPr>
        <p:txBody>
          <a:bodyPr wrap="square" lIns="0" tIns="0" rIns="0" bIns="0" anchor="ctr">
            <a:spAutoFit/>
          </a:bodyPr>
          <a:lstStyle/>
          <a:p>
            <a:pPr algn="l"/>
            <a:r>
              <a:rPr sz="2550" b="1" i="0" u="none">
                <a:solidFill>
                  <a:srgbClr val="0F172A"/>
                </a:solidFill>
                <a:latin typeface="Montserrat"/>
              </a:rPr>
              <a:t>Image Sources</a:t>
            </a:r>
          </a:p>
        </p:txBody>
      </p:sp>
      <p:sp>
        <p:nvSpPr>
          <p:cNvPr id="31" name="Rounded Rectangle 30"/>
          <p:cNvSpPr/>
          <p:nvPr/>
        </p:nvSpPr>
        <p:spPr>
          <a:xfrm>
            <a:off x="571500" y="876300"/>
            <a:ext cx="76200" cy="28575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ate Placeholder 31">
            <a:extLst>
              <a:ext uri="{FF2B5EF4-FFF2-40B4-BE49-F238E27FC236}">
                <a16:creationId xmlns:a16="http://schemas.microsoft.com/office/drawing/2014/main" id="{30E83F4F-F7A0-2A53-9645-92991E2E51AA}"/>
              </a:ext>
            </a:extLst>
          </p:cNvPr>
          <p:cNvSpPr>
            <a:spLocks noGrp="1"/>
          </p:cNvSpPr>
          <p:nvPr>
            <p:ph type="dt" sz="half" idx="10"/>
          </p:nvPr>
        </p:nvSpPr>
        <p:spPr/>
        <p:txBody>
          <a:bodyPr/>
          <a:lstStyle/>
          <a:p>
            <a:fld id="{0B062CFC-918C-42E0-A979-540270EED1B7}" type="datetime1">
              <a:rPr lang="en-US" smtClean="0"/>
              <a:t>7/23/2026</a:t>
            </a:fld>
            <a:endParaRPr lang="en-US"/>
          </a:p>
        </p:txBody>
      </p:sp>
      <p:sp>
        <p:nvSpPr>
          <p:cNvPr id="33" name="Footer Placeholder 32">
            <a:extLst>
              <a:ext uri="{FF2B5EF4-FFF2-40B4-BE49-F238E27FC236}">
                <a16:creationId xmlns:a16="http://schemas.microsoft.com/office/drawing/2014/main" id="{F53E1ADE-328F-D56F-3771-F32FA07C73E8}"/>
              </a:ext>
            </a:extLst>
          </p:cNvPr>
          <p:cNvSpPr>
            <a:spLocks noGrp="1"/>
          </p:cNvSpPr>
          <p:nvPr>
            <p:ph type="ftr" sz="quarter" idx="11"/>
          </p:nvPr>
        </p:nvSpPr>
        <p:spPr/>
        <p:txBody>
          <a:bodyPr/>
          <a:lstStyle/>
          <a:p>
            <a:r>
              <a:rPr lang="en-US"/>
              <a:t>Summer School for Researcher, 2026</a:t>
            </a:r>
          </a:p>
        </p:txBody>
      </p:sp>
      <p:sp>
        <p:nvSpPr>
          <p:cNvPr id="34" name="Slide Number Placeholder 33">
            <a:extLst>
              <a:ext uri="{FF2B5EF4-FFF2-40B4-BE49-F238E27FC236}">
                <a16:creationId xmlns:a16="http://schemas.microsoft.com/office/drawing/2014/main" id="{85B876D2-BF5A-3281-0144-0272768C8423}"/>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1056</Words>
  <Application>Microsoft Office PowerPoint</Application>
  <PresentationFormat>Widescreen</PresentationFormat>
  <Paragraphs>112</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Calibri</vt:lpstr>
      <vt:lpstr>Montserrat</vt:lpstr>
      <vt:lpstr>Montserrat ExtraBold</vt:lpstr>
      <vt:lpstr>Montserrat SemiBold</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Đỗ Phúc</cp:lastModifiedBy>
  <cp:revision>2</cp:revision>
  <dcterms:created xsi:type="dcterms:W3CDTF">2013-01-27T09:14:16Z</dcterms:created>
  <dcterms:modified xsi:type="dcterms:W3CDTF">2026-07-23T07:10:52Z</dcterms:modified>
  <cp:category/>
</cp:coreProperties>
</file>